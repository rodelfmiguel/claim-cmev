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8" r:id="rId9"/>
    <p:sldId id="270" r:id="rId10"/>
    <p:sldId id="267" r:id="rId11"/>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gRVpREQBgr3kiP4bep3Dxn4yaj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018CC4-4E2F-4851-BB80-3E13E182E291}">
  <a:tblStyle styleId="{AB018CC4-4E2F-4851-BB80-3E13E182E291}" styleName="Table_0">
    <a:wholeTbl>
      <a:tcTxStyle b="off" i="off">
        <a:font>
          <a:latin typeface="Arial"/>
          <a:ea typeface="Arial"/>
          <a:cs typeface="Arial"/>
        </a:font>
        <a:schemeClr val="dk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chemeClr val="accent5"/>
              </a:solidFill>
              <a:prstDash val="solid"/>
              <a:round/>
              <a:headEnd type="none" w="sm" len="sm"/>
              <a:tailEnd type="none" w="sm" len="sm"/>
            </a:ln>
          </a:insideH>
          <a:insideV>
            <a:ln w="9525" cap="flat" cmpd="sng">
              <a:solidFill>
                <a:schemeClr val="accent5"/>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5">
              <a:alpha val="40000"/>
            </a:schemeClr>
          </a:solidFill>
        </a:fill>
      </a:tcStyle>
    </a:band1H>
    <a:band2H>
      <a:tcTxStyle b="off" i="off"/>
      <a:tcStyle>
        <a:tcBdr/>
      </a:tcStyle>
    </a:band2H>
    <a:band1V>
      <a:tcTxStyle b="off" i="off"/>
      <a:tcStyle>
        <a:tcBdr>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tcBdr>
        <a:fill>
          <a:solidFill>
            <a:schemeClr val="accent5">
              <a:alpha val="40000"/>
            </a:schemeClr>
          </a:solidFill>
        </a:fill>
      </a:tcStyle>
    </a:band1V>
    <a:band2V>
      <a:tcTxStyle b="off" i="off"/>
      <a:tcStyle>
        <a:tcBdr/>
      </a:tcStyle>
    </a:band2V>
    <a:lastCol>
      <a:tcTxStyle b="on"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chemeClr val="accent5"/>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chemeClr val="accent5"/>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5"/>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42"/>
    <p:restoredTop sz="90822"/>
  </p:normalViewPr>
  <p:slideViewPr>
    <p:cSldViewPr snapToGrid="0">
      <p:cViewPr varScale="1">
        <p:scale>
          <a:sx n="115" d="100"/>
          <a:sy n="115" d="100"/>
        </p:scale>
        <p:origin x="11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[Sources]</a:t>
            </a:r>
            <a:br>
              <a:rPr lang="en-US"/>
            </a:br>
            <a:r>
              <a:rPr lang="en-US"/>
              <a:t>- Project_Proposal_ACERY_v1.docx</a:t>
            </a:r>
            <a:br>
              <a:rPr lang="en-US"/>
            </a:br>
            <a:r>
              <a:rPr lang="en-US"/>
              <a:t>- System Architecture Overview.docx</a:t>
            </a:r>
            <a:br>
              <a:rPr lang="en-US"/>
            </a:br>
            <a:r>
              <a:rPr lang="en-US"/>
              <a:t>- Visual on this slide was generated with Microsoft Copilot.</a:t>
            </a:r>
            <a:br>
              <a:rPr lang="en-US"/>
            </a:br>
            <a:r>
              <a:rPr lang="en-US"/>
              <a:t>[/Sources]</a:t>
            </a:r>
            <a:endParaRPr/>
          </a:p>
        </p:txBody>
      </p:sp>
      <p:sp>
        <p:nvSpPr>
          <p:cNvPr id="20" name="Google Shape;2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[Sources]</a:t>
            </a:r>
            <a:br>
              <a:rPr lang="en-US"/>
            </a:br>
            <a:r>
              <a:rPr lang="en-US"/>
              <a:t>- Project_Proposal_ACERY_v1.docx</a:t>
            </a:r>
            <a:br>
              <a:rPr lang="en-US"/>
            </a:br>
            <a:r>
              <a:rPr lang="en-US"/>
              <a:t>[/Sources]</a:t>
            </a:r>
            <a:endParaRPr/>
          </a:p>
        </p:txBody>
      </p:sp>
      <p:sp>
        <p:nvSpPr>
          <p:cNvPr id="34" name="Google Shape;3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[Sources]</a:t>
            </a:r>
            <a:br>
              <a:rPr lang="en-US"/>
            </a:br>
            <a:r>
              <a:rPr lang="en-US"/>
              <a:t>- Project_Proposal_ACERY_v1.docx</a:t>
            </a:r>
            <a:br>
              <a:rPr lang="en-US"/>
            </a:br>
            <a:r>
              <a:rPr lang="en-US"/>
              <a:t>[/Sources]</a:t>
            </a:r>
            <a:endParaRPr/>
          </a:p>
        </p:txBody>
      </p:sp>
      <p:sp>
        <p:nvSpPr>
          <p:cNvPr id="59" name="Google Shape;5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faaf15eec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g3faaf15eec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g3faaf15eec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[Sources]</a:t>
            </a:r>
            <a:br>
              <a:rPr lang="en-US"/>
            </a:br>
            <a:r>
              <a:rPr lang="en-US"/>
              <a:t>- Project_Proposal_ACERY_v1.docx</a:t>
            </a:r>
            <a:br>
              <a:rPr lang="en-US"/>
            </a:br>
            <a:r>
              <a:rPr lang="en-US"/>
              <a:t>- System Architecture Overview.docx</a:t>
            </a:r>
            <a:br>
              <a:rPr lang="en-US"/>
            </a:br>
            <a:r>
              <a:rPr lang="en-US"/>
              <a:t>[/Sources]</a:t>
            </a:r>
            <a:endParaRPr/>
          </a:p>
        </p:txBody>
      </p:sp>
      <p:sp>
        <p:nvSpPr>
          <p:cNvPr id="98" name="Google Shape;9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fb36684ed9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g3fb36684ed9_3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fb36684ed9_3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[Sources]</a:t>
            </a:r>
            <a:br>
              <a:rPr lang="en-US"/>
            </a:br>
            <a:r>
              <a:rPr lang="en-US"/>
              <a:t>- System Architecture Overview.docx</a:t>
            </a:r>
            <a:br>
              <a:rPr lang="en-US"/>
            </a:br>
            <a:r>
              <a:rPr lang="en-US"/>
              <a:t>[/Sources]</a:t>
            </a:r>
            <a:endParaRPr/>
          </a:p>
        </p:txBody>
      </p:sp>
      <p:sp>
        <p:nvSpPr>
          <p:cNvPr id="144" name="Google Shape;14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infra/compose/docker-</a:t>
            </a:r>
            <a:r>
              <a:rPr lang="en-US" dirty="0" err="1"/>
              <a:t>compose.yml</a:t>
            </a:r>
            <a:r>
              <a:rPr lang="en-US" dirty="0"/>
              <a:t> (current service definitions and lean/full profiles), docs/specs/</a:t>
            </a:r>
            <a:r>
              <a:rPr lang="en-US" dirty="0" err="1"/>
              <a:t>technical_specification.md</a:t>
            </a:r>
            <a:r>
              <a:rPr lang="en-US" dirty="0"/>
              <a:t> sections 3-4, docs/specs/</a:t>
            </a:r>
            <a:r>
              <a:rPr lang="en-US" dirty="0" err="1"/>
              <a:t>integration_contracts.md</a:t>
            </a:r>
            <a:r>
              <a:rPr lang="en-US" dirty="0"/>
              <a:t>, </a:t>
            </a:r>
            <a:r>
              <a:rPr lang="en-US" dirty="0" err="1"/>
              <a:t>CONTEXT.md</a:t>
            </a:r>
            <a:r>
              <a:rPr lang="en-US" dirty="0"/>
              <a:t> status correction dated 2026-09-27.
The left drawing shows the containers created for the full Compose profile: eight long-running services plus the one-shot </a:t>
            </a:r>
            <a:r>
              <a:rPr lang="en-US" dirty="0" err="1"/>
              <a:t>cmev</a:t>
            </a:r>
            <a:r>
              <a:rPr lang="en-US" dirty="0"/>
              <a:t>-cost-bootstrap job. All six evidence stages currently run as fixture producers in one </a:t>
            </a:r>
            <a:r>
              <a:rPr lang="en-US" dirty="0" err="1"/>
              <a:t>cmev</a:t>
            </a:r>
            <a:r>
              <a:rPr lang="en-US" dirty="0"/>
              <a:t>-worker-producers container (amber). The dashed workers on the right are the target architecture, not existing per-module deployments. In the lean profile, </a:t>
            </a:r>
            <a:r>
              <a:rPr lang="en-US" dirty="0" err="1"/>
              <a:t>cmev</a:t>
            </a:r>
            <a:r>
              <a:rPr lang="en-US" dirty="0"/>
              <a:t>-worker-combined replaces the orchestrator, producer and consolidator containers.
Browser requests reach the web/API. API outbox events and worker commands/completions travel via Kafka. The orchestrator controls readiness, retries and joins. M8 produces deterministic findings and reads a pinned M7 synthetic cost table. API and workers share PostgreSQL and object storage; shared persistence access is grouped rather than drawing every connection. The cost volume is implemented; model training/registry delivery and derived model artifacts are planned.
Target image dependency: M1 parts, then M2 damage/part assignment, then M3 summary. Document dependency: M4 OCR, then M5 rows, then M6 linked marks (mark detection itself may run earlier). Human review is required for marks and uncertain identities. Final claim approval remains separate. The API does not load neural weights.
Background image: the project's own generated decorative image (</a:t>
            </a:r>
            <a:r>
              <a:rPr lang="en-US" dirty="0" err="1"/>
              <a:t>src</a:t>
            </a:r>
            <a:r>
              <a:rPr lang="en-US" dirty="0"/>
              <a:t>/workbench/public/images/damaged-</a:t>
            </a:r>
            <a:r>
              <a:rPr lang="en-US" dirty="0" err="1"/>
              <a:t>car.png</a:t>
            </a:r>
            <a:r>
              <a:rPr lang="en-US" dirty="0"/>
              <a:t>), cropped and tinted.</a:t>
            </a:r>
            <a:endParaRPr lang="en-SG" dirty="0"/>
          </a:p>
        </p:txBody>
      </p:sp>
      <p:sp>
        <p:nvSpPr>
          <p:cNvPr id="4" name="Slide Number Placeholder 3"/>
          <p:cNvSpPr>
            <a:spLocks noGrp="1"/>
          </p:cNvSpPr>
          <p:nvPr>
            <p:ph type="sldNum" sz="quarter" idx="5"/>
          </p:nvPr>
        </p:nvSpPr>
        <p:spPr/>
        <p:txBody>
          <a:bodyPr/>
          <a:lstStyle/>
          <a:p>
            <a:fld id="{6553A4AB-64CF-498D-97A7-0FBE2A6B724B}" type="slidenum">
              <a:rPr lang="en-SG" smtClean="0"/>
              <a:t>8</a:t>
            </a:fld>
            <a:endParaRPr lang="en-SG"/>
          </a:p>
        </p:txBody>
      </p:sp>
    </p:spTree>
    <p:extLst>
      <p:ext uri="{BB962C8B-B14F-4D97-AF65-F5344CB8AC3E}">
        <p14:creationId xmlns:p14="http://schemas.microsoft.com/office/powerpoint/2010/main" val="954733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user's presentation request (SegFormer-B2 trained and desired progress points); </a:t>
            </a:r>
            <a:r>
              <a:rPr lang="en-US" dirty="0" err="1"/>
              <a:t>CONTEXT.md</a:t>
            </a:r>
            <a:r>
              <a:rPr lang="en-US" dirty="0"/>
              <a:t> current status and 2026-09-27 correction, including the combined validation of 1413 passed and 1 skipped Python tests on fixture/synthetic data; infra/compose/docker-</a:t>
            </a:r>
            <a:r>
              <a:rPr lang="en-US" dirty="0" err="1"/>
              <a:t>compose.yml</a:t>
            </a:r>
            <a:r>
              <a:rPr lang="en-US" dirty="0"/>
              <a:t> (nine full-profile containers, eight long-running); docs/specs/</a:t>
            </a:r>
            <a:r>
              <a:rPr lang="en-US" dirty="0" err="1"/>
              <a:t>model_training_specification.md</a:t>
            </a:r>
            <a:r>
              <a:rPr lang="en-US" dirty="0"/>
              <a:t> section 3; docs/specs/</a:t>
            </a:r>
            <a:r>
              <a:rPr lang="en-US" dirty="0" err="1"/>
              <a:t>data_contracts.md</a:t>
            </a:r>
            <a:r>
              <a:rPr lang="en-US" dirty="0"/>
              <a:t>; docs/specs/</a:t>
            </a:r>
            <a:r>
              <a:rPr lang="en-US" dirty="0" err="1"/>
              <a:t>integration_contracts.md</a:t>
            </a:r>
            <a:r>
              <a:rPr lang="en-US" dirty="0"/>
              <a:t>; docs/specs/</a:t>
            </a:r>
            <a:r>
              <a:rPr lang="en-US" dirty="0" err="1"/>
              <a:t>ui_specification.md</a:t>
            </a:r>
            <a:r>
              <a:rPr lang="en-US" dirty="0"/>
              <a:t>.
Completed UI/backend means the implemented fixture-backed application and system harness, not completion of every requirement or model integration. The test count is fixture and synthetic validation, not model accuracy or real-price accuracy. Actual image overlays, real-model worker integration, runtime acceptance and remaining defects still require work.
The training milestone is a fresh team update supplied by the user: the first car defects model, SegFormer-B2, has been trained. Older repository notes say no model exists and propose SegFormer-B0. The slide reflects the user's newer training update without claiming that checkpoint, dataset, evaluation results or model integration have been verified in this repository.
Datasets are identified, which does not imply all files/permissions/labels are ready. HITL is the planned parts source; </a:t>
            </a:r>
            <a:r>
              <a:rPr lang="en-US" dirty="0" err="1"/>
              <a:t>CarDD</a:t>
            </a:r>
            <a:r>
              <a:rPr lang="en-US" dirty="0"/>
              <a:t> is the planned core damage source with access pending in repository records. Model plan: </a:t>
            </a:r>
            <a:r>
              <a:rPr lang="en-US" dirty="0" err="1"/>
              <a:t>SegFormer</a:t>
            </a:r>
            <a:r>
              <a:rPr lang="en-US" dirty="0"/>
              <a:t> for vision, pretrained </a:t>
            </a:r>
            <a:r>
              <a:rPr lang="en-US" dirty="0" err="1"/>
              <a:t>PaddleOCR</a:t>
            </a:r>
            <a:r>
              <a:rPr lang="en-US" dirty="0"/>
              <a:t>, deterministic parser for 2-3 layouts, Faster R-CNN ResNet-50 FPN for pen marks, and offline empirical/</a:t>
            </a:r>
            <a:r>
              <a:rPr lang="en-US" dirty="0" err="1"/>
              <a:t>LightGBM</a:t>
            </a:r>
            <a:r>
              <a:rPr lang="en-US" dirty="0"/>
              <a:t> cost ranges. LayoutLMv3 and </a:t>
            </a:r>
            <a:r>
              <a:rPr lang="en-US" dirty="0" err="1"/>
              <a:t>TrOCR</a:t>
            </a:r>
            <a:r>
              <a:rPr lang="en-US" dirty="0"/>
              <a:t> remain stretch goals.
The right column contains intentionally editable placeholders for the next team sync: model dataset/checkpoint and measured metrics; completed modules and integration blockers; next owners and dates.
Background photo: "Rear End Tesla Model X Collision Damage Repair" by </a:t>
            </a:r>
            <a:r>
              <a:rPr lang="en-US" dirty="0" err="1"/>
              <a:t>Scientificranking</a:t>
            </a:r>
            <a:r>
              <a:rPr lang="en-US" dirty="0"/>
              <a:t>, Wikimedia Commons, licensed CC BY 4.0 (https://</a:t>
            </a:r>
            <a:r>
              <a:rPr lang="en-US" dirty="0" err="1"/>
              <a:t>creativecommons.org</a:t>
            </a:r>
            <a:r>
              <a:rPr lang="en-US" dirty="0"/>
              <a:t>/licenses/by/4.0/). Source: https://</a:t>
            </a:r>
            <a:r>
              <a:rPr lang="en-US" dirty="0" err="1"/>
              <a:t>commons.wikimedia.org</a:t>
            </a:r>
            <a:r>
              <a:rPr lang="en-US" dirty="0"/>
              <a:t>/wiki/</a:t>
            </a:r>
            <a:r>
              <a:rPr lang="en-US" dirty="0" err="1"/>
              <a:t>File:Rear_End_Tesla_Model_X_Collision_Damage_Repair.jpg</a:t>
            </a:r>
            <a:r>
              <a:rPr lang="en-US" dirty="0"/>
              <a:t>. Changes: cropped to 16:9, converted to greyscale, darkened and tinted.</a:t>
            </a:r>
            <a:endParaRPr lang="en-SG" dirty="0"/>
          </a:p>
        </p:txBody>
      </p:sp>
      <p:sp>
        <p:nvSpPr>
          <p:cNvPr id="4" name="Slide Number Placeholder 3"/>
          <p:cNvSpPr>
            <a:spLocks noGrp="1"/>
          </p:cNvSpPr>
          <p:nvPr>
            <p:ph type="sldNum" sz="quarter" idx="5"/>
          </p:nvPr>
        </p:nvSpPr>
        <p:spPr/>
        <p:txBody>
          <a:bodyPr/>
          <a:lstStyle/>
          <a:p>
            <a:fld id="{6553A4AB-64CF-498D-97A7-0FBE2A6B724B}" type="slidenum">
              <a:rPr lang="en-SG" smtClean="0"/>
              <a:t>9</a:t>
            </a:fld>
            <a:endParaRPr lang="en-SG"/>
          </a:p>
        </p:txBody>
      </p:sp>
    </p:spTree>
    <p:extLst>
      <p:ext uri="{BB962C8B-B14F-4D97-AF65-F5344CB8AC3E}">
        <p14:creationId xmlns:p14="http://schemas.microsoft.com/office/powerpoint/2010/main" val="3308172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br>
              <a:rPr lang="en-US"/>
            </a:br>
            <a:r>
              <a:rPr lang="en-US"/>
              <a:t>[Sources]</a:t>
            </a:r>
            <a:br>
              <a:rPr lang="en-US"/>
            </a:br>
            <a:r>
              <a:rPr lang="en-US"/>
              <a:t>- System Architecture Overview.docx</a:t>
            </a:r>
            <a:br>
              <a:rPr lang="en-US"/>
            </a:br>
            <a:r>
              <a:rPr lang="en-US"/>
              <a:t>[/Sources]</a:t>
            </a:r>
            <a:endParaRPr/>
          </a:p>
        </p:txBody>
      </p:sp>
      <p:sp>
        <p:nvSpPr>
          <p:cNvPr id="229" name="Google Shape;22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STER">
  <p:cSld name="MASTER">
    <p:bg>
      <p:bgPr>
        <a:solidFill>
          <a:srgbClr val="0A1520"/>
        </a:solidFill>
        <a:effectLst/>
      </p:bgPr>
    </p:bg>
    <p:spTree>
      <p:nvGrpSpPr>
        <p:cNvPr id="1" name="Shape 12"/>
        <p:cNvGrpSpPr/>
        <p:nvPr/>
      </p:nvGrpSpPr>
      <p:grpSpPr>
        <a:xfrm>
          <a:off x="0" y="0"/>
          <a:ext cx="0" cy="0"/>
          <a:chOff x="0" y="0"/>
          <a:chExt cx="0" cy="0"/>
        </a:xfrm>
      </p:grpSpPr>
      <p:sp>
        <p:nvSpPr>
          <p:cNvPr id="1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1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16" name="Google Shape;16;p11"/>
          <p:cNvSpPr txBox="1">
            <a:spLocks noGrp="1"/>
          </p:cNvSpPr>
          <p:nvPr>
            <p:ph type="sldNum" idx="12"/>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8397A5"/>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2EF38-226E-D355-9075-F9808E389D44}"/>
              </a:ext>
            </a:extLst>
          </p:cNvPr>
          <p:cNvSpPr>
            <a:spLocks noGrp="1"/>
          </p:cNvSpPr>
          <p:nvPr>
            <p:ph type="dt" sz="half" idx="10"/>
          </p:nvPr>
        </p:nvSpPr>
        <p:spPr/>
        <p:txBody>
          <a:bodyPr/>
          <a:lstStyle/>
          <a:p>
            <a:fld id="{33D6ACD8-DDD6-41B8-A8F7-64F385A183F2}" type="datetimeFigureOut">
              <a:rPr lang="en-SG" smtClean="0"/>
              <a:t>28/9/26</a:t>
            </a:fld>
            <a:endParaRPr lang="en-SG"/>
          </a:p>
        </p:txBody>
      </p:sp>
      <p:sp>
        <p:nvSpPr>
          <p:cNvPr id="3" name="Footer Placeholder 2">
            <a:extLst>
              <a:ext uri="{FF2B5EF4-FFF2-40B4-BE49-F238E27FC236}">
                <a16:creationId xmlns:a16="http://schemas.microsoft.com/office/drawing/2014/main" id="{225E1ADD-910B-DACF-2B14-4A7D76E45074}"/>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7C067104-CDC3-E534-AF76-2277C5D6B913}"/>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39242120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sldNum" idx="12"/>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800"/>
              <a:buFont typeface="Arial"/>
              <a:buNone/>
              <a:defRPr sz="800" b="0" i="0" u="none" strike="noStrike" cap="none">
                <a:solidFill>
                  <a:srgbClr val="64748B"/>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jp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Shape 21"/>
        <p:cNvGrpSpPr/>
        <p:nvPr/>
      </p:nvGrpSpPr>
      <p:grpSpPr>
        <a:xfrm>
          <a:off x="0" y="0"/>
          <a:ext cx="0" cy="0"/>
          <a:chOff x="0" y="0"/>
          <a:chExt cx="0" cy="0"/>
        </a:xfrm>
      </p:grpSpPr>
      <p:pic>
        <p:nvPicPr>
          <p:cNvPr id="22" name="Google Shape;22;p1" descr="/mnt/data/5371561c68.png"/>
          <p:cNvPicPr preferRelativeResize="0"/>
          <p:nvPr/>
        </p:nvPicPr>
        <p:blipFill rotWithShape="1">
          <a:blip r:embed="rId3">
            <a:alphaModFix/>
          </a:blip>
          <a:srcRect t="7811" b="7811"/>
          <a:stretch/>
        </p:blipFill>
        <p:spPr>
          <a:xfrm>
            <a:off x="0" y="0"/>
            <a:ext cx="12191695" cy="6858000"/>
          </a:xfrm>
          <a:prstGeom prst="rect">
            <a:avLst/>
          </a:prstGeom>
          <a:noFill/>
          <a:ln>
            <a:noFill/>
          </a:ln>
        </p:spPr>
      </p:pic>
      <p:sp>
        <p:nvSpPr>
          <p:cNvPr id="23" name="Google Shape;23;p1"/>
          <p:cNvSpPr/>
          <p:nvPr/>
        </p:nvSpPr>
        <p:spPr>
          <a:xfrm>
            <a:off x="0" y="0"/>
            <a:ext cx="12191695" cy="6858000"/>
          </a:xfrm>
          <a:prstGeom prst="rect">
            <a:avLst/>
          </a:prstGeom>
          <a:solidFill>
            <a:srgbClr val="0B1F33">
              <a:alpha val="58039"/>
            </a:srgbClr>
          </a:solidFill>
          <a:ln w="12700" cap="flat" cmpd="sng">
            <a:solidFill>
              <a:srgbClr val="0B1F33">
                <a:alpha val="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1"/>
          <p:cNvSpPr/>
          <p:nvPr/>
        </p:nvSpPr>
        <p:spPr>
          <a:xfrm>
            <a:off x="0" y="0"/>
            <a:ext cx="6583680" cy="6858000"/>
          </a:xfrm>
          <a:prstGeom prst="rect">
            <a:avLst/>
          </a:prstGeom>
          <a:solidFill>
            <a:srgbClr val="0B1F33">
              <a:alpha val="92157"/>
            </a:srgbClr>
          </a:solidFill>
          <a:ln w="12700" cap="flat" cmpd="sng">
            <a:solidFill>
              <a:srgbClr val="0B1F33">
                <a:alpha val="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1"/>
          <p:cNvSpPr/>
          <p:nvPr/>
        </p:nvSpPr>
        <p:spPr>
          <a:xfrm>
            <a:off x="594360" y="658368"/>
            <a:ext cx="1874520" cy="320040"/>
          </a:xfrm>
          <a:prstGeom prst="roundRect">
            <a:avLst>
              <a:gd name="adj" fmla="val 17143"/>
            </a:avLst>
          </a:prstGeom>
          <a:solidFill>
            <a:srgbClr val="00A4EF"/>
          </a:solidFill>
          <a:ln w="12700" cap="flat" cmpd="sng">
            <a:solidFill>
              <a:srgbClr val="00A4EF"/>
            </a:solidFill>
            <a:prstDash val="solid"/>
            <a:round/>
            <a:headEnd type="none" w="sm" len="sm"/>
            <a:tailEnd type="none" w="sm" len="sm"/>
          </a:ln>
          <a:effectLst>
            <a:outerShdw blurRad="12700" dist="6350" dir="2700000" algn="bl" rotWithShape="0">
              <a:srgbClr val="000000">
                <a:alpha val="12157"/>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 name="Google Shape;26;p1"/>
          <p:cNvSpPr/>
          <p:nvPr/>
        </p:nvSpPr>
        <p:spPr>
          <a:xfrm>
            <a:off x="667512" y="726948"/>
            <a:ext cx="1728216" cy="1554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en-US" sz="1000" b="1" i="0" u="none" strike="noStrike" cap="none">
                <a:solidFill>
                  <a:srgbClr val="FFFFFF"/>
                </a:solidFill>
                <a:latin typeface="Arial"/>
                <a:ea typeface="Arial"/>
                <a:cs typeface="Arial"/>
                <a:sym typeface="Arial"/>
              </a:rPr>
              <a:t>PROJECT PRESENTATION</a:t>
            </a:r>
            <a:endParaRPr sz="1000" b="0" i="0" u="none" strike="noStrike" cap="none">
              <a:solidFill>
                <a:schemeClr val="dk1"/>
              </a:solidFill>
              <a:latin typeface="Arial"/>
              <a:ea typeface="Arial"/>
              <a:cs typeface="Arial"/>
              <a:sym typeface="Arial"/>
            </a:endParaRPr>
          </a:p>
        </p:txBody>
      </p:sp>
      <p:sp>
        <p:nvSpPr>
          <p:cNvPr id="27" name="Google Shape;27;p1"/>
          <p:cNvSpPr/>
          <p:nvPr/>
        </p:nvSpPr>
        <p:spPr>
          <a:xfrm>
            <a:off x="594360" y="1325880"/>
            <a:ext cx="5669280" cy="1051560"/>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AI-Based Vehicle Damage Assessment</a:t>
            </a:r>
            <a:endParaRPr sz="3600" b="0" i="0" u="none" strike="noStrike" cap="none">
              <a:solidFill>
                <a:schemeClr val="dk1"/>
              </a:solidFill>
              <a:latin typeface="Arial"/>
              <a:ea typeface="Arial"/>
              <a:cs typeface="Arial"/>
              <a:sym typeface="Arial"/>
            </a:endParaRPr>
          </a:p>
        </p:txBody>
      </p:sp>
      <p:sp>
        <p:nvSpPr>
          <p:cNvPr id="28" name="Google Shape;28;p1"/>
          <p:cNvSpPr/>
          <p:nvPr/>
        </p:nvSpPr>
        <p:spPr>
          <a:xfrm>
            <a:off x="621792" y="2578608"/>
            <a:ext cx="5349240" cy="77724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chemeClr val="dk1"/>
              </a:buClr>
              <a:buSzPts val="1100"/>
              <a:buFont typeface="Arial"/>
              <a:buNone/>
            </a:pPr>
            <a:r>
              <a:rPr lang="en-US" sz="1500" b="0" i="0" u="none" strike="noStrike" cap="none">
                <a:solidFill>
                  <a:schemeClr val="lt1"/>
                </a:solidFill>
                <a:latin typeface="Times New Roman"/>
                <a:ea typeface="Times New Roman"/>
                <a:cs typeface="Times New Roman"/>
                <a:sym typeface="Times New Roman"/>
              </a:rPr>
              <a:t>Cross-Modal Evidence Verification of Declared Repair Scope Against Photographic Damage Evidence in Motor Own-Damage Claims (CLAIM-CMEV)</a:t>
            </a:r>
            <a:endParaRPr sz="2100" b="0" i="0" u="none" strike="noStrike" cap="none">
              <a:solidFill>
                <a:schemeClr val="lt1"/>
              </a:solidFill>
              <a:latin typeface="Arial"/>
              <a:ea typeface="Arial"/>
              <a:cs typeface="Arial"/>
              <a:sym typeface="Arial"/>
            </a:endParaRPr>
          </a:p>
        </p:txBody>
      </p:sp>
      <p:sp>
        <p:nvSpPr>
          <p:cNvPr id="29" name="Google Shape;29;p1"/>
          <p:cNvSpPr/>
          <p:nvPr/>
        </p:nvSpPr>
        <p:spPr>
          <a:xfrm>
            <a:off x="638997" y="4126106"/>
            <a:ext cx="3608537" cy="158643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A4EF"/>
              </a:buClr>
              <a:buSzPts val="2000"/>
              <a:buFont typeface="Arial"/>
              <a:buNone/>
            </a:pPr>
            <a:r>
              <a:rPr lang="en-US" sz="2000" b="1" i="0" u="none" strike="noStrike" cap="none">
                <a:solidFill>
                  <a:srgbClr val="00A4EF"/>
                </a:solidFill>
                <a:latin typeface="Arial"/>
                <a:ea typeface="Arial"/>
                <a:cs typeface="Arial"/>
                <a:sym typeface="Arial"/>
              </a:rPr>
              <a:t>ACERY (Group 34)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Divakaran Pillai Arunkumar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Lau Lay Khoon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Lim Chong Jen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lt1"/>
                </a:solidFill>
                <a:latin typeface="Arial"/>
                <a:ea typeface="Arial"/>
                <a:cs typeface="Arial"/>
                <a:sym typeface="Arial"/>
              </a:rPr>
              <a:t>Miguel Rodel Felipe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r>
              <a:rPr lang="en-US" sz="1800" b="0" i="1" u="none" strike="noStrike" cap="none">
                <a:solidFill>
                  <a:schemeClr val="lt1"/>
                </a:solidFill>
                <a:latin typeface="Arial"/>
                <a:ea typeface="Arial"/>
                <a:cs typeface="Arial"/>
                <a:sym typeface="Arial"/>
              </a:rPr>
              <a:t>Sun Yan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endParaRPr sz="2000" b="1" i="0" u="none" strike="noStrike" cap="none">
              <a:solidFill>
                <a:srgbClr val="00A4EF"/>
              </a:solidFill>
              <a:latin typeface="Arial"/>
              <a:ea typeface="Arial"/>
              <a:cs typeface="Arial"/>
              <a:sym typeface="Arial"/>
            </a:endParaRPr>
          </a:p>
          <a:p>
            <a:pPr marL="0" marR="0" lvl="0" indent="0" algn="l" rtl="0">
              <a:lnSpc>
                <a:spcPct val="100000"/>
              </a:lnSpc>
              <a:spcBef>
                <a:spcPts val="0"/>
              </a:spcBef>
              <a:spcAft>
                <a:spcPts val="0"/>
              </a:spcAft>
              <a:buClr>
                <a:srgbClr val="00A4EF"/>
              </a:buClr>
              <a:buSzPts val="2000"/>
              <a:buFont typeface="Arial"/>
              <a:buNone/>
            </a:pPr>
            <a:endParaRPr sz="2000" b="0" i="0" u="none" strike="noStrike" cap="none">
              <a:solidFill>
                <a:srgbClr val="000000"/>
              </a:solidFill>
              <a:latin typeface="Arial"/>
              <a:ea typeface="Arial"/>
              <a:cs typeface="Arial"/>
              <a:sym typeface="Arial"/>
            </a:endParaRPr>
          </a:p>
        </p:txBody>
      </p:sp>
      <p:sp>
        <p:nvSpPr>
          <p:cNvPr id="30" name="Google Shape;30;p1"/>
          <p:cNvSpPr/>
          <p:nvPr/>
        </p:nvSpPr>
        <p:spPr>
          <a:xfrm>
            <a:off x="621792" y="6036810"/>
            <a:ext cx="521208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Initial concept, data strategy and system architecture</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9001" name="Background photo"/>
          <p:cNvPicPr>
            <a:picLocks/>
          </p:cNvPicPr>
          <p:nvPr/>
        </p:nvPicPr>
        <p:blipFill>
          <a:blip r:embed="rId3">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36" name="Google Shape;36;p12"/>
          <p:cNvSpPr/>
          <p:nvPr/>
        </p:nvSpPr>
        <p:spPr>
          <a:xfrm>
            <a:off x="530352" y="384048"/>
            <a:ext cx="8046720" cy="42062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2600"/>
              <a:buFont typeface="Arial"/>
              <a:buNone/>
            </a:pPr>
            <a:r>
              <a:rPr lang="en-US" sz="2600" b="1" i="0" u="none" strike="noStrike" cap="none">
                <a:solidFill>
                  <a:srgbClr val="F3F6F8"/>
                </a:solidFill>
                <a:latin typeface="Arial"/>
                <a:ea typeface="Arial"/>
                <a:cs typeface="Arial"/>
                <a:sym typeface="Arial"/>
              </a:rPr>
              <a:t>Current Situation</a:t>
            </a:r>
            <a:endParaRPr sz="2600" b="0" i="0" u="none" strike="noStrike" cap="none">
              <a:solidFill>
                <a:srgbClr val="F3F6F8"/>
              </a:solidFill>
              <a:latin typeface="Arial"/>
              <a:ea typeface="Arial"/>
              <a:cs typeface="Arial"/>
              <a:sym typeface="Arial"/>
            </a:endParaRPr>
          </a:p>
        </p:txBody>
      </p:sp>
      <p:sp>
        <p:nvSpPr>
          <p:cNvPr id="37" name="Google Shape;37;p12"/>
          <p:cNvSpPr/>
          <p:nvPr/>
        </p:nvSpPr>
        <p:spPr>
          <a:xfrm>
            <a:off x="548640" y="841248"/>
            <a:ext cx="10881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3C3CE"/>
              </a:buClr>
              <a:buSzPts val="1150"/>
              <a:buFont typeface="Arial"/>
              <a:buNone/>
            </a:pPr>
            <a:r>
              <a:rPr lang="en-US" sz="1800" b="0" i="0" u="none" strike="noStrike" cap="none">
                <a:solidFill>
                  <a:srgbClr val="B3C3CE"/>
                </a:solidFill>
                <a:latin typeface="Arial"/>
                <a:ea typeface="Arial"/>
                <a:cs typeface="Arial"/>
                <a:sym typeface="Arial"/>
              </a:rPr>
              <a:t>The current workflow contains valuable evidence, but much of it remains manual and unstructured.</a:t>
            </a:r>
            <a:endParaRPr sz="1800" b="0" i="0" u="none" strike="noStrike" cap="none">
              <a:solidFill>
                <a:srgbClr val="F3F6F8"/>
              </a:solidFill>
              <a:latin typeface="Arial"/>
              <a:ea typeface="Arial"/>
              <a:cs typeface="Arial"/>
              <a:sym typeface="Arial"/>
            </a:endParaRPr>
          </a:p>
        </p:txBody>
      </p:sp>
      <p:sp>
        <p:nvSpPr>
          <p:cNvPr id="38" name="Google Shape;38;p12"/>
          <p:cNvSpPr/>
          <p:nvPr/>
        </p:nvSpPr>
        <p:spPr>
          <a:xfrm>
            <a:off x="594360" y="132588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39" name="Google Shape;39;p12"/>
          <p:cNvSpPr/>
          <p:nvPr/>
        </p:nvSpPr>
        <p:spPr>
          <a:xfrm>
            <a:off x="594360" y="1325880"/>
            <a:ext cx="73152" cy="1664208"/>
          </a:xfrm>
          <a:prstGeom prst="rect">
            <a:avLst/>
          </a:prstGeom>
          <a:solidFill>
            <a:srgbClr val="7AB6EA"/>
          </a:solidFill>
          <a:ln w="12700" cap="flat" cmpd="sng">
            <a:solidFill>
              <a:srgbClr val="7AB6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40" name="Google Shape;40;p12"/>
          <p:cNvSpPr/>
          <p:nvPr/>
        </p:nvSpPr>
        <p:spPr>
          <a:xfrm>
            <a:off x="813816" y="152704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Claim event</a:t>
            </a:r>
            <a:endParaRPr sz="1800" b="0" i="0" u="none" strike="noStrike" cap="none">
              <a:solidFill>
                <a:srgbClr val="F3F6F8"/>
              </a:solidFill>
              <a:latin typeface="Arial"/>
              <a:ea typeface="Arial"/>
              <a:cs typeface="Arial"/>
              <a:sym typeface="Arial"/>
            </a:endParaRPr>
          </a:p>
        </p:txBody>
      </p:sp>
      <p:sp>
        <p:nvSpPr>
          <p:cNvPr id="41" name="Google Shape;41;p12"/>
          <p:cNvSpPr/>
          <p:nvPr/>
        </p:nvSpPr>
        <p:spPr>
          <a:xfrm>
            <a:off x="813816" y="1901952"/>
            <a:ext cx="4828032" cy="932688"/>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For a motor claim, the authorised workshop first estimates the repair cost based on the damaged parts and labour charges. An insurer-appointed surveyor then independently assesses the repair cost.</a:t>
            </a:r>
            <a:endParaRPr sz="1500" b="0" i="0" u="none" strike="noStrike" cap="none">
              <a:solidFill>
                <a:srgbClr val="F3F6F8"/>
              </a:solidFill>
              <a:latin typeface="Arial"/>
              <a:ea typeface="Arial"/>
              <a:cs typeface="Arial"/>
              <a:sym typeface="Arial"/>
            </a:endParaRPr>
          </a:p>
        </p:txBody>
      </p:sp>
      <p:sp>
        <p:nvSpPr>
          <p:cNvPr id="42" name="Google Shape;42;p12"/>
          <p:cNvSpPr/>
          <p:nvPr/>
        </p:nvSpPr>
        <p:spPr>
          <a:xfrm>
            <a:off x="6126480" y="132588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43" name="Google Shape;43;p12"/>
          <p:cNvSpPr/>
          <p:nvPr/>
        </p:nvSpPr>
        <p:spPr>
          <a:xfrm>
            <a:off x="6126480" y="1325880"/>
            <a:ext cx="73152" cy="1664208"/>
          </a:xfrm>
          <a:prstGeom prst="rect">
            <a:avLst/>
          </a:prstGeom>
          <a:solidFill>
            <a:srgbClr val="F0C46E"/>
          </a:solidFill>
          <a:ln w="12700" cap="flat" cmpd="sng">
            <a:solidFill>
              <a:srgbClr val="F0C4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44" name="Google Shape;44;p12"/>
          <p:cNvSpPr/>
          <p:nvPr/>
        </p:nvSpPr>
        <p:spPr>
          <a:xfrm>
            <a:off x="6345936" y="152704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Surveyor report</a:t>
            </a:r>
            <a:endParaRPr sz="1800" b="0" i="0" u="none" strike="noStrike" cap="none">
              <a:solidFill>
                <a:srgbClr val="F3F6F8"/>
              </a:solidFill>
              <a:latin typeface="Arial"/>
              <a:ea typeface="Arial"/>
              <a:cs typeface="Arial"/>
              <a:sym typeface="Arial"/>
            </a:endParaRPr>
          </a:p>
        </p:txBody>
      </p:sp>
      <p:sp>
        <p:nvSpPr>
          <p:cNvPr id="45" name="Google Shape;45;p12"/>
          <p:cNvSpPr/>
          <p:nvPr/>
        </p:nvSpPr>
        <p:spPr>
          <a:xfrm>
            <a:off x="6345936" y="1901952"/>
            <a:ext cx="4828032" cy="932688"/>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The surveyor’s report includes an executive summary of the damage and endorses the repair cost, supported by photographic evidence of the damaged parts.</a:t>
            </a:r>
            <a:endParaRPr sz="1500" b="0" i="0" u="none" strike="noStrike" cap="none">
              <a:solidFill>
                <a:srgbClr val="F3F6F8"/>
              </a:solidFill>
              <a:latin typeface="Arial"/>
              <a:ea typeface="Arial"/>
              <a:cs typeface="Arial"/>
              <a:sym typeface="Arial"/>
            </a:endParaRPr>
          </a:p>
        </p:txBody>
      </p:sp>
      <p:sp>
        <p:nvSpPr>
          <p:cNvPr id="46" name="Google Shape;46;p12"/>
          <p:cNvSpPr/>
          <p:nvPr/>
        </p:nvSpPr>
        <p:spPr>
          <a:xfrm>
            <a:off x="594360" y="338328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47" name="Google Shape;47;p12"/>
          <p:cNvSpPr/>
          <p:nvPr/>
        </p:nvSpPr>
        <p:spPr>
          <a:xfrm>
            <a:off x="594360" y="3383280"/>
            <a:ext cx="73152" cy="1664208"/>
          </a:xfrm>
          <a:prstGeom prst="rect">
            <a:avLst/>
          </a:prstGeom>
          <a:solidFill>
            <a:srgbClr val="4FD1C0"/>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48" name="Google Shape;48;p12"/>
          <p:cNvSpPr/>
          <p:nvPr/>
        </p:nvSpPr>
        <p:spPr>
          <a:xfrm>
            <a:off x="813816" y="358444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Claim handling</a:t>
            </a:r>
            <a:endParaRPr sz="1800" b="0" i="0" u="none" strike="noStrike" cap="none">
              <a:solidFill>
                <a:srgbClr val="F3F6F8"/>
              </a:solidFill>
              <a:latin typeface="Arial"/>
              <a:ea typeface="Arial"/>
              <a:cs typeface="Arial"/>
              <a:sym typeface="Arial"/>
            </a:endParaRPr>
          </a:p>
        </p:txBody>
      </p:sp>
      <p:sp>
        <p:nvSpPr>
          <p:cNvPr id="49" name="Google Shape;49;p12"/>
          <p:cNvSpPr/>
          <p:nvPr/>
        </p:nvSpPr>
        <p:spPr>
          <a:xfrm>
            <a:off x="813816" y="3959352"/>
            <a:ext cx="4828032" cy="932688"/>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The claims handler reviews the surveyor’s report and processes the claim, including reserving the claim amount in the financial records and processing the payout.</a:t>
            </a:r>
            <a:endParaRPr sz="1500" b="0" i="0" u="none" strike="noStrike" cap="none">
              <a:solidFill>
                <a:srgbClr val="F3F6F8"/>
              </a:solidFill>
              <a:latin typeface="Arial"/>
              <a:ea typeface="Arial"/>
              <a:cs typeface="Arial"/>
              <a:sym typeface="Arial"/>
            </a:endParaRPr>
          </a:p>
        </p:txBody>
      </p:sp>
      <p:sp>
        <p:nvSpPr>
          <p:cNvPr id="50" name="Google Shape;50;p12"/>
          <p:cNvSpPr/>
          <p:nvPr/>
        </p:nvSpPr>
        <p:spPr>
          <a:xfrm>
            <a:off x="6126480" y="338328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51" name="Google Shape;51;p12"/>
          <p:cNvSpPr/>
          <p:nvPr/>
        </p:nvSpPr>
        <p:spPr>
          <a:xfrm>
            <a:off x="6126480" y="3383280"/>
            <a:ext cx="73152" cy="1664208"/>
          </a:xfrm>
          <a:prstGeom prst="rect">
            <a:avLst/>
          </a:prstGeom>
          <a:solidFill>
            <a:srgbClr val="A99BF0"/>
          </a:solidFill>
          <a:ln w="12700" cap="flat" cmpd="sng">
            <a:solidFill>
              <a:srgbClr val="A99B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52" name="Google Shape;52;p12"/>
          <p:cNvSpPr/>
          <p:nvPr/>
        </p:nvSpPr>
        <p:spPr>
          <a:xfrm>
            <a:off x="6339906" y="3453896"/>
            <a:ext cx="48279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Insurer</a:t>
            </a:r>
            <a:r>
              <a:rPr lang="en-US" sz="1800" b="1">
                <a:solidFill>
                  <a:srgbClr val="F3F6F8"/>
                </a:solidFill>
              </a:rPr>
              <a:t>-specific challenges</a:t>
            </a:r>
            <a:endParaRPr sz="1800" b="0" i="0" u="none" strike="noStrike" cap="none">
              <a:solidFill>
                <a:srgbClr val="F3F6F8"/>
              </a:solidFill>
              <a:latin typeface="Arial"/>
              <a:ea typeface="Arial"/>
              <a:cs typeface="Arial"/>
              <a:sym typeface="Arial"/>
            </a:endParaRPr>
          </a:p>
        </p:txBody>
      </p:sp>
      <p:sp>
        <p:nvSpPr>
          <p:cNvPr id="53" name="Google Shape;53;p12"/>
          <p:cNvSpPr/>
          <p:nvPr/>
        </p:nvSpPr>
        <p:spPr>
          <a:xfrm>
            <a:off x="6096000" y="3767198"/>
            <a:ext cx="5212080" cy="1051500"/>
          </a:xfrm>
          <a:prstGeom prst="rect">
            <a:avLst/>
          </a:prstGeom>
          <a:noFill/>
          <a:ln>
            <a:noFill/>
          </a:ln>
        </p:spPr>
        <p:txBody>
          <a:bodyPr spcFirstLastPara="1" wrap="square" lIns="250" tIns="250" rIns="250" bIns="250" anchor="t" anchorCtr="0">
            <a:noAutofit/>
          </a:bodyPr>
          <a:lstStyle/>
          <a:p>
            <a:pPr marL="441325" marR="0" lvl="0" indent="-285750" algn="l" rtl="0">
              <a:lnSpc>
                <a:spcPct val="100000"/>
              </a:lnSpc>
              <a:spcBef>
                <a:spcPts val="0"/>
              </a:spcBef>
              <a:spcAft>
                <a:spcPts val="0"/>
              </a:spcAft>
              <a:buClr>
                <a:schemeClr val="dk1"/>
              </a:buClr>
              <a:buSzPts val="1150"/>
              <a:buFont typeface="Noto Sans Symbols"/>
              <a:buChar char="▪"/>
            </a:pPr>
            <a:r>
              <a:rPr lang="en-US" sz="1400" b="1" i="0" u="none" strike="noStrike" cap="none">
                <a:solidFill>
                  <a:srgbClr val="7AB6EA"/>
                </a:solidFill>
                <a:latin typeface="Arial"/>
                <a:ea typeface="Arial"/>
                <a:cs typeface="Arial"/>
                <a:sym typeface="Arial"/>
              </a:rPr>
              <a:t>Productivity and Efficiency </a:t>
            </a:r>
            <a:r>
              <a:rPr lang="en-US" sz="1400" b="0" i="0" u="none" strike="noStrike" cap="none">
                <a:solidFill>
                  <a:srgbClr val="D3DCE3"/>
                </a:solidFill>
                <a:latin typeface="Arial"/>
                <a:ea typeface="Arial"/>
                <a:cs typeface="Arial"/>
                <a:sym typeface="Arial"/>
              </a:rPr>
              <a:t>– Claims processing is limited by the number of surveyors available. </a:t>
            </a:r>
            <a:endParaRPr/>
          </a:p>
          <a:p>
            <a:pPr marL="441325" marR="0" lvl="0" indent="-285750" algn="l" rtl="0">
              <a:lnSpc>
                <a:spcPct val="100000"/>
              </a:lnSpc>
              <a:spcBef>
                <a:spcPts val="0"/>
              </a:spcBef>
              <a:spcAft>
                <a:spcPts val="0"/>
              </a:spcAft>
              <a:buClr>
                <a:schemeClr val="dk1"/>
              </a:buClr>
              <a:buSzPts val="1150"/>
              <a:buFont typeface="Noto Sans Symbols"/>
              <a:buChar char="▪"/>
            </a:pPr>
            <a:r>
              <a:rPr lang="en-US" sz="1400" b="1" i="0" u="none" strike="noStrike" cap="none">
                <a:solidFill>
                  <a:srgbClr val="7AB6EA"/>
                </a:solidFill>
                <a:latin typeface="Arial"/>
                <a:ea typeface="Arial"/>
                <a:cs typeface="Arial"/>
                <a:sym typeface="Arial"/>
              </a:rPr>
              <a:t>Consistency and Predictability </a:t>
            </a:r>
            <a:r>
              <a:rPr lang="en-US" sz="1400" b="0" i="0" u="none" strike="noStrike" cap="none">
                <a:solidFill>
                  <a:srgbClr val="D3DCE3"/>
                </a:solidFill>
                <a:latin typeface="Arial"/>
                <a:ea typeface="Arial"/>
                <a:cs typeface="Arial"/>
                <a:sym typeface="Arial"/>
              </a:rPr>
              <a:t>– A consistent and predictable basis for claim costs is needed. </a:t>
            </a:r>
            <a:endParaRPr/>
          </a:p>
          <a:p>
            <a:pPr marL="441325" marR="0" lvl="0" indent="-285750" algn="l" rtl="0">
              <a:lnSpc>
                <a:spcPct val="100000"/>
              </a:lnSpc>
              <a:spcBef>
                <a:spcPts val="0"/>
              </a:spcBef>
              <a:spcAft>
                <a:spcPts val="0"/>
              </a:spcAft>
              <a:buClr>
                <a:schemeClr val="dk1"/>
              </a:buClr>
              <a:buSzPts val="1150"/>
              <a:buFont typeface="Noto Sans Symbols"/>
              <a:buChar char="▪"/>
            </a:pPr>
            <a:r>
              <a:rPr lang="en-US" sz="1400" b="1" i="0" u="none" strike="noStrike" cap="none">
                <a:solidFill>
                  <a:srgbClr val="7AB6EA"/>
                </a:solidFill>
                <a:latin typeface="Arial"/>
                <a:ea typeface="Arial"/>
                <a:cs typeface="Arial"/>
                <a:sym typeface="Arial"/>
              </a:rPr>
              <a:t>Claim Inflation </a:t>
            </a:r>
            <a:r>
              <a:rPr lang="en-US" sz="1400" b="0" i="0" u="none" strike="noStrike" cap="none">
                <a:solidFill>
                  <a:srgbClr val="D3DCE3"/>
                </a:solidFill>
                <a:latin typeface="Arial"/>
                <a:ea typeface="Arial"/>
                <a:cs typeface="Arial"/>
                <a:sym typeface="Arial"/>
              </a:rPr>
              <a:t>– Photographic evidence is required, but inflated or fraudulent claims can still be difficult to detect.</a:t>
            </a:r>
            <a:endParaRPr/>
          </a:p>
        </p:txBody>
      </p:sp>
      <p:sp>
        <p:nvSpPr>
          <p:cNvPr id="54" name="Google Shape;54;p12"/>
          <p:cNvSpPr txBox="1">
            <a:spLocks noGrp="1"/>
          </p:cNvSpPr>
          <p:nvPr>
            <p:ph type="sldNum" idx="4294967295"/>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800"/>
              <a:buNone/>
            </a:pPr>
            <a:fld id="{00000000-1234-1234-1234-123412341234}" type="slidenum">
              <a:rPr lang="en-US" sz="800" b="0">
                <a:solidFill>
                  <a:srgbClr val="8397A5"/>
                </a:solidFill>
                <a:latin typeface="Arial"/>
                <a:ea typeface="Arial"/>
                <a:cs typeface="Arial"/>
                <a:sym typeface="Arial"/>
              </a:rPr>
              <a:t>2</a:t>
            </a:fld>
            <a:endParaRPr sz="800">
              <a:solidFill>
                <a:srgbClr val="8397A5"/>
              </a:solidFill>
              <a:latin typeface="Arial"/>
              <a:ea typeface="Arial"/>
              <a:cs typeface="Arial"/>
              <a:sym typeface="Arial"/>
            </a:endParaRPr>
          </a:p>
        </p:txBody>
      </p:sp>
      <p:sp>
        <p:nvSpPr>
          <p:cNvPr id="55" name="Google Shape;55;p12"/>
          <p:cNvSpPr/>
          <p:nvPr/>
        </p:nvSpPr>
        <p:spPr>
          <a:xfrm>
            <a:off x="953729" y="5532120"/>
            <a:ext cx="10214077" cy="719708"/>
          </a:xfrm>
          <a:prstGeom prst="roundRect">
            <a:avLst>
              <a:gd name="adj" fmla="val 16667"/>
            </a:avLst>
          </a:prstGeom>
          <a:solidFill>
            <a:srgbClr val="0F2231">
              <a:alpha val="92000"/>
            </a:srgbClr>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Singapore’s motor insurance market reached S$1.28 billion in 2025, with rising claims costs and insurers estimated to face up to S$140 million annually from inflated and fraudulent claims.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61" name="Google Shape;61;p2"/>
          <p:cNvSpPr/>
          <p:nvPr/>
        </p:nvSpPr>
        <p:spPr>
          <a:xfrm>
            <a:off x="530352" y="384048"/>
            <a:ext cx="8046720" cy="42062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2600"/>
              <a:buFont typeface="Arial"/>
              <a:buNone/>
            </a:pPr>
            <a:r>
              <a:rPr lang="en-US" sz="2600" b="1" i="0" u="none" strike="noStrike" cap="none">
                <a:solidFill>
                  <a:srgbClr val="F3F6F8"/>
                </a:solidFill>
                <a:latin typeface="Arial"/>
                <a:ea typeface="Arial"/>
                <a:cs typeface="Arial"/>
                <a:sym typeface="Arial"/>
              </a:rPr>
              <a:t>Why this project matters</a:t>
            </a:r>
            <a:endParaRPr sz="2600" b="0" i="0" u="none" strike="noStrike" cap="none">
              <a:solidFill>
                <a:srgbClr val="F3F6F8"/>
              </a:solidFill>
              <a:latin typeface="Arial"/>
              <a:ea typeface="Arial"/>
              <a:cs typeface="Arial"/>
              <a:sym typeface="Arial"/>
            </a:endParaRPr>
          </a:p>
        </p:txBody>
      </p:sp>
      <p:sp>
        <p:nvSpPr>
          <p:cNvPr id="62" name="Google Shape;62;p2"/>
          <p:cNvSpPr/>
          <p:nvPr/>
        </p:nvSpPr>
        <p:spPr>
          <a:xfrm>
            <a:off x="548640" y="841248"/>
            <a:ext cx="10881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3C3CE"/>
              </a:buClr>
              <a:buSzPts val="1150"/>
              <a:buFont typeface="Arial"/>
              <a:buNone/>
            </a:pPr>
            <a:r>
              <a:rPr lang="en-US" sz="1800" b="0" i="0" u="none" strike="noStrike" cap="none">
                <a:solidFill>
                  <a:srgbClr val="B3C3CE"/>
                </a:solidFill>
                <a:latin typeface="Arial"/>
                <a:ea typeface="Arial"/>
                <a:cs typeface="Arial"/>
                <a:sym typeface="Arial"/>
              </a:rPr>
              <a:t>The current workflow contains valuable evidence, but much of it remains manual and unstructured.</a:t>
            </a:r>
            <a:endParaRPr sz="1800" b="0" i="0" u="none" strike="noStrike" cap="none">
              <a:solidFill>
                <a:srgbClr val="F3F6F8"/>
              </a:solidFill>
              <a:latin typeface="Arial"/>
              <a:ea typeface="Arial"/>
              <a:cs typeface="Arial"/>
              <a:sym typeface="Arial"/>
            </a:endParaRPr>
          </a:p>
        </p:txBody>
      </p:sp>
      <p:sp>
        <p:nvSpPr>
          <p:cNvPr id="63" name="Google Shape;63;p2"/>
          <p:cNvSpPr/>
          <p:nvPr/>
        </p:nvSpPr>
        <p:spPr>
          <a:xfrm>
            <a:off x="594360" y="367824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64" name="Google Shape;64;p2"/>
          <p:cNvSpPr/>
          <p:nvPr/>
        </p:nvSpPr>
        <p:spPr>
          <a:xfrm>
            <a:off x="6126480" y="3688078"/>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65" name="Google Shape;65;p2"/>
          <p:cNvSpPr txBox="1">
            <a:spLocks noGrp="1"/>
          </p:cNvSpPr>
          <p:nvPr>
            <p:ph type="sldNum" idx="4294967295"/>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800"/>
              <a:buNone/>
            </a:pPr>
            <a:fld id="{00000000-1234-1234-1234-123412341234}" type="slidenum">
              <a:rPr lang="en-US" sz="800" b="0">
                <a:solidFill>
                  <a:srgbClr val="8397A5"/>
                </a:solidFill>
                <a:latin typeface="Arial"/>
                <a:ea typeface="Arial"/>
                <a:cs typeface="Arial"/>
                <a:sym typeface="Arial"/>
              </a:rPr>
              <a:t>3</a:t>
            </a:fld>
            <a:endParaRPr sz="800">
              <a:solidFill>
                <a:srgbClr val="8397A5"/>
              </a:solidFill>
              <a:latin typeface="Arial"/>
              <a:ea typeface="Arial"/>
              <a:cs typeface="Arial"/>
              <a:sym typeface="Arial"/>
            </a:endParaRPr>
          </a:p>
        </p:txBody>
      </p:sp>
      <p:grpSp>
        <p:nvGrpSpPr>
          <p:cNvPr id="66" name="Google Shape;66;p2"/>
          <p:cNvGrpSpPr/>
          <p:nvPr/>
        </p:nvGrpSpPr>
        <p:grpSpPr>
          <a:xfrm>
            <a:off x="594360" y="1630678"/>
            <a:ext cx="5225796" cy="1668780"/>
            <a:chOff x="594360" y="1325880"/>
            <a:chExt cx="5225796" cy="1668780"/>
          </a:xfrm>
        </p:grpSpPr>
        <p:sp>
          <p:nvSpPr>
            <p:cNvPr id="67" name="Google Shape;67;p2"/>
            <p:cNvSpPr/>
            <p:nvPr/>
          </p:nvSpPr>
          <p:spPr>
            <a:xfrm>
              <a:off x="594360" y="132588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68" name="Google Shape;68;p2"/>
            <p:cNvSpPr/>
            <p:nvPr/>
          </p:nvSpPr>
          <p:spPr>
            <a:xfrm>
              <a:off x="813816" y="1527048"/>
              <a:ext cx="2244016" cy="219456"/>
            </a:xfrm>
            <a:prstGeom prst="rect">
              <a:avLst/>
            </a:prstGeom>
            <a:noFill/>
            <a:ln>
              <a:noFill/>
            </a:ln>
          </p:spPr>
          <p:txBody>
            <a:bodyPr spcFirstLastPara="1" wrap="square" lIns="0" tIns="0" rIns="0" bIns="0" anchor="ctr" anchorCtr="0">
              <a:noAutofit/>
            </a:bodyPr>
            <a:lstStyle/>
            <a:p>
              <a:pPr marL="0" marR="0" lvl="0" indent="0" algn="l" rtl="0">
                <a:lnSpc>
                  <a:spcPct val="105555"/>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Manual visual assessment</a:t>
              </a:r>
              <a:endParaRPr sz="1800" b="0" i="0" u="none" strike="noStrike" cap="none">
                <a:solidFill>
                  <a:srgbClr val="F3F6F8"/>
                </a:solidFill>
                <a:latin typeface="Arial"/>
                <a:ea typeface="Arial"/>
                <a:cs typeface="Arial"/>
                <a:sym typeface="Arial"/>
              </a:endParaRPr>
            </a:p>
          </p:txBody>
        </p:sp>
        <p:sp>
          <p:nvSpPr>
            <p:cNvPr id="69" name="Google Shape;69;p2"/>
            <p:cNvSpPr/>
            <p:nvPr/>
          </p:nvSpPr>
          <p:spPr>
            <a:xfrm>
              <a:off x="745680" y="1947672"/>
              <a:ext cx="2120900" cy="1042416"/>
            </a:xfrm>
            <a:prstGeom prst="rect">
              <a:avLst/>
            </a:prstGeom>
            <a:noFill/>
            <a:ln>
              <a:noFill/>
            </a:ln>
          </p:spPr>
          <p:txBody>
            <a:bodyPr spcFirstLastPara="1" wrap="square" lIns="250" tIns="250" rIns="250" bIns="250" anchor="t" anchorCtr="0">
              <a:no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Surveyors identify affected parts, damage severity and repair scope from photographs.</a:t>
              </a:r>
              <a:endParaRPr sz="1500" b="0" i="0" u="none" strike="noStrike" cap="none">
                <a:solidFill>
                  <a:srgbClr val="F3F6F8"/>
                </a:solidFill>
                <a:latin typeface="Arial"/>
                <a:ea typeface="Arial"/>
                <a:cs typeface="Arial"/>
                <a:sym typeface="Arial"/>
              </a:endParaRPr>
            </a:p>
          </p:txBody>
        </p:sp>
        <p:pic>
          <p:nvPicPr>
            <p:cNvPr id="70" name="Google Shape;70;p2"/>
            <p:cNvPicPr preferRelativeResize="0"/>
            <p:nvPr/>
          </p:nvPicPr>
          <p:blipFill rotWithShape="1">
            <a:blip r:embed="rId4">
              <a:alphaModFix/>
            </a:blip>
            <a:srcRect/>
            <a:stretch/>
          </p:blipFill>
          <p:spPr>
            <a:xfrm>
              <a:off x="2925572" y="1330452"/>
              <a:ext cx="2894584" cy="1664208"/>
            </a:xfrm>
            <a:prstGeom prst="rect">
              <a:avLst/>
            </a:prstGeom>
            <a:noFill/>
            <a:ln>
              <a:noFill/>
            </a:ln>
          </p:spPr>
        </p:pic>
      </p:grpSp>
      <p:grpSp>
        <p:nvGrpSpPr>
          <p:cNvPr id="71" name="Google Shape;71;p2"/>
          <p:cNvGrpSpPr/>
          <p:nvPr/>
        </p:nvGrpSpPr>
        <p:grpSpPr>
          <a:xfrm>
            <a:off x="6126480" y="1630678"/>
            <a:ext cx="5251438" cy="1664208"/>
            <a:chOff x="6126480" y="1325880"/>
            <a:chExt cx="5251438" cy="1664208"/>
          </a:xfrm>
        </p:grpSpPr>
        <p:sp>
          <p:nvSpPr>
            <p:cNvPr id="72" name="Google Shape;72;p2"/>
            <p:cNvSpPr/>
            <p:nvPr/>
          </p:nvSpPr>
          <p:spPr>
            <a:xfrm>
              <a:off x="6126480" y="1325880"/>
              <a:ext cx="5212080" cy="1664208"/>
            </a:xfrm>
            <a:prstGeom prst="roundRect">
              <a:avLst>
                <a:gd name="adj" fmla="val 3297"/>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73" name="Google Shape;73;p2"/>
            <p:cNvSpPr/>
            <p:nvPr/>
          </p:nvSpPr>
          <p:spPr>
            <a:xfrm>
              <a:off x="6345936" y="1466423"/>
              <a:ext cx="2038738" cy="256032"/>
            </a:xfrm>
            <a:prstGeom prst="rect">
              <a:avLst/>
            </a:prstGeom>
            <a:noFill/>
            <a:ln>
              <a:noFill/>
            </a:ln>
          </p:spPr>
          <p:txBody>
            <a:bodyPr spcFirstLastPara="1" wrap="square" lIns="0" tIns="0" rIns="0" bIns="0" anchor="ctr" anchorCtr="0">
              <a:noAutofit/>
            </a:bodyPr>
            <a:lstStyle/>
            <a:p>
              <a:pPr marL="0" marR="0" lvl="0" indent="0" algn="l" rtl="0">
                <a:lnSpc>
                  <a:spcPct val="105555"/>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Throughput constraint</a:t>
              </a:r>
              <a:endParaRPr sz="1800" b="0" i="0" u="none" strike="noStrike" cap="none">
                <a:solidFill>
                  <a:srgbClr val="F3F6F8"/>
                </a:solidFill>
                <a:latin typeface="Arial"/>
                <a:ea typeface="Arial"/>
                <a:cs typeface="Arial"/>
                <a:sym typeface="Arial"/>
              </a:endParaRPr>
            </a:p>
          </p:txBody>
        </p:sp>
        <p:sp>
          <p:nvSpPr>
            <p:cNvPr id="74" name="Google Shape;74;p2"/>
            <p:cNvSpPr/>
            <p:nvPr/>
          </p:nvSpPr>
          <p:spPr>
            <a:xfrm>
              <a:off x="6286313" y="1946228"/>
              <a:ext cx="2231136" cy="932688"/>
            </a:xfrm>
            <a:prstGeom prst="rect">
              <a:avLst/>
            </a:prstGeom>
            <a:noFill/>
            <a:ln>
              <a:noFill/>
            </a:ln>
          </p:spPr>
          <p:txBody>
            <a:bodyPr spcFirstLastPara="1" wrap="square" lIns="250" tIns="250" rIns="250" bIns="250" anchor="t" anchorCtr="0">
              <a:no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Repetitive image review can consume capacity when physical inspection volumes are high.</a:t>
              </a:r>
              <a:endParaRPr sz="1500" b="0" i="0" u="none" strike="noStrike" cap="none">
                <a:solidFill>
                  <a:srgbClr val="F3F6F8"/>
                </a:solidFill>
                <a:latin typeface="Arial"/>
                <a:ea typeface="Arial"/>
                <a:cs typeface="Arial"/>
                <a:sym typeface="Arial"/>
              </a:endParaRPr>
            </a:p>
          </p:txBody>
        </p:sp>
        <p:pic>
          <p:nvPicPr>
            <p:cNvPr id="75" name="Google Shape;75;p2"/>
            <p:cNvPicPr preferRelativeResize="0"/>
            <p:nvPr/>
          </p:nvPicPr>
          <p:blipFill rotWithShape="1">
            <a:blip r:embed="rId5">
              <a:alphaModFix/>
            </a:blip>
            <a:srcRect/>
            <a:stretch/>
          </p:blipFill>
          <p:spPr>
            <a:xfrm>
              <a:off x="8419326" y="1325880"/>
              <a:ext cx="2958592" cy="1664208"/>
            </a:xfrm>
            <a:prstGeom prst="rect">
              <a:avLst/>
            </a:prstGeom>
            <a:noFill/>
            <a:ln>
              <a:noFill/>
            </a:ln>
          </p:spPr>
        </p:pic>
      </p:grpSp>
      <p:grpSp>
        <p:nvGrpSpPr>
          <p:cNvPr id="76" name="Google Shape;76;p2"/>
          <p:cNvGrpSpPr/>
          <p:nvPr/>
        </p:nvGrpSpPr>
        <p:grpSpPr>
          <a:xfrm>
            <a:off x="594360" y="3682998"/>
            <a:ext cx="5208017" cy="1669288"/>
            <a:chOff x="594360" y="3378200"/>
            <a:chExt cx="5208017" cy="1669288"/>
          </a:xfrm>
        </p:grpSpPr>
        <p:sp>
          <p:nvSpPr>
            <p:cNvPr id="77" name="Google Shape;77;p2"/>
            <p:cNvSpPr/>
            <p:nvPr/>
          </p:nvSpPr>
          <p:spPr>
            <a:xfrm>
              <a:off x="594360" y="3383280"/>
              <a:ext cx="73152" cy="1664208"/>
            </a:xfrm>
            <a:prstGeom prst="rect">
              <a:avLst/>
            </a:prstGeom>
            <a:solidFill>
              <a:srgbClr val="4FD1C0"/>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78" name="Google Shape;78;p2"/>
            <p:cNvSpPr/>
            <p:nvPr/>
          </p:nvSpPr>
          <p:spPr>
            <a:xfrm>
              <a:off x="813816" y="3415284"/>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Lost data value</a:t>
              </a:r>
              <a:endParaRPr sz="1800" b="0" i="0" u="none" strike="noStrike" cap="none">
                <a:solidFill>
                  <a:srgbClr val="F3F6F8"/>
                </a:solidFill>
                <a:latin typeface="Arial"/>
                <a:ea typeface="Arial"/>
                <a:cs typeface="Arial"/>
                <a:sym typeface="Arial"/>
              </a:endParaRPr>
            </a:p>
          </p:txBody>
        </p:sp>
        <p:sp>
          <p:nvSpPr>
            <p:cNvPr id="79" name="Google Shape;79;p2"/>
            <p:cNvSpPr/>
            <p:nvPr/>
          </p:nvSpPr>
          <p:spPr>
            <a:xfrm>
              <a:off x="743086" y="3808032"/>
              <a:ext cx="2039441" cy="932688"/>
            </a:xfrm>
            <a:prstGeom prst="rect">
              <a:avLst/>
            </a:prstGeom>
            <a:noFill/>
            <a:ln>
              <a:noFill/>
            </a:ln>
          </p:spPr>
          <p:txBody>
            <a:bodyPr spcFirstLastPara="1" wrap="square" lIns="250" tIns="250" rIns="250" bIns="250" anchor="t" anchorCtr="0">
              <a:no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Photos, estimates and reports are often retained as documents rather than reusable structured records.</a:t>
              </a:r>
              <a:endParaRPr sz="1500" b="0" i="0" u="none" strike="noStrike" cap="none">
                <a:solidFill>
                  <a:srgbClr val="F3F6F8"/>
                </a:solidFill>
                <a:latin typeface="Arial"/>
                <a:ea typeface="Arial"/>
                <a:cs typeface="Arial"/>
                <a:sym typeface="Arial"/>
              </a:endParaRPr>
            </a:p>
          </p:txBody>
        </p:sp>
        <p:pic>
          <p:nvPicPr>
            <p:cNvPr id="80" name="Google Shape;80;p2"/>
            <p:cNvPicPr preferRelativeResize="0"/>
            <p:nvPr/>
          </p:nvPicPr>
          <p:blipFill rotWithShape="1">
            <a:blip r:embed="rId6">
              <a:alphaModFix/>
            </a:blip>
            <a:srcRect/>
            <a:stretch/>
          </p:blipFill>
          <p:spPr>
            <a:xfrm>
              <a:off x="2662508" y="3378200"/>
              <a:ext cx="3139869" cy="1664208"/>
            </a:xfrm>
            <a:prstGeom prst="rect">
              <a:avLst/>
            </a:prstGeom>
            <a:noFill/>
            <a:ln>
              <a:noFill/>
            </a:ln>
          </p:spPr>
        </p:pic>
      </p:grpSp>
      <p:grpSp>
        <p:nvGrpSpPr>
          <p:cNvPr id="81" name="Google Shape;81;p2"/>
          <p:cNvGrpSpPr/>
          <p:nvPr/>
        </p:nvGrpSpPr>
        <p:grpSpPr>
          <a:xfrm>
            <a:off x="6126480" y="3697173"/>
            <a:ext cx="5212080" cy="1664945"/>
            <a:chOff x="6126480" y="3392375"/>
            <a:chExt cx="5212080" cy="1664945"/>
          </a:xfrm>
        </p:grpSpPr>
        <p:sp>
          <p:nvSpPr>
            <p:cNvPr id="82" name="Google Shape;82;p2"/>
            <p:cNvSpPr/>
            <p:nvPr/>
          </p:nvSpPr>
          <p:spPr>
            <a:xfrm>
              <a:off x="6126480" y="3393112"/>
              <a:ext cx="73152" cy="1664208"/>
            </a:xfrm>
            <a:prstGeom prst="rect">
              <a:avLst/>
            </a:prstGeom>
            <a:solidFill>
              <a:srgbClr val="A99BF0"/>
            </a:solidFill>
            <a:ln w="12700" cap="flat" cmpd="sng">
              <a:solidFill>
                <a:srgbClr val="A99B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83" name="Google Shape;83;p2"/>
            <p:cNvSpPr/>
            <p:nvPr/>
          </p:nvSpPr>
          <p:spPr>
            <a:xfrm>
              <a:off x="6345936" y="3459321"/>
              <a:ext cx="2359152" cy="374904"/>
            </a:xfrm>
            <a:prstGeom prst="rect">
              <a:avLst/>
            </a:prstGeom>
            <a:noFill/>
            <a:ln>
              <a:noFill/>
            </a:ln>
          </p:spPr>
          <p:txBody>
            <a:bodyPr spcFirstLastPara="1" wrap="square" lIns="0" tIns="0" rIns="0" bIns="0" anchor="ctr" anchorCtr="0">
              <a:noAutofit/>
            </a:bodyPr>
            <a:lstStyle/>
            <a:p>
              <a:pPr marL="0" marR="0" lvl="0" indent="0" algn="l" rtl="0">
                <a:lnSpc>
                  <a:spcPct val="105555"/>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Weak empirical baseline</a:t>
              </a:r>
              <a:endParaRPr sz="1800" b="0" i="0" u="none" strike="noStrike" cap="none">
                <a:solidFill>
                  <a:srgbClr val="F3F6F8"/>
                </a:solidFill>
                <a:latin typeface="Arial"/>
                <a:ea typeface="Arial"/>
                <a:cs typeface="Arial"/>
                <a:sym typeface="Arial"/>
              </a:endParaRPr>
            </a:p>
          </p:txBody>
        </p:sp>
        <p:sp>
          <p:nvSpPr>
            <p:cNvPr id="84" name="Google Shape;84;p2"/>
            <p:cNvSpPr/>
            <p:nvPr/>
          </p:nvSpPr>
          <p:spPr>
            <a:xfrm>
              <a:off x="6296145" y="3921266"/>
              <a:ext cx="2160613" cy="932688"/>
            </a:xfrm>
            <a:prstGeom prst="rect">
              <a:avLst/>
            </a:prstGeom>
            <a:noFill/>
            <a:ln>
              <a:noFill/>
            </a:ln>
          </p:spPr>
          <p:txBody>
            <a:bodyPr spcFirstLastPara="1" wrap="square" lIns="250" tIns="250" rIns="250" bIns="250" anchor="t" anchorCtr="0">
              <a:noAutofit/>
            </a:bodyPr>
            <a:lstStyle/>
            <a:p>
              <a:pPr marL="0" marR="0" lvl="0" indent="0" algn="l" rtl="0">
                <a:lnSpc>
                  <a:spcPct val="100000"/>
                </a:lnSpc>
                <a:spcBef>
                  <a:spcPts val="0"/>
                </a:spcBef>
                <a:spcAft>
                  <a:spcPts val="0"/>
                </a:spcAft>
                <a:buClr>
                  <a:srgbClr val="D3DCE3"/>
                </a:buClr>
                <a:buSzPts val="1150"/>
                <a:buFont typeface="Arial"/>
                <a:buNone/>
              </a:pPr>
              <a:r>
                <a:rPr lang="en-US" sz="1500" b="0" i="0" u="none" strike="noStrike" cap="none">
                  <a:solidFill>
                    <a:srgbClr val="D3DCE3"/>
                  </a:solidFill>
                  <a:latin typeface="Arial"/>
                  <a:ea typeface="Arial"/>
                  <a:cs typeface="Arial"/>
                  <a:sym typeface="Arial"/>
                </a:rPr>
                <a:t>Limited structured history makes consistent cost benchmarking and unusual-line-item detection harder.</a:t>
              </a:r>
              <a:endParaRPr sz="1500" b="0" i="0" u="none" strike="noStrike" cap="none">
                <a:solidFill>
                  <a:srgbClr val="F3F6F8"/>
                </a:solidFill>
                <a:latin typeface="Arial"/>
                <a:ea typeface="Arial"/>
                <a:cs typeface="Arial"/>
                <a:sym typeface="Arial"/>
              </a:endParaRPr>
            </a:p>
          </p:txBody>
        </p:sp>
        <p:pic>
          <p:nvPicPr>
            <p:cNvPr id="85" name="Google Shape;85;p2"/>
            <p:cNvPicPr preferRelativeResize="0"/>
            <p:nvPr/>
          </p:nvPicPr>
          <p:blipFill rotWithShape="1">
            <a:blip r:embed="rId7">
              <a:alphaModFix/>
            </a:blip>
            <a:srcRect/>
            <a:stretch/>
          </p:blipFill>
          <p:spPr>
            <a:xfrm>
              <a:off x="8446926" y="3392375"/>
              <a:ext cx="2891634" cy="1650033"/>
            </a:xfrm>
            <a:prstGeom prst="rect">
              <a:avLst/>
            </a:prstGeom>
            <a:noFill/>
            <a:ln>
              <a:noFill/>
            </a:ln>
          </p:spPr>
        </p:pic>
      </p:grpSp>
      <p:sp>
        <p:nvSpPr>
          <p:cNvPr id="86" name="Google Shape;86;p2"/>
          <p:cNvSpPr/>
          <p:nvPr/>
        </p:nvSpPr>
        <p:spPr>
          <a:xfrm>
            <a:off x="594360" y="1640510"/>
            <a:ext cx="73152" cy="1664208"/>
          </a:xfrm>
          <a:prstGeom prst="rect">
            <a:avLst/>
          </a:prstGeom>
          <a:solidFill>
            <a:srgbClr val="7AB6EA"/>
          </a:solidFill>
          <a:ln w="12700" cap="flat" cmpd="sng">
            <a:solidFill>
              <a:srgbClr val="7AB6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87" name="Google Shape;87;p2"/>
          <p:cNvSpPr/>
          <p:nvPr/>
        </p:nvSpPr>
        <p:spPr>
          <a:xfrm>
            <a:off x="6126480" y="1630679"/>
            <a:ext cx="73152" cy="1664208"/>
          </a:xfrm>
          <a:prstGeom prst="rect">
            <a:avLst/>
          </a:prstGeom>
          <a:solidFill>
            <a:srgbClr val="F0C46E"/>
          </a:solidFill>
          <a:ln w="12700" cap="flat" cmpd="sng">
            <a:solidFill>
              <a:srgbClr val="F0C4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88" name="Google Shape;88;p2"/>
          <p:cNvSpPr/>
          <p:nvPr/>
        </p:nvSpPr>
        <p:spPr>
          <a:xfrm>
            <a:off x="1190932" y="5806440"/>
            <a:ext cx="9810135" cy="420624"/>
          </a:xfrm>
          <a:prstGeom prst="roundRect">
            <a:avLst>
              <a:gd name="adj" fmla="val 16667"/>
            </a:avLst>
          </a:prstGeom>
          <a:solidFill>
            <a:srgbClr val="0F2231">
              <a:alpha val="92000"/>
            </a:srgbClr>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Opportunity: convert visual evidence into a reusable operational and pricing intelligence layer.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001" name="Background photo"/>
          <p:cNvPicPr>
            <a:picLocks/>
          </p:cNvPicPr>
          <p:nvPr/>
        </p:nvPicPr>
        <p:blipFill>
          <a:blip r:embed="rId3">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pic>
        <p:nvPicPr>
          <p:cNvPr id="94" name="Google Shape;94;g3faaf15eecf_0_0" descr="Remove the &quot;Traditional vs.&quot; on the 1st line of title"/>
          <p:cNvPicPr preferRelativeResize="0"/>
          <p:nvPr/>
        </p:nvPicPr>
        <p:blipFill rotWithShape="1">
          <a:blip r:embed="rId4">
            <a:alphaModFix/>
          </a:blip>
          <a:srcRect/>
          <a:stretch/>
        </p:blipFill>
        <p:spPr>
          <a:xfrm>
            <a:off x="1373850" y="230000"/>
            <a:ext cx="9444300" cy="6050000"/>
          </a:xfrm>
          <a:prstGeom prst="roundRect">
            <a:avLst>
              <a:gd name="adj" fmla="val 2200"/>
            </a:avLst>
          </a:prstGeom>
          <a:noFill/>
          <a:ln w="15875">
            <a:solidFill>
              <a:srgbClr val="3E5566"/>
            </a:solidFill>
          </a:ln>
          <a:effectLst>
            <a:outerShdw blurRad="228600" dist="38100" dir="5400000" algn="t" rotWithShape="0">
              <a:srgbClr val="000000">
                <a:alpha val="4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100" name="Google Shape;100;p3"/>
          <p:cNvSpPr/>
          <p:nvPr/>
        </p:nvSpPr>
        <p:spPr>
          <a:xfrm>
            <a:off x="530352" y="384048"/>
            <a:ext cx="8046720" cy="42062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2600"/>
              <a:buFont typeface="Arial"/>
              <a:buNone/>
            </a:pPr>
            <a:r>
              <a:rPr lang="en-US" sz="2600" b="1" i="0" u="none" strike="noStrike" cap="none">
                <a:solidFill>
                  <a:srgbClr val="F3F6F8"/>
                </a:solidFill>
                <a:latin typeface="Arial"/>
                <a:ea typeface="Arial"/>
                <a:cs typeface="Arial"/>
                <a:sym typeface="Arial"/>
              </a:rPr>
              <a:t>Project goals and intended outcomes</a:t>
            </a:r>
            <a:endParaRPr sz="2600" b="0" i="0" u="none" strike="noStrike" cap="none">
              <a:solidFill>
                <a:srgbClr val="F3F6F8"/>
              </a:solidFill>
              <a:latin typeface="Arial"/>
              <a:ea typeface="Arial"/>
              <a:cs typeface="Arial"/>
              <a:sym typeface="Arial"/>
            </a:endParaRPr>
          </a:p>
        </p:txBody>
      </p:sp>
      <p:sp>
        <p:nvSpPr>
          <p:cNvPr id="101" name="Google Shape;101;p3"/>
          <p:cNvSpPr/>
          <p:nvPr/>
        </p:nvSpPr>
        <p:spPr>
          <a:xfrm>
            <a:off x="548640" y="841248"/>
            <a:ext cx="10881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3C3CE"/>
              </a:buClr>
              <a:buSzPts val="1150"/>
              <a:buFont typeface="Arial"/>
              <a:buNone/>
            </a:pPr>
            <a:r>
              <a:rPr lang="en-US" sz="1800" b="0" i="0" u="none" strike="noStrike" cap="none">
                <a:solidFill>
                  <a:srgbClr val="B3C3CE"/>
                </a:solidFill>
                <a:latin typeface="Arial"/>
                <a:ea typeface="Arial"/>
                <a:cs typeface="Arial"/>
                <a:sym typeface="Arial"/>
              </a:rPr>
              <a:t>A decision-support prototype, not an automated claims settlement engine.</a:t>
            </a:r>
            <a:endParaRPr sz="1800" b="0" i="0" u="none" strike="noStrike" cap="none">
              <a:solidFill>
                <a:srgbClr val="F3F6F8"/>
              </a:solidFill>
              <a:latin typeface="Arial"/>
              <a:ea typeface="Arial"/>
              <a:cs typeface="Arial"/>
              <a:sym typeface="Arial"/>
            </a:endParaRPr>
          </a:p>
        </p:txBody>
      </p:sp>
      <p:sp>
        <p:nvSpPr>
          <p:cNvPr id="102" name="Google Shape;102;p3"/>
          <p:cNvSpPr/>
          <p:nvPr/>
        </p:nvSpPr>
        <p:spPr>
          <a:xfrm>
            <a:off x="594360" y="1325880"/>
            <a:ext cx="73152" cy="4251960"/>
          </a:xfrm>
          <a:prstGeom prst="rect">
            <a:avLst/>
          </a:prstGeom>
          <a:solidFill>
            <a:srgbClr val="7AB6EA"/>
          </a:solidFill>
          <a:ln w="12700" cap="flat" cmpd="sng">
            <a:solidFill>
              <a:srgbClr val="7AB6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103" name="Google Shape;103;p3"/>
          <p:cNvSpPr/>
          <p:nvPr/>
        </p:nvSpPr>
        <p:spPr>
          <a:xfrm>
            <a:off x="4370832" y="1325880"/>
            <a:ext cx="73152" cy="4251960"/>
          </a:xfrm>
          <a:prstGeom prst="rect">
            <a:avLst/>
          </a:prstGeom>
          <a:solidFill>
            <a:srgbClr val="4FD1C0"/>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104" name="Google Shape;104;p3"/>
          <p:cNvSpPr/>
          <p:nvPr/>
        </p:nvSpPr>
        <p:spPr>
          <a:xfrm>
            <a:off x="8147304" y="1325880"/>
            <a:ext cx="73152" cy="4251960"/>
          </a:xfrm>
          <a:prstGeom prst="rect">
            <a:avLst/>
          </a:prstGeom>
          <a:solidFill>
            <a:srgbClr val="F0C46E"/>
          </a:solidFill>
          <a:ln w="12700" cap="flat" cmpd="sng">
            <a:solidFill>
              <a:srgbClr val="F0C4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105" name="Google Shape;105;p3"/>
          <p:cNvSpPr/>
          <p:nvPr/>
        </p:nvSpPr>
        <p:spPr>
          <a:xfrm>
            <a:off x="530350" y="5806450"/>
            <a:ext cx="11219700" cy="420600"/>
          </a:xfrm>
          <a:prstGeom prst="roundRect">
            <a:avLst>
              <a:gd name="adj" fmla="val 16667"/>
            </a:avLst>
          </a:prstGeom>
          <a:solidFill>
            <a:srgbClr val="0F2231">
              <a:alpha val="92000"/>
            </a:srgbClr>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6" name="Google Shape;106;p3"/>
          <p:cNvSpPr/>
          <p:nvPr/>
        </p:nvSpPr>
        <p:spPr>
          <a:xfrm>
            <a:off x="598900" y="5879650"/>
            <a:ext cx="110826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AB6EA"/>
              </a:buClr>
              <a:buSzPts val="1200"/>
              <a:buFont typeface="Arial"/>
              <a:buNone/>
            </a:pPr>
            <a:r>
              <a:rPr lang="en-US" sz="1800" b="1" i="0" u="none" strike="noStrike" cap="none">
                <a:solidFill>
                  <a:schemeClr val="lt1"/>
                </a:solidFill>
                <a:latin typeface="Arial"/>
                <a:ea typeface="Arial"/>
                <a:cs typeface="Arial"/>
                <a:sym typeface="Arial"/>
              </a:rPr>
              <a:t>Human-in-the-loop principle: low-confidence or irregular cases are routed for professional judgment.</a:t>
            </a:r>
            <a:endParaRPr sz="1800" b="0" i="0" u="none" strike="noStrike" cap="none">
              <a:solidFill>
                <a:schemeClr val="lt1"/>
              </a:solidFill>
              <a:latin typeface="Arial"/>
              <a:ea typeface="Arial"/>
              <a:cs typeface="Arial"/>
              <a:sym typeface="Arial"/>
            </a:endParaRPr>
          </a:p>
        </p:txBody>
      </p:sp>
      <p:sp>
        <p:nvSpPr>
          <p:cNvPr id="107" name="Google Shape;107;p3"/>
          <p:cNvSpPr txBox="1">
            <a:spLocks noGrp="1"/>
          </p:cNvSpPr>
          <p:nvPr>
            <p:ph type="sldNum" idx="4294967295"/>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800"/>
              <a:buNone/>
            </a:pPr>
            <a:fld id="{00000000-1234-1234-1234-123412341234}" type="slidenum">
              <a:rPr lang="en-US" sz="800" b="0">
                <a:solidFill>
                  <a:srgbClr val="8397A5"/>
                </a:solidFill>
                <a:latin typeface="Arial"/>
                <a:ea typeface="Arial"/>
                <a:cs typeface="Arial"/>
                <a:sym typeface="Arial"/>
              </a:rPr>
              <a:t>5</a:t>
            </a:fld>
            <a:endParaRPr sz="800">
              <a:solidFill>
                <a:srgbClr val="8397A5"/>
              </a:solidFill>
              <a:latin typeface="Arial"/>
              <a:ea typeface="Arial"/>
              <a:cs typeface="Arial"/>
              <a:sym typeface="Arial"/>
            </a:endParaRPr>
          </a:p>
        </p:txBody>
      </p:sp>
      <p:grpSp>
        <p:nvGrpSpPr>
          <p:cNvPr id="108" name="Google Shape;108;p3"/>
          <p:cNvGrpSpPr/>
          <p:nvPr/>
        </p:nvGrpSpPr>
        <p:grpSpPr>
          <a:xfrm>
            <a:off x="594360" y="1325880"/>
            <a:ext cx="10981944" cy="4251960"/>
            <a:chOff x="594360" y="1325880"/>
            <a:chExt cx="10981944" cy="4251960"/>
          </a:xfrm>
        </p:grpSpPr>
        <p:grpSp>
          <p:nvGrpSpPr>
            <p:cNvPr id="109" name="Google Shape;109;p3"/>
            <p:cNvGrpSpPr/>
            <p:nvPr/>
          </p:nvGrpSpPr>
          <p:grpSpPr>
            <a:xfrm>
              <a:off x="594360" y="1325880"/>
              <a:ext cx="3429000" cy="4251960"/>
              <a:chOff x="594360" y="1325880"/>
              <a:chExt cx="3429000" cy="4251960"/>
            </a:xfrm>
          </p:grpSpPr>
          <p:sp>
            <p:nvSpPr>
              <p:cNvPr id="110" name="Google Shape;110;p3"/>
              <p:cNvSpPr/>
              <p:nvPr/>
            </p:nvSpPr>
            <p:spPr>
              <a:xfrm>
                <a:off x="594360" y="1325880"/>
                <a:ext cx="3429000" cy="4251960"/>
              </a:xfrm>
              <a:prstGeom prst="roundRect">
                <a:avLst>
                  <a:gd name="adj" fmla="val 1600"/>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111" name="Google Shape;111;p3"/>
              <p:cNvSpPr/>
              <p:nvPr/>
            </p:nvSpPr>
            <p:spPr>
              <a:xfrm>
                <a:off x="813816" y="1527048"/>
                <a:ext cx="304495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1.  Understand damage</a:t>
                </a:r>
                <a:endParaRPr sz="1800" b="0" i="0" u="none" strike="noStrike" cap="none">
                  <a:solidFill>
                    <a:srgbClr val="F3F6F8"/>
                  </a:solidFill>
                  <a:latin typeface="Arial"/>
                  <a:ea typeface="Arial"/>
                  <a:cs typeface="Arial"/>
                  <a:sym typeface="Arial"/>
                </a:endParaRPr>
              </a:p>
            </p:txBody>
          </p:sp>
          <p:sp>
            <p:nvSpPr>
              <p:cNvPr id="112" name="Google Shape;112;p3"/>
              <p:cNvSpPr/>
              <p:nvPr/>
            </p:nvSpPr>
            <p:spPr>
              <a:xfrm>
                <a:off x="813816" y="1911096"/>
                <a:ext cx="3044952" cy="3520440"/>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D3DCE3"/>
                  </a:buClr>
                  <a:buSzPts val="1150"/>
                  <a:buFont typeface="Arial"/>
                  <a:buNone/>
                </a:pPr>
                <a:r>
                  <a:rPr lang="en-US" sz="1600" b="0" i="0" u="none" strike="noStrike" cap="none">
                    <a:solidFill>
                      <a:srgbClr val="D3DCE3"/>
                    </a:solidFill>
                    <a:latin typeface="Arial"/>
                    <a:ea typeface="Arial"/>
                    <a:cs typeface="Arial"/>
                    <a:sym typeface="Arial"/>
                  </a:rPr>
                  <a:t>Detect and localize visible damage, identify the affected vehicle part, classify damage type and estimate severity with confidence scores.</a:t>
                </a:r>
                <a:endParaRPr sz="1600" b="0" i="0" u="none" strike="noStrike" cap="none">
                  <a:solidFill>
                    <a:srgbClr val="F3F6F8"/>
                  </a:solidFill>
                  <a:latin typeface="Arial"/>
                  <a:ea typeface="Arial"/>
                  <a:cs typeface="Arial"/>
                  <a:sym typeface="Arial"/>
                </a:endParaRPr>
              </a:p>
            </p:txBody>
          </p:sp>
          <p:pic>
            <p:nvPicPr>
              <p:cNvPr id="113" name="Google Shape;113;p3"/>
              <p:cNvPicPr preferRelativeResize="0"/>
              <p:nvPr/>
            </p:nvPicPr>
            <p:blipFill rotWithShape="1">
              <a:blip r:embed="rId4">
                <a:alphaModFix/>
              </a:blip>
              <a:srcRect/>
              <a:stretch/>
            </p:blipFill>
            <p:spPr>
              <a:xfrm>
                <a:off x="697528" y="3451860"/>
                <a:ext cx="3299791" cy="1856132"/>
              </a:xfrm>
              <a:prstGeom prst="rect">
                <a:avLst/>
              </a:prstGeom>
              <a:noFill/>
              <a:ln>
                <a:noFill/>
              </a:ln>
            </p:spPr>
          </p:pic>
        </p:grpSp>
        <p:grpSp>
          <p:nvGrpSpPr>
            <p:cNvPr id="114" name="Google Shape;114;p3"/>
            <p:cNvGrpSpPr/>
            <p:nvPr/>
          </p:nvGrpSpPr>
          <p:grpSpPr>
            <a:xfrm>
              <a:off x="8147304" y="1325880"/>
              <a:ext cx="3429000" cy="4251960"/>
              <a:chOff x="8147304" y="1325880"/>
              <a:chExt cx="3429000" cy="4251960"/>
            </a:xfrm>
          </p:grpSpPr>
          <p:sp>
            <p:nvSpPr>
              <p:cNvPr id="115" name="Google Shape;115;p3"/>
              <p:cNvSpPr/>
              <p:nvPr/>
            </p:nvSpPr>
            <p:spPr>
              <a:xfrm>
                <a:off x="8147304" y="1325880"/>
                <a:ext cx="3429000" cy="4251960"/>
              </a:xfrm>
              <a:prstGeom prst="roundRect">
                <a:avLst>
                  <a:gd name="adj" fmla="val 1600"/>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116" name="Google Shape;116;p3"/>
              <p:cNvSpPr/>
              <p:nvPr/>
            </p:nvSpPr>
            <p:spPr>
              <a:xfrm>
                <a:off x="8366760" y="1527048"/>
                <a:ext cx="304495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3.  Support review</a:t>
                </a:r>
                <a:endParaRPr sz="1800" b="0" i="0" u="none" strike="noStrike" cap="none">
                  <a:solidFill>
                    <a:srgbClr val="F3F6F8"/>
                  </a:solidFill>
                  <a:latin typeface="Arial"/>
                  <a:ea typeface="Arial"/>
                  <a:cs typeface="Arial"/>
                  <a:sym typeface="Arial"/>
                </a:endParaRPr>
              </a:p>
            </p:txBody>
          </p:sp>
          <p:sp>
            <p:nvSpPr>
              <p:cNvPr id="117" name="Google Shape;117;p3"/>
              <p:cNvSpPr/>
              <p:nvPr/>
            </p:nvSpPr>
            <p:spPr>
              <a:xfrm>
                <a:off x="8366760" y="1897381"/>
                <a:ext cx="1371600" cy="3520440"/>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D3DCE3"/>
                  </a:buClr>
                  <a:buSzPts val="1150"/>
                  <a:buFont typeface="Arial"/>
                  <a:buNone/>
                </a:pPr>
                <a:r>
                  <a:rPr lang="en-US" sz="1600" b="0" i="0" u="none" strike="noStrike" cap="none">
                    <a:solidFill>
                      <a:srgbClr val="D3DCE3"/>
                    </a:solidFill>
                    <a:latin typeface="Arial"/>
                    <a:ea typeface="Arial"/>
                    <a:cs typeface="Arial"/>
                    <a:sym typeface="Arial"/>
                  </a:rPr>
                  <a:t>Benchmark costs, identify repair-scope discrepancies and flag anomalous estimates for surveyor or claim-handler review.</a:t>
                </a:r>
                <a:endParaRPr sz="1600" b="0" i="0" u="none" strike="noStrike" cap="none">
                  <a:solidFill>
                    <a:srgbClr val="F3F6F8"/>
                  </a:solidFill>
                  <a:latin typeface="Arial"/>
                  <a:ea typeface="Arial"/>
                  <a:cs typeface="Arial"/>
                  <a:sym typeface="Arial"/>
                </a:endParaRPr>
              </a:p>
            </p:txBody>
          </p:sp>
          <p:pic>
            <p:nvPicPr>
              <p:cNvPr id="118" name="Google Shape;118;p3"/>
              <p:cNvPicPr preferRelativeResize="0"/>
              <p:nvPr/>
            </p:nvPicPr>
            <p:blipFill rotWithShape="1">
              <a:blip r:embed="rId5">
                <a:alphaModFix/>
              </a:blip>
              <a:srcRect/>
              <a:stretch/>
            </p:blipFill>
            <p:spPr>
              <a:xfrm>
                <a:off x="9654610" y="1901952"/>
                <a:ext cx="1902086" cy="3291840"/>
              </a:xfrm>
              <a:prstGeom prst="rect">
                <a:avLst/>
              </a:prstGeom>
              <a:noFill/>
              <a:ln w="9525" cap="flat" cmpd="sng">
                <a:solidFill>
                  <a:schemeClr val="accent1"/>
                </a:solidFill>
                <a:prstDash val="solid"/>
                <a:round/>
                <a:headEnd type="none" w="sm" len="sm"/>
                <a:tailEnd type="none" w="sm" len="sm"/>
              </a:ln>
            </p:spPr>
          </p:pic>
        </p:grpSp>
        <p:grpSp>
          <p:nvGrpSpPr>
            <p:cNvPr id="119" name="Google Shape;119;p3"/>
            <p:cNvGrpSpPr/>
            <p:nvPr/>
          </p:nvGrpSpPr>
          <p:grpSpPr>
            <a:xfrm>
              <a:off x="4370832" y="1325880"/>
              <a:ext cx="3429000" cy="4251960"/>
              <a:chOff x="4370832" y="1325880"/>
              <a:chExt cx="3429000" cy="4251960"/>
            </a:xfrm>
          </p:grpSpPr>
          <p:sp>
            <p:nvSpPr>
              <p:cNvPr id="120" name="Google Shape;120;p3"/>
              <p:cNvSpPr/>
              <p:nvPr/>
            </p:nvSpPr>
            <p:spPr>
              <a:xfrm>
                <a:off x="4370832" y="1325880"/>
                <a:ext cx="3429000" cy="4251960"/>
              </a:xfrm>
              <a:prstGeom prst="roundRect">
                <a:avLst>
                  <a:gd name="adj" fmla="val 1600"/>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121" name="Google Shape;121;p3"/>
              <p:cNvSpPr/>
              <p:nvPr/>
            </p:nvSpPr>
            <p:spPr>
              <a:xfrm>
                <a:off x="4590288" y="1527048"/>
                <a:ext cx="304495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2.  Structure evidence</a:t>
                </a:r>
                <a:endParaRPr sz="1800" b="0" i="0" u="none" strike="noStrike" cap="none">
                  <a:solidFill>
                    <a:srgbClr val="F3F6F8"/>
                  </a:solidFill>
                  <a:latin typeface="Arial"/>
                  <a:ea typeface="Arial"/>
                  <a:cs typeface="Arial"/>
                  <a:sym typeface="Arial"/>
                </a:endParaRPr>
              </a:p>
            </p:txBody>
          </p:sp>
          <p:sp>
            <p:nvSpPr>
              <p:cNvPr id="122" name="Google Shape;122;p3"/>
              <p:cNvSpPr/>
              <p:nvPr/>
            </p:nvSpPr>
            <p:spPr>
              <a:xfrm>
                <a:off x="4590288" y="1901952"/>
                <a:ext cx="1398603" cy="3520440"/>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D3DCE3"/>
                  </a:buClr>
                  <a:buSzPts val="1150"/>
                  <a:buFont typeface="Arial"/>
                  <a:buNone/>
                </a:pPr>
                <a:r>
                  <a:rPr lang="en-US" sz="1600" b="0" i="0" u="none" strike="noStrike" cap="none">
                    <a:solidFill>
                      <a:srgbClr val="D3DCE3"/>
                    </a:solidFill>
                    <a:latin typeface="Arial"/>
                    <a:ea typeface="Arial"/>
                    <a:cs typeface="Arial"/>
                    <a:sym typeface="Arial"/>
                  </a:rPr>
                  <a:t>Transform photographs and linked claim information into a consistent assessment object that can be stored, searched and reused.</a:t>
                </a:r>
                <a:endParaRPr sz="1600" b="0" i="0" u="none" strike="noStrike" cap="none">
                  <a:solidFill>
                    <a:srgbClr val="F3F6F8"/>
                  </a:solidFill>
                  <a:latin typeface="Arial"/>
                  <a:ea typeface="Arial"/>
                  <a:cs typeface="Arial"/>
                  <a:sym typeface="Arial"/>
                </a:endParaRPr>
              </a:p>
            </p:txBody>
          </p:sp>
          <p:pic>
            <p:nvPicPr>
              <p:cNvPr id="123" name="Google Shape;123;p3"/>
              <p:cNvPicPr preferRelativeResize="0"/>
              <p:nvPr/>
            </p:nvPicPr>
            <p:blipFill rotWithShape="1">
              <a:blip r:embed="rId6">
                <a:alphaModFix/>
              </a:blip>
              <a:srcRect/>
              <a:stretch/>
            </p:blipFill>
            <p:spPr>
              <a:xfrm>
                <a:off x="6002388" y="1876959"/>
                <a:ext cx="1783946" cy="3314394"/>
              </a:xfrm>
              <a:prstGeom prst="rect">
                <a:avLst/>
              </a:prstGeom>
              <a:noFill/>
              <a:ln w="9525" cap="flat" cmpd="sng">
                <a:solidFill>
                  <a:srgbClr val="7AB6EA"/>
                </a:solidFill>
                <a:prstDash val="solid"/>
                <a:round/>
                <a:headEnd type="none" w="sm" len="sm"/>
                <a:tailEnd type="none" w="sm" len="sm"/>
              </a:ln>
            </p:spPr>
          </p:pic>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9001" name="Background photo"/>
          <p:cNvPicPr>
            <a:picLocks/>
          </p:cNvPicPr>
          <p:nvPr/>
        </p:nvPicPr>
        <p:blipFill>
          <a:blip r:embed="rId3">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pic>
        <p:nvPicPr>
          <p:cNvPr id="140" name="Google Shape;140;g3fb36684ed9_3_0"/>
          <p:cNvPicPr preferRelativeResize="0"/>
          <p:nvPr/>
        </p:nvPicPr>
        <p:blipFill rotWithShape="1">
          <a:blip r:embed="rId4">
            <a:alphaModFix/>
          </a:blip>
          <a:srcRect/>
          <a:stretch/>
        </p:blipFill>
        <p:spPr>
          <a:xfrm>
            <a:off x="866492" y="379139"/>
            <a:ext cx="10459016" cy="5867405"/>
          </a:xfrm>
          <a:prstGeom prst="roundRect">
            <a:avLst>
              <a:gd name="adj" fmla="val 2200"/>
            </a:avLst>
          </a:prstGeom>
          <a:noFill/>
          <a:ln w="15875">
            <a:solidFill>
              <a:srgbClr val="3E5566"/>
            </a:solidFill>
          </a:ln>
          <a:effectLst>
            <a:outerShdw blurRad="228600" dist="38100" dir="5400000" algn="t" rotWithShape="0">
              <a:srgbClr val="000000">
                <a:alpha val="4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9001" name="Background photo"/>
          <p:cNvPicPr>
            <a:picLocks/>
          </p:cNvPicPr>
          <p:nvPr/>
        </p:nvPicPr>
        <p:blipFill>
          <a:blip r:embed="rId3">
            <a:grayscl/>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146" name="Google Shape;146;p5"/>
          <p:cNvSpPr/>
          <p:nvPr/>
        </p:nvSpPr>
        <p:spPr>
          <a:xfrm>
            <a:off x="530352" y="384048"/>
            <a:ext cx="8046720" cy="42062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2600"/>
              <a:buFont typeface="Arial"/>
              <a:buNone/>
            </a:pPr>
            <a:r>
              <a:rPr lang="en-US" sz="2600" b="1" i="0" u="none" strike="noStrike" cap="none">
                <a:solidFill>
                  <a:srgbClr val="F3F6F8"/>
                </a:solidFill>
                <a:latin typeface="Arial"/>
                <a:ea typeface="Arial"/>
                <a:cs typeface="Arial"/>
                <a:sym typeface="Arial"/>
              </a:rPr>
              <a:t>High-level system architecture</a:t>
            </a:r>
            <a:endParaRPr sz="2600" b="0" i="0" u="none" strike="noStrike" cap="none">
              <a:solidFill>
                <a:srgbClr val="F3F6F8"/>
              </a:solidFill>
              <a:latin typeface="Arial"/>
              <a:ea typeface="Arial"/>
              <a:cs typeface="Arial"/>
              <a:sym typeface="Arial"/>
            </a:endParaRPr>
          </a:p>
        </p:txBody>
      </p:sp>
      <p:sp>
        <p:nvSpPr>
          <p:cNvPr id="147" name="Google Shape;147;p5"/>
          <p:cNvSpPr/>
          <p:nvPr/>
        </p:nvSpPr>
        <p:spPr>
          <a:xfrm>
            <a:off x="548640" y="841248"/>
            <a:ext cx="10881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3C3CE"/>
              </a:buClr>
              <a:buSzPts val="1150"/>
              <a:buFont typeface="Arial"/>
              <a:buNone/>
            </a:pPr>
            <a:r>
              <a:rPr lang="en-US" sz="1800" b="0" i="0" u="none" strike="noStrike" cap="none">
                <a:solidFill>
                  <a:srgbClr val="B3C3CE"/>
                </a:solidFill>
                <a:latin typeface="Arial"/>
                <a:ea typeface="Arial"/>
                <a:cs typeface="Arial"/>
                <a:sym typeface="Arial"/>
              </a:rPr>
              <a:t>A modular flow from claim intake to explainable review support.</a:t>
            </a:r>
            <a:endParaRPr sz="1800" b="0" i="0" u="none" strike="noStrike" cap="none">
              <a:solidFill>
                <a:srgbClr val="F3F6F8"/>
              </a:solidFill>
              <a:latin typeface="Arial"/>
              <a:ea typeface="Arial"/>
              <a:cs typeface="Arial"/>
              <a:sym typeface="Arial"/>
            </a:endParaRPr>
          </a:p>
        </p:txBody>
      </p:sp>
      <p:sp>
        <p:nvSpPr>
          <p:cNvPr id="148" name="Google Shape;148;p5"/>
          <p:cNvSpPr txBox="1">
            <a:spLocks noGrp="1"/>
          </p:cNvSpPr>
          <p:nvPr>
            <p:ph type="sldNum" idx="4294967295"/>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800"/>
              <a:buNone/>
            </a:pPr>
            <a:fld id="{00000000-1234-1234-1234-123412341234}" type="slidenum">
              <a:rPr lang="en-US" sz="800" b="0">
                <a:solidFill>
                  <a:srgbClr val="8397A5"/>
                </a:solidFill>
                <a:latin typeface="Arial"/>
                <a:ea typeface="Arial"/>
                <a:cs typeface="Arial"/>
                <a:sym typeface="Arial"/>
              </a:rPr>
              <a:t>7</a:t>
            </a:fld>
            <a:endParaRPr sz="800">
              <a:solidFill>
                <a:srgbClr val="8397A5"/>
              </a:solidFill>
              <a:latin typeface="Arial"/>
              <a:ea typeface="Arial"/>
              <a:cs typeface="Arial"/>
              <a:sym typeface="Arial"/>
            </a:endParaRPr>
          </a:p>
        </p:txBody>
      </p:sp>
      <p:sp>
        <p:nvSpPr>
          <p:cNvPr id="9101" name="Connector"/>
          <p:cNvSpPr/>
          <p:nvPr/>
        </p:nvSpPr>
        <p:spPr>
          <a:xfrm>
            <a:off x="3749040" y="2194560"/>
            <a:ext cx="745236" cy="914"/>
          </a:xfrm>
          <a:custGeom>
            <a:avLst/>
            <a:gdLst/>
            <a:ahLst/>
            <a:cxnLst/>
            <a:rect l="0" t="0" r="r" b="b"/>
            <a:pathLst>
              <a:path w="745236" h="914" fill="none">
                <a:moveTo>
                  <a:pt x="0" y="0"/>
                </a:moveTo>
                <a:lnTo>
                  <a:pt x="745236" y="0"/>
                </a:lnTo>
              </a:path>
            </a:pathLst>
          </a:custGeom>
          <a:noFill/>
          <a:ln w="15875">
            <a:solidFill>
              <a:srgbClr val="4FD1C0"/>
            </a:solidFill>
            <a:round/>
            <a:headEnd type="triangle" w="med" len="med"/>
            <a:tailEnd type="triangle" w="med" len="med"/>
          </a:ln>
        </p:spPr>
        <p:txBody>
          <a:bodyPr/>
          <a:lstStyle/>
          <a:p>
            <a:endParaRPr lang="en-US"/>
          </a:p>
        </p:txBody>
      </p:sp>
      <p:sp>
        <p:nvSpPr>
          <p:cNvPr id="9102" name="Connector"/>
          <p:cNvSpPr/>
          <p:nvPr/>
        </p:nvSpPr>
        <p:spPr>
          <a:xfrm>
            <a:off x="7694676" y="2194560"/>
            <a:ext cx="745236" cy="914"/>
          </a:xfrm>
          <a:custGeom>
            <a:avLst/>
            <a:gdLst/>
            <a:ahLst/>
            <a:cxnLst/>
            <a:rect l="0" t="0" r="r" b="b"/>
            <a:pathLst>
              <a:path w="745236" h="914" fill="none">
                <a:moveTo>
                  <a:pt x="0" y="0"/>
                </a:moveTo>
                <a:lnTo>
                  <a:pt x="745236" y="0"/>
                </a:lnTo>
              </a:path>
            </a:pathLst>
          </a:custGeom>
          <a:noFill/>
          <a:ln w="15875">
            <a:solidFill>
              <a:srgbClr val="4FD1C0"/>
            </a:solidFill>
            <a:round/>
            <a:tailEnd type="triangle" w="med" len="med"/>
          </a:ln>
        </p:spPr>
        <p:txBody>
          <a:bodyPr/>
          <a:lstStyle/>
          <a:p>
            <a:endParaRPr lang="en-US"/>
          </a:p>
        </p:txBody>
      </p:sp>
      <p:sp>
        <p:nvSpPr>
          <p:cNvPr id="9103" name="Connector"/>
          <p:cNvSpPr/>
          <p:nvPr/>
        </p:nvSpPr>
        <p:spPr>
          <a:xfrm>
            <a:off x="10040112" y="2834640"/>
            <a:ext cx="914" cy="658368"/>
          </a:xfrm>
          <a:custGeom>
            <a:avLst/>
            <a:gdLst/>
            <a:ahLst/>
            <a:cxnLst/>
            <a:rect l="0" t="0" r="r" b="b"/>
            <a:pathLst>
              <a:path w="914" h="658368" fill="none">
                <a:moveTo>
                  <a:pt x="0" y="0"/>
                </a:moveTo>
                <a:lnTo>
                  <a:pt x="0" y="658368"/>
                </a:lnTo>
              </a:path>
            </a:pathLst>
          </a:custGeom>
          <a:noFill/>
          <a:ln w="15875">
            <a:solidFill>
              <a:srgbClr val="4FD1C0"/>
            </a:solidFill>
            <a:round/>
          </a:ln>
        </p:spPr>
        <p:txBody>
          <a:bodyPr/>
          <a:lstStyle/>
          <a:p>
            <a:endParaRPr lang="en-US"/>
          </a:p>
        </p:txBody>
      </p:sp>
      <p:sp>
        <p:nvSpPr>
          <p:cNvPr id="9104" name="Connector"/>
          <p:cNvSpPr/>
          <p:nvPr/>
        </p:nvSpPr>
        <p:spPr>
          <a:xfrm>
            <a:off x="4654296" y="3493008"/>
            <a:ext cx="5742432" cy="914"/>
          </a:xfrm>
          <a:custGeom>
            <a:avLst/>
            <a:gdLst/>
            <a:ahLst/>
            <a:cxnLst/>
            <a:rect l="0" t="0" r="r" b="b"/>
            <a:pathLst>
              <a:path w="5742432" h="914" fill="none">
                <a:moveTo>
                  <a:pt x="0" y="0"/>
                </a:moveTo>
                <a:lnTo>
                  <a:pt x="5742432" y="0"/>
                </a:lnTo>
              </a:path>
            </a:pathLst>
          </a:custGeom>
          <a:noFill/>
          <a:ln w="15875">
            <a:solidFill>
              <a:srgbClr val="4FD1C0"/>
            </a:solidFill>
            <a:round/>
          </a:ln>
        </p:spPr>
        <p:txBody>
          <a:bodyPr/>
          <a:lstStyle/>
          <a:p>
            <a:endParaRPr lang="en-US"/>
          </a:p>
        </p:txBody>
      </p:sp>
      <p:sp>
        <p:nvSpPr>
          <p:cNvPr id="9105" name="Connector"/>
          <p:cNvSpPr/>
          <p:nvPr/>
        </p:nvSpPr>
        <p:spPr>
          <a:xfrm>
            <a:off x="4654296" y="3493008"/>
            <a:ext cx="914" cy="347472"/>
          </a:xfrm>
          <a:custGeom>
            <a:avLst/>
            <a:gdLst/>
            <a:ahLst/>
            <a:cxnLst/>
            <a:rect l="0" t="0" r="r" b="b"/>
            <a:pathLst>
              <a:path w="914" h="347472" fill="none">
                <a:moveTo>
                  <a:pt x="0" y="0"/>
                </a:moveTo>
                <a:lnTo>
                  <a:pt x="0" y="347472"/>
                </a:lnTo>
              </a:path>
            </a:pathLst>
          </a:custGeom>
          <a:noFill/>
          <a:ln w="15875">
            <a:solidFill>
              <a:srgbClr val="4FD1C0"/>
            </a:solidFill>
            <a:round/>
            <a:tailEnd type="triangle" w="med" len="med"/>
          </a:ln>
        </p:spPr>
        <p:txBody>
          <a:bodyPr/>
          <a:lstStyle/>
          <a:p>
            <a:endParaRPr lang="en-US"/>
          </a:p>
        </p:txBody>
      </p:sp>
      <p:sp>
        <p:nvSpPr>
          <p:cNvPr id="9106" name="Connector"/>
          <p:cNvSpPr/>
          <p:nvPr/>
        </p:nvSpPr>
        <p:spPr>
          <a:xfrm>
            <a:off x="7525512" y="3493008"/>
            <a:ext cx="914" cy="347472"/>
          </a:xfrm>
          <a:custGeom>
            <a:avLst/>
            <a:gdLst/>
            <a:ahLst/>
            <a:cxnLst/>
            <a:rect l="0" t="0" r="r" b="b"/>
            <a:pathLst>
              <a:path w="914" h="347472" fill="none">
                <a:moveTo>
                  <a:pt x="0" y="0"/>
                </a:moveTo>
                <a:lnTo>
                  <a:pt x="0" y="347472"/>
                </a:lnTo>
              </a:path>
            </a:pathLst>
          </a:custGeom>
          <a:noFill/>
          <a:ln w="15875">
            <a:solidFill>
              <a:srgbClr val="4FD1C0"/>
            </a:solidFill>
            <a:round/>
            <a:tailEnd type="triangle" w="med" len="med"/>
          </a:ln>
        </p:spPr>
        <p:txBody>
          <a:bodyPr/>
          <a:lstStyle/>
          <a:p>
            <a:endParaRPr lang="en-US"/>
          </a:p>
        </p:txBody>
      </p:sp>
      <p:sp>
        <p:nvSpPr>
          <p:cNvPr id="9107" name="Connector"/>
          <p:cNvSpPr/>
          <p:nvPr/>
        </p:nvSpPr>
        <p:spPr>
          <a:xfrm>
            <a:off x="10396728" y="3493008"/>
            <a:ext cx="914" cy="347472"/>
          </a:xfrm>
          <a:custGeom>
            <a:avLst/>
            <a:gdLst/>
            <a:ahLst/>
            <a:cxnLst/>
            <a:rect l="0" t="0" r="r" b="b"/>
            <a:pathLst>
              <a:path w="914" h="347472" fill="none">
                <a:moveTo>
                  <a:pt x="0" y="0"/>
                </a:moveTo>
                <a:lnTo>
                  <a:pt x="0" y="347472"/>
                </a:lnTo>
              </a:path>
            </a:pathLst>
          </a:custGeom>
          <a:noFill/>
          <a:ln w="15875">
            <a:solidFill>
              <a:srgbClr val="4FD1C0"/>
            </a:solidFill>
            <a:round/>
            <a:tailEnd type="triangle" w="med" len="med"/>
          </a:ln>
        </p:spPr>
        <p:txBody>
          <a:bodyPr/>
          <a:lstStyle/>
          <a:p>
            <a:endParaRPr lang="en-US"/>
          </a:p>
        </p:txBody>
      </p:sp>
      <p:sp>
        <p:nvSpPr>
          <p:cNvPr id="9108" name="Connector"/>
          <p:cNvSpPr/>
          <p:nvPr/>
        </p:nvSpPr>
        <p:spPr>
          <a:xfrm>
            <a:off x="1783080" y="2834640"/>
            <a:ext cx="3214116" cy="1005840"/>
          </a:xfrm>
          <a:custGeom>
            <a:avLst/>
            <a:gdLst/>
            <a:ahLst/>
            <a:cxnLst/>
            <a:rect l="0" t="0" r="r" b="b"/>
            <a:pathLst>
              <a:path w="3214116" h="1005840" fill="none">
                <a:moveTo>
                  <a:pt x="3214116" y="0"/>
                </a:moveTo>
                <a:lnTo>
                  <a:pt x="3214116" y="292608"/>
                </a:lnTo>
                <a:lnTo>
                  <a:pt x="0" y="292608"/>
                </a:lnTo>
                <a:lnTo>
                  <a:pt x="0" y="1005840"/>
                </a:lnTo>
              </a:path>
            </a:pathLst>
          </a:custGeom>
          <a:noFill/>
          <a:ln w="15875">
            <a:solidFill>
              <a:srgbClr val="7AB6EA"/>
            </a:solidFill>
            <a:round/>
            <a:headEnd type="triangle" w="med" len="med"/>
            <a:tailEnd type="triangle" w="med" len="med"/>
          </a:ln>
        </p:spPr>
        <p:txBody>
          <a:bodyPr/>
          <a:lstStyle/>
          <a:p>
            <a:endParaRPr lang="en-US"/>
          </a:p>
        </p:txBody>
      </p:sp>
      <p:sp>
        <p:nvSpPr>
          <p:cNvPr id="9109" name="Connector"/>
          <p:cNvSpPr/>
          <p:nvPr/>
        </p:nvSpPr>
        <p:spPr>
          <a:xfrm>
            <a:off x="3017520" y="4480560"/>
            <a:ext cx="402336" cy="914"/>
          </a:xfrm>
          <a:custGeom>
            <a:avLst/>
            <a:gdLst/>
            <a:ahLst/>
            <a:cxnLst/>
            <a:rect l="0" t="0" r="r" b="b"/>
            <a:pathLst>
              <a:path w="402336" h="914" fill="none">
                <a:moveTo>
                  <a:pt x="402336" y="0"/>
                </a:moveTo>
                <a:lnTo>
                  <a:pt x="0" y="0"/>
                </a:lnTo>
              </a:path>
            </a:pathLst>
          </a:custGeom>
          <a:noFill/>
          <a:ln w="15875">
            <a:solidFill>
              <a:srgbClr val="7AB6EA"/>
            </a:solidFill>
            <a:round/>
            <a:tailEnd type="triangle" w="med" len="med"/>
          </a:ln>
        </p:spPr>
        <p:txBody>
          <a:bodyPr/>
          <a:lstStyle/>
          <a:p>
            <a:endParaRPr lang="en-US"/>
          </a:p>
        </p:txBody>
      </p:sp>
      <p:sp>
        <p:nvSpPr>
          <p:cNvPr id="9110" name="Connector"/>
          <p:cNvSpPr/>
          <p:nvPr/>
        </p:nvSpPr>
        <p:spPr>
          <a:xfrm>
            <a:off x="2103120" y="5120640"/>
            <a:ext cx="5422392" cy="347472"/>
          </a:xfrm>
          <a:custGeom>
            <a:avLst/>
            <a:gdLst/>
            <a:ahLst/>
            <a:cxnLst/>
            <a:rect l="0" t="0" r="r" b="b"/>
            <a:pathLst>
              <a:path w="5422392" h="347472" fill="none">
                <a:moveTo>
                  <a:pt x="5422392" y="0"/>
                </a:moveTo>
                <a:lnTo>
                  <a:pt x="5422392" y="347472"/>
                </a:lnTo>
                <a:lnTo>
                  <a:pt x="0" y="347472"/>
                </a:lnTo>
                <a:lnTo>
                  <a:pt x="0" y="0"/>
                </a:lnTo>
              </a:path>
            </a:pathLst>
          </a:custGeom>
          <a:noFill/>
          <a:ln w="15875">
            <a:solidFill>
              <a:srgbClr val="7AB6EA"/>
            </a:solidFill>
            <a:round/>
            <a:headEnd type="triangle" w="med" len="med"/>
            <a:tailEnd type="triangle" w="med" len="med"/>
          </a:ln>
        </p:spPr>
        <p:txBody>
          <a:bodyPr/>
          <a:lstStyle/>
          <a:p>
            <a:endParaRPr lang="en-US"/>
          </a:p>
        </p:txBody>
      </p:sp>
      <p:sp>
        <p:nvSpPr>
          <p:cNvPr id="9111" name="Connector"/>
          <p:cNvSpPr/>
          <p:nvPr/>
        </p:nvSpPr>
        <p:spPr>
          <a:xfrm>
            <a:off x="1463040" y="5120640"/>
            <a:ext cx="8933688" cy="640080"/>
          </a:xfrm>
          <a:custGeom>
            <a:avLst/>
            <a:gdLst/>
            <a:ahLst/>
            <a:cxnLst/>
            <a:rect l="0" t="0" r="r" b="b"/>
            <a:pathLst>
              <a:path w="8933688" h="640080" fill="none">
                <a:moveTo>
                  <a:pt x="8933688" y="0"/>
                </a:moveTo>
                <a:lnTo>
                  <a:pt x="8933688" y="640080"/>
                </a:lnTo>
                <a:lnTo>
                  <a:pt x="0" y="640080"/>
                </a:lnTo>
                <a:lnTo>
                  <a:pt x="0" y="0"/>
                </a:lnTo>
              </a:path>
            </a:pathLst>
          </a:custGeom>
          <a:noFill/>
          <a:ln w="15875">
            <a:solidFill>
              <a:srgbClr val="7AB6EA"/>
            </a:solidFill>
            <a:round/>
            <a:tailEnd type="triangle" w="med" len="med"/>
          </a:ln>
        </p:spPr>
        <p:txBody>
          <a:bodyPr/>
          <a:lstStyle/>
          <a:p>
            <a:endParaRPr lang="en-US"/>
          </a:p>
        </p:txBody>
      </p:sp>
      <p:sp>
        <p:nvSpPr>
          <p:cNvPr id="9112" name="Surveyor workbench panel"/>
          <p:cNvSpPr/>
          <p:nvPr/>
        </p:nvSpPr>
        <p:spPr>
          <a:xfrm>
            <a:off x="548640" y="1554480"/>
            <a:ext cx="3200400" cy="1280160"/>
          </a:xfrm>
          <a:prstGeom prst="roundRect">
            <a:avLst>
              <a:gd name="adj" fmla="val 9000"/>
            </a:avLst>
          </a:prstGeom>
          <a:solidFill>
            <a:srgbClr val="0F2231">
              <a:alpha val="86000"/>
            </a:srgbClr>
          </a:solidFill>
          <a:ln w="15875">
            <a:solidFill>
              <a:srgbClr val="4FD1C0"/>
            </a:solidFill>
          </a:ln>
        </p:spPr>
        <p:txBody>
          <a:bodyPr/>
          <a:lstStyle/>
          <a:p>
            <a:endParaRPr lang="en-US"/>
          </a:p>
        </p:txBody>
      </p:sp>
      <p:pic>
        <p:nvPicPr>
          <p:cNvPr id="9113" name="Surveyor workbench icon" descr="Surveyor workbench icon"/>
          <p:cNvPicPr>
            <a:picLocks noChangeAspect="1"/>
          </p:cNvPicPr>
          <p:nvPr/>
        </p:nvPicPr>
        <p:blipFill>
          <a:blip r:embed="rId4"/>
          <a:stretch>
            <a:fillRect/>
          </a:stretch>
        </p:blipFill>
        <p:spPr>
          <a:xfrm>
            <a:off x="768096" y="2002536"/>
            <a:ext cx="384048" cy="384048"/>
          </a:xfrm>
          <a:prstGeom prst="rect">
            <a:avLst/>
          </a:prstGeom>
        </p:spPr>
      </p:pic>
      <p:sp>
        <p:nvSpPr>
          <p:cNvPr id="9114" name="Surveyor workbench text"/>
          <p:cNvSpPr txBox="1"/>
          <p:nvPr/>
        </p:nvSpPr>
        <p:spPr>
          <a:xfrm>
            <a:off x="1335024" y="1664208"/>
            <a:ext cx="226771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Surveyor workbench</a:t>
            </a:r>
          </a:p>
          <a:p>
            <a:r>
              <a:rPr lang="en-US" sz="1100" dirty="0">
                <a:solidFill>
                  <a:srgbClr val="B3C3CE"/>
                </a:solidFill>
                <a:latin typeface="Arial"/>
                <a:cs typeface="Arial"/>
              </a:rPr>
              <a:t>Module 9</a:t>
            </a:r>
          </a:p>
        </p:txBody>
      </p:sp>
      <p:sp>
        <p:nvSpPr>
          <p:cNvPr id="9115" name="Backend application panel"/>
          <p:cNvSpPr/>
          <p:nvPr/>
        </p:nvSpPr>
        <p:spPr>
          <a:xfrm>
            <a:off x="4494276" y="1554480"/>
            <a:ext cx="3200400" cy="1280160"/>
          </a:xfrm>
          <a:prstGeom prst="roundRect">
            <a:avLst>
              <a:gd name="adj" fmla="val 9000"/>
            </a:avLst>
          </a:prstGeom>
          <a:solidFill>
            <a:srgbClr val="0F2231">
              <a:alpha val="86000"/>
            </a:srgbClr>
          </a:solidFill>
          <a:ln w="15875">
            <a:solidFill>
              <a:srgbClr val="4FD1C0"/>
            </a:solidFill>
          </a:ln>
        </p:spPr>
        <p:txBody>
          <a:bodyPr/>
          <a:lstStyle/>
          <a:p>
            <a:endParaRPr lang="en-US"/>
          </a:p>
        </p:txBody>
      </p:sp>
      <p:pic>
        <p:nvPicPr>
          <p:cNvPr id="9116" name="Backend application icon" descr="Backend application icon"/>
          <p:cNvPicPr>
            <a:picLocks noChangeAspect="1"/>
          </p:cNvPicPr>
          <p:nvPr/>
        </p:nvPicPr>
        <p:blipFill>
          <a:blip r:embed="rId5"/>
          <a:stretch>
            <a:fillRect/>
          </a:stretch>
        </p:blipFill>
        <p:spPr>
          <a:xfrm>
            <a:off x="4713732" y="2002536"/>
            <a:ext cx="384048" cy="384048"/>
          </a:xfrm>
          <a:prstGeom prst="rect">
            <a:avLst/>
          </a:prstGeom>
        </p:spPr>
      </p:pic>
      <p:sp>
        <p:nvSpPr>
          <p:cNvPr id="9117" name="Backend application text"/>
          <p:cNvSpPr txBox="1"/>
          <p:nvPr/>
        </p:nvSpPr>
        <p:spPr>
          <a:xfrm>
            <a:off x="5280660" y="1664208"/>
            <a:ext cx="226771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Backend application</a:t>
            </a:r>
          </a:p>
          <a:p>
            <a:r>
              <a:rPr lang="en-US" sz="1100" dirty="0">
                <a:solidFill>
                  <a:srgbClr val="B3C3CE"/>
                </a:solidFill>
                <a:latin typeface="Arial"/>
                <a:cs typeface="Arial"/>
              </a:rPr>
              <a:t>Intake, jobs, comparison and review</a:t>
            </a:r>
          </a:p>
          <a:p>
            <a:r>
              <a:rPr lang="en-US" sz="1100" dirty="0">
                <a:solidFill>
                  <a:srgbClr val="B3C3CE"/>
                </a:solidFill>
                <a:latin typeface="Arial"/>
                <a:cs typeface="Arial"/>
              </a:rPr>
              <a:t>Modules 7-8</a:t>
            </a:r>
          </a:p>
        </p:txBody>
      </p:sp>
      <p:sp>
        <p:nvSpPr>
          <p:cNvPr id="9118" name="Background job queue panel"/>
          <p:cNvSpPr/>
          <p:nvPr/>
        </p:nvSpPr>
        <p:spPr>
          <a:xfrm>
            <a:off x="8439912" y="1554480"/>
            <a:ext cx="3200400" cy="1280160"/>
          </a:xfrm>
          <a:prstGeom prst="roundRect">
            <a:avLst>
              <a:gd name="adj" fmla="val 9000"/>
            </a:avLst>
          </a:prstGeom>
          <a:solidFill>
            <a:srgbClr val="0F2231">
              <a:alpha val="86000"/>
            </a:srgbClr>
          </a:solidFill>
          <a:ln w="15875">
            <a:solidFill>
              <a:srgbClr val="4FD1C0"/>
            </a:solidFill>
          </a:ln>
        </p:spPr>
        <p:txBody>
          <a:bodyPr/>
          <a:lstStyle/>
          <a:p>
            <a:endParaRPr lang="en-US"/>
          </a:p>
        </p:txBody>
      </p:sp>
      <p:pic>
        <p:nvPicPr>
          <p:cNvPr id="9119" name="Background job queue icon" descr="Background job queue icon"/>
          <p:cNvPicPr>
            <a:picLocks noChangeAspect="1"/>
          </p:cNvPicPr>
          <p:nvPr/>
        </p:nvPicPr>
        <p:blipFill>
          <a:blip r:embed="rId6"/>
          <a:stretch>
            <a:fillRect/>
          </a:stretch>
        </p:blipFill>
        <p:spPr>
          <a:xfrm>
            <a:off x="8659368" y="2002536"/>
            <a:ext cx="384048" cy="384048"/>
          </a:xfrm>
          <a:prstGeom prst="rect">
            <a:avLst/>
          </a:prstGeom>
        </p:spPr>
      </p:pic>
      <p:sp>
        <p:nvSpPr>
          <p:cNvPr id="9120" name="Background job queue text"/>
          <p:cNvSpPr txBox="1"/>
          <p:nvPr/>
        </p:nvSpPr>
        <p:spPr>
          <a:xfrm>
            <a:off x="9226296" y="1664208"/>
            <a:ext cx="226771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Background job queue</a:t>
            </a:r>
          </a:p>
        </p:txBody>
      </p:sp>
      <p:sp>
        <p:nvSpPr>
          <p:cNvPr id="9121" name="Shared storage panel"/>
          <p:cNvSpPr/>
          <p:nvPr/>
        </p:nvSpPr>
        <p:spPr>
          <a:xfrm>
            <a:off x="548640" y="3840480"/>
            <a:ext cx="2468880" cy="1280160"/>
          </a:xfrm>
          <a:prstGeom prst="roundRect">
            <a:avLst>
              <a:gd name="adj" fmla="val 9000"/>
            </a:avLst>
          </a:prstGeom>
          <a:solidFill>
            <a:srgbClr val="0F2231">
              <a:alpha val="86000"/>
            </a:srgbClr>
          </a:solidFill>
          <a:ln w="15875">
            <a:solidFill>
              <a:srgbClr val="7AB6EA"/>
            </a:solidFill>
          </a:ln>
        </p:spPr>
        <p:txBody>
          <a:bodyPr/>
          <a:lstStyle/>
          <a:p>
            <a:endParaRPr lang="en-US"/>
          </a:p>
        </p:txBody>
      </p:sp>
      <p:pic>
        <p:nvPicPr>
          <p:cNvPr id="9122" name="Shared storage icon" descr="Shared storage icon"/>
          <p:cNvPicPr>
            <a:picLocks noChangeAspect="1"/>
          </p:cNvPicPr>
          <p:nvPr/>
        </p:nvPicPr>
        <p:blipFill>
          <a:blip r:embed="rId7"/>
          <a:stretch>
            <a:fillRect/>
          </a:stretch>
        </p:blipFill>
        <p:spPr>
          <a:xfrm>
            <a:off x="768096" y="4288536"/>
            <a:ext cx="384048" cy="384048"/>
          </a:xfrm>
          <a:prstGeom prst="rect">
            <a:avLst/>
          </a:prstGeom>
        </p:spPr>
      </p:pic>
      <p:sp>
        <p:nvSpPr>
          <p:cNvPr id="9123" name="Shared storage text"/>
          <p:cNvSpPr txBox="1"/>
          <p:nvPr/>
        </p:nvSpPr>
        <p:spPr>
          <a:xfrm>
            <a:off x="1335024" y="3950208"/>
            <a:ext cx="153619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Shared storage</a:t>
            </a:r>
          </a:p>
          <a:p>
            <a:r>
              <a:rPr lang="en-US" sz="1100" dirty="0">
                <a:solidFill>
                  <a:srgbClr val="B3C3CE"/>
                </a:solidFill>
                <a:latin typeface="Arial"/>
                <a:cs typeface="Arial"/>
              </a:rPr>
              <a:t>Claim database, files and model versions</a:t>
            </a:r>
          </a:p>
        </p:txBody>
      </p:sp>
      <p:sp>
        <p:nvSpPr>
          <p:cNvPr id="9124" name="Image worker panel"/>
          <p:cNvSpPr/>
          <p:nvPr/>
        </p:nvSpPr>
        <p:spPr>
          <a:xfrm>
            <a:off x="3419856" y="3840480"/>
            <a:ext cx="2468880" cy="1280160"/>
          </a:xfrm>
          <a:prstGeom prst="roundRect">
            <a:avLst>
              <a:gd name="adj" fmla="val 9000"/>
            </a:avLst>
          </a:prstGeom>
          <a:solidFill>
            <a:srgbClr val="0F2231">
              <a:alpha val="86000"/>
            </a:srgbClr>
          </a:solidFill>
          <a:ln w="15875">
            <a:solidFill>
              <a:srgbClr val="4FD1C0"/>
            </a:solidFill>
          </a:ln>
        </p:spPr>
        <p:txBody>
          <a:bodyPr/>
          <a:lstStyle/>
          <a:p>
            <a:endParaRPr lang="en-US"/>
          </a:p>
        </p:txBody>
      </p:sp>
      <p:pic>
        <p:nvPicPr>
          <p:cNvPr id="9125" name="Image worker icon" descr="Image worker icon"/>
          <p:cNvPicPr>
            <a:picLocks noChangeAspect="1"/>
          </p:cNvPicPr>
          <p:nvPr/>
        </p:nvPicPr>
        <p:blipFill>
          <a:blip r:embed="rId8"/>
          <a:stretch>
            <a:fillRect/>
          </a:stretch>
        </p:blipFill>
        <p:spPr>
          <a:xfrm>
            <a:off x="3639312" y="4288536"/>
            <a:ext cx="384048" cy="384048"/>
          </a:xfrm>
          <a:prstGeom prst="rect">
            <a:avLst/>
          </a:prstGeom>
        </p:spPr>
      </p:pic>
      <p:sp>
        <p:nvSpPr>
          <p:cNvPr id="9126" name="Image worker text"/>
          <p:cNvSpPr txBox="1"/>
          <p:nvPr/>
        </p:nvSpPr>
        <p:spPr>
          <a:xfrm>
            <a:off x="4206240" y="3950208"/>
            <a:ext cx="153619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Image worker</a:t>
            </a:r>
          </a:p>
          <a:p>
            <a:r>
              <a:rPr lang="en-US" sz="1100" dirty="0">
                <a:solidFill>
                  <a:srgbClr val="B3C3CE"/>
                </a:solidFill>
                <a:latin typeface="Arial"/>
                <a:cs typeface="Arial"/>
              </a:rPr>
              <a:t>Modules 1-3</a:t>
            </a:r>
          </a:p>
        </p:txBody>
      </p:sp>
      <p:sp>
        <p:nvSpPr>
          <p:cNvPr id="9127" name="Document worker panel"/>
          <p:cNvSpPr/>
          <p:nvPr/>
        </p:nvSpPr>
        <p:spPr>
          <a:xfrm>
            <a:off x="6291072" y="3840480"/>
            <a:ext cx="2468880" cy="1280160"/>
          </a:xfrm>
          <a:prstGeom prst="roundRect">
            <a:avLst>
              <a:gd name="adj" fmla="val 9000"/>
            </a:avLst>
          </a:prstGeom>
          <a:solidFill>
            <a:srgbClr val="0F2231">
              <a:alpha val="86000"/>
            </a:srgbClr>
          </a:solidFill>
          <a:ln w="15875">
            <a:solidFill>
              <a:srgbClr val="4FD1C0"/>
            </a:solidFill>
          </a:ln>
        </p:spPr>
        <p:txBody>
          <a:bodyPr/>
          <a:lstStyle/>
          <a:p>
            <a:endParaRPr lang="en-US"/>
          </a:p>
        </p:txBody>
      </p:sp>
      <p:pic>
        <p:nvPicPr>
          <p:cNvPr id="9128" name="Document worker icon" descr="Document worker icon"/>
          <p:cNvPicPr>
            <a:picLocks noChangeAspect="1"/>
          </p:cNvPicPr>
          <p:nvPr/>
        </p:nvPicPr>
        <p:blipFill>
          <a:blip r:embed="rId9"/>
          <a:stretch>
            <a:fillRect/>
          </a:stretch>
        </p:blipFill>
        <p:spPr>
          <a:xfrm>
            <a:off x="6510528" y="4288536"/>
            <a:ext cx="384048" cy="384048"/>
          </a:xfrm>
          <a:prstGeom prst="rect">
            <a:avLst/>
          </a:prstGeom>
        </p:spPr>
      </p:pic>
      <p:sp>
        <p:nvSpPr>
          <p:cNvPr id="9129" name="Document worker text"/>
          <p:cNvSpPr txBox="1"/>
          <p:nvPr/>
        </p:nvSpPr>
        <p:spPr>
          <a:xfrm>
            <a:off x="7077456" y="3950208"/>
            <a:ext cx="153619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Document worker</a:t>
            </a:r>
          </a:p>
          <a:p>
            <a:r>
              <a:rPr lang="en-US" sz="1100" dirty="0">
                <a:solidFill>
                  <a:srgbClr val="B3C3CE"/>
                </a:solidFill>
                <a:latin typeface="Arial"/>
                <a:cs typeface="Arial"/>
              </a:rPr>
              <a:t>Modules 4-5</a:t>
            </a:r>
          </a:p>
        </p:txBody>
      </p:sp>
      <p:sp>
        <p:nvSpPr>
          <p:cNvPr id="9130" name="Offline training and cost refresh panel"/>
          <p:cNvSpPr/>
          <p:nvPr/>
        </p:nvSpPr>
        <p:spPr>
          <a:xfrm>
            <a:off x="9162288" y="3840480"/>
            <a:ext cx="2468880" cy="1280160"/>
          </a:xfrm>
          <a:prstGeom prst="roundRect">
            <a:avLst>
              <a:gd name="adj" fmla="val 9000"/>
            </a:avLst>
          </a:prstGeom>
          <a:solidFill>
            <a:srgbClr val="0F2231">
              <a:alpha val="86000"/>
            </a:srgbClr>
          </a:solidFill>
          <a:ln w="15875">
            <a:solidFill>
              <a:srgbClr val="4FD1C0"/>
            </a:solidFill>
          </a:ln>
        </p:spPr>
        <p:txBody>
          <a:bodyPr/>
          <a:lstStyle/>
          <a:p>
            <a:endParaRPr lang="en-US"/>
          </a:p>
        </p:txBody>
      </p:sp>
      <p:pic>
        <p:nvPicPr>
          <p:cNvPr id="9131" name="Offline training and cost refresh icon" descr="Offline training and cost refresh icon"/>
          <p:cNvPicPr>
            <a:picLocks noChangeAspect="1"/>
          </p:cNvPicPr>
          <p:nvPr/>
        </p:nvPicPr>
        <p:blipFill>
          <a:blip r:embed="rId10"/>
          <a:stretch>
            <a:fillRect/>
          </a:stretch>
        </p:blipFill>
        <p:spPr>
          <a:xfrm>
            <a:off x="9381744" y="4288536"/>
            <a:ext cx="384048" cy="384048"/>
          </a:xfrm>
          <a:prstGeom prst="rect">
            <a:avLst/>
          </a:prstGeom>
        </p:spPr>
      </p:pic>
      <p:sp>
        <p:nvSpPr>
          <p:cNvPr id="9132" name="Offline training and cost refresh text"/>
          <p:cNvSpPr txBox="1"/>
          <p:nvPr/>
        </p:nvSpPr>
        <p:spPr>
          <a:xfrm>
            <a:off x="9948672" y="3950208"/>
            <a:ext cx="1536192" cy="1060704"/>
          </a:xfrm>
          <a:prstGeom prst="rect">
            <a:avLst/>
          </a:prstGeom>
          <a:noFill/>
        </p:spPr>
        <p:txBody>
          <a:bodyPr wrap="square" lIns="0" tIns="0" rIns="0" bIns="0" anchor="ctr">
            <a:noAutofit/>
          </a:bodyPr>
          <a:lstStyle/>
          <a:p>
            <a:pPr>
              <a:spcAft>
                <a:spcPts val="300"/>
              </a:spcAft>
            </a:pPr>
            <a:r>
              <a:rPr lang="en-US" sz="1400" b="1" dirty="0">
                <a:solidFill>
                  <a:srgbClr val="F3F6F8"/>
                </a:solidFill>
                <a:latin typeface="Arial"/>
                <a:cs typeface="Arial"/>
              </a:rPr>
              <a:t>Offline training and cost refresh</a:t>
            </a:r>
          </a:p>
          <a:p>
            <a:r>
              <a:rPr lang="en-US" sz="1100" dirty="0">
                <a:solidFill>
                  <a:srgbClr val="B3C3CE"/>
                </a:solidFill>
                <a:latin typeface="Arial"/>
                <a:cs typeface="Arial"/>
              </a:rPr>
              <a:t>Including Module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photo">
            <a:extLst>
              <a:ext uri="{FF2B5EF4-FFF2-40B4-BE49-F238E27FC236}">
                <a16:creationId xmlns:a16="http://schemas.microsoft.com/office/drawing/2014/main" id="{A10DC60B-EC62-40AF-8662-29CAE1B39ABD}"/>
              </a:ext>
            </a:extLst>
          </p:cNvPr>
          <p:cNvPicPr>
            <a:picLocks/>
          </p:cNvPicPr>
          <p:nvPr/>
        </p:nvPicPr>
        <p:blipFill>
          <a:blip r:embed="rId3">
            <a:lum bright="-16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Background tint">
            <a:extLst>
              <a:ext uri="{FF2B5EF4-FFF2-40B4-BE49-F238E27FC236}">
                <a16:creationId xmlns:a16="http://schemas.microsoft.com/office/drawing/2014/main" id="{8E67EAD5-F3D9-DAF2-F433-86E38A58B23E}"/>
              </a:ext>
            </a:extLst>
          </p:cNvPr>
          <p:cNvSpPr/>
          <p:nvPr/>
        </p:nvSpPr>
        <p:spPr>
          <a:xfrm>
            <a:off x="0" y="171450"/>
            <a:ext cx="12192000" cy="6858000"/>
          </a:xfrm>
          <a:prstGeom prst="rect">
            <a:avLst/>
          </a:prstGeom>
          <a:gradFill flip="none" rotWithShape="1">
            <a:gsLst>
              <a:gs pos="0">
                <a:srgbClr val="0A1520">
                  <a:alpha val="94000"/>
                </a:srgbClr>
              </a:gs>
              <a:gs pos="100000">
                <a:srgbClr val="0A1520">
                  <a:alpha val="60000"/>
                </a:srgbClr>
              </a:gs>
              <a:gs pos="55000">
                <a:srgbClr val="0A1520">
                  <a:alpha val="80000"/>
                </a:srgbClr>
              </a:gs>
            </a:gsLst>
            <a:lin ang="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 name="Title shade">
            <a:extLst>
              <a:ext uri="{FF2B5EF4-FFF2-40B4-BE49-F238E27FC236}">
                <a16:creationId xmlns:a16="http://schemas.microsoft.com/office/drawing/2014/main" id="{AE129F69-5C5A-0CF8-72F9-729E5B24B7C6}"/>
              </a:ext>
            </a:extLst>
          </p:cNvPr>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 name="Title">
            <a:extLst>
              <a:ext uri="{FF2B5EF4-FFF2-40B4-BE49-F238E27FC236}">
                <a16:creationId xmlns:a16="http://schemas.microsoft.com/office/drawing/2014/main" id="{FA4FD8EA-E0D0-9ADF-049C-6109D9CE4397}"/>
              </a:ext>
            </a:extLst>
          </p:cNvPr>
          <p:cNvSpPr txBox="1"/>
          <p:nvPr/>
        </p:nvSpPr>
        <p:spPr>
          <a:xfrm>
            <a:off x="457200" y="285749"/>
            <a:ext cx="8572500" cy="476250"/>
          </a:xfrm>
          <a:prstGeom prst="rect">
            <a:avLst/>
          </a:prstGeom>
          <a:noFill/>
        </p:spPr>
        <p:txBody>
          <a:bodyPr vert="horz" wrap="square" lIns="0" tIns="0" rIns="0" bIns="0" rtlCol="0">
            <a:noAutofit/>
          </a:bodyPr>
          <a:lstStyle/>
          <a:p>
            <a:r>
              <a:rPr lang="en-SG" sz="2850" b="1" dirty="0">
                <a:solidFill>
                  <a:srgbClr val="F3F6F8"/>
                </a:solidFill>
                <a:latin typeface="Calibri" panose="020F0502020204030204" pitchFamily="34" charset="0"/>
              </a:rPr>
              <a:t>Technical system design</a:t>
            </a:r>
          </a:p>
        </p:txBody>
      </p:sp>
      <p:sp>
        <p:nvSpPr>
          <p:cNvPr id="7" name="Subtitle">
            <a:extLst>
              <a:ext uri="{FF2B5EF4-FFF2-40B4-BE49-F238E27FC236}">
                <a16:creationId xmlns:a16="http://schemas.microsoft.com/office/drawing/2014/main" id="{1BE793E9-0BDA-961D-0B23-0CCE02C987D9}"/>
              </a:ext>
            </a:extLst>
          </p:cNvPr>
          <p:cNvSpPr txBox="1"/>
          <p:nvPr/>
        </p:nvSpPr>
        <p:spPr>
          <a:xfrm>
            <a:off x="457200" y="800099"/>
            <a:ext cx="9525000" cy="247650"/>
          </a:xfrm>
          <a:prstGeom prst="rect">
            <a:avLst/>
          </a:prstGeom>
          <a:noFill/>
        </p:spPr>
        <p:txBody>
          <a:bodyPr vert="horz" wrap="square" lIns="0" tIns="0" rIns="0" bIns="0" rtlCol="0">
            <a:noAutofit/>
          </a:bodyPr>
          <a:lstStyle/>
          <a:p>
            <a:r>
              <a:rPr lang="en-US" sz="1050" dirty="0" err="1">
                <a:solidFill>
                  <a:srgbClr val="B3C3CE"/>
                </a:solidFill>
                <a:latin typeface="Calibri" panose="020F0502020204030204" pitchFamily="34" charset="0"/>
              </a:rPr>
              <a:t>Containerised</a:t>
            </a:r>
            <a:r>
              <a:rPr lang="en-US" sz="1050" dirty="0">
                <a:solidFill>
                  <a:srgbClr val="B3C3CE"/>
                </a:solidFill>
                <a:latin typeface="Calibri" panose="020F0502020204030204" pitchFamily="34" charset="0"/>
              </a:rPr>
              <a:t> event runtime with separate image and document processing branches</a:t>
            </a:r>
            <a:endParaRPr lang="en-SG" sz="1050" dirty="0">
              <a:solidFill>
                <a:srgbClr val="B3C3CE"/>
              </a:solidFill>
              <a:latin typeface="Calibri" panose="020F0502020204030204" pitchFamily="34" charset="0"/>
            </a:endParaRPr>
          </a:p>
        </p:txBody>
      </p:sp>
      <p:sp>
        <p:nvSpPr>
          <p:cNvPr id="8" name="Project">
            <a:extLst>
              <a:ext uri="{FF2B5EF4-FFF2-40B4-BE49-F238E27FC236}">
                <a16:creationId xmlns:a16="http://schemas.microsoft.com/office/drawing/2014/main" id="{CEAD5E36-E065-9005-58B5-31E066250F88}"/>
              </a:ext>
            </a:extLst>
          </p:cNvPr>
          <p:cNvSpPr txBox="1"/>
          <p:nvPr/>
        </p:nvSpPr>
        <p:spPr>
          <a:xfrm>
            <a:off x="457200" y="6515100"/>
            <a:ext cx="2857500" cy="171450"/>
          </a:xfrm>
          <a:prstGeom prst="rect">
            <a:avLst/>
          </a:prstGeom>
          <a:noFill/>
        </p:spPr>
        <p:txBody>
          <a:bodyPr vert="horz" wrap="square" lIns="0" tIns="0" rIns="0" bIns="0" rtlCol="0">
            <a:noAutofit/>
          </a:bodyPr>
          <a:lstStyle/>
          <a:p>
            <a:r>
              <a:rPr lang="en-SG" sz="825" b="1" spc="113">
                <a:solidFill>
                  <a:srgbClr val="8397A5"/>
                </a:solidFill>
                <a:latin typeface="Calibri" panose="020F0502020204030204" pitchFamily="34" charset="0"/>
              </a:rPr>
              <a:t>CLAIM-CMEV</a:t>
            </a:r>
          </a:p>
        </p:txBody>
      </p:sp>
      <p:sp>
        <p:nvSpPr>
          <p:cNvPr id="9" name="Slide number">
            <a:extLst>
              <a:ext uri="{FF2B5EF4-FFF2-40B4-BE49-F238E27FC236}">
                <a16:creationId xmlns:a16="http://schemas.microsoft.com/office/drawing/2014/main" id="{65C6D3A6-D9B4-0FB8-8C07-E3E6667BCA6A}"/>
              </a:ext>
            </a:extLst>
          </p:cNvPr>
          <p:cNvSpPr txBox="1"/>
          <p:nvPr/>
        </p:nvSpPr>
        <p:spPr>
          <a:xfrm>
            <a:off x="11334750" y="6496050"/>
            <a:ext cx="400050" cy="190500"/>
          </a:xfrm>
          <a:prstGeom prst="rect">
            <a:avLst/>
          </a:prstGeom>
          <a:noFill/>
        </p:spPr>
        <p:txBody>
          <a:bodyPr vert="horz" wrap="square" lIns="0" tIns="0" rIns="0" bIns="0" rtlCol="0">
            <a:noAutofit/>
          </a:bodyPr>
          <a:lstStyle/>
          <a:p>
            <a:pPr algn="r"/>
            <a:r>
              <a:rPr lang="en-SG" sz="975">
                <a:solidFill>
                  <a:srgbClr val="8397A5"/>
                </a:solidFill>
                <a:latin typeface="Calibri" panose="020F0502020204030204" pitchFamily="34" charset="0"/>
              </a:rPr>
              <a:t>01</a:t>
            </a:r>
          </a:p>
        </p:txBody>
      </p:sp>
      <p:sp>
        <p:nvSpPr>
          <p:cNvPr id="10" name="Edge label">
            <a:extLst>
              <a:ext uri="{FF2B5EF4-FFF2-40B4-BE49-F238E27FC236}">
                <a16:creationId xmlns:a16="http://schemas.microsoft.com/office/drawing/2014/main" id="{1E84F7FB-8D73-DAC7-CEA3-552B7F16CA71}"/>
              </a:ext>
            </a:extLst>
          </p:cNvPr>
          <p:cNvSpPr txBox="1"/>
          <p:nvPr/>
        </p:nvSpPr>
        <p:spPr>
          <a:xfrm>
            <a:off x="457200" y="1314450"/>
            <a:ext cx="3810000" cy="152400"/>
          </a:xfrm>
          <a:prstGeom prst="rect">
            <a:avLst/>
          </a:prstGeom>
          <a:noFill/>
        </p:spPr>
        <p:txBody>
          <a:bodyPr vert="horz" wrap="square" lIns="0" tIns="0" rIns="0" bIns="0" rtlCol="0">
            <a:noAutofit/>
          </a:bodyPr>
          <a:lstStyle/>
          <a:p>
            <a:r>
              <a:rPr lang="en-SG" sz="825" b="1" spc="113">
                <a:solidFill>
                  <a:srgbClr val="4FD1C0"/>
                </a:solidFill>
                <a:latin typeface="Calibri" panose="020F0502020204030204" pitchFamily="34" charset="0"/>
              </a:rPr>
              <a:t>EDGE AND API</a:t>
            </a:r>
          </a:p>
        </p:txBody>
      </p:sp>
      <p:sp>
        <p:nvSpPr>
          <p:cNvPr id="11" name="Web container">
            <a:extLst>
              <a:ext uri="{FF2B5EF4-FFF2-40B4-BE49-F238E27FC236}">
                <a16:creationId xmlns:a16="http://schemas.microsoft.com/office/drawing/2014/main" id="{ED3F4F7F-894B-6972-397B-32374B96ED5E}"/>
              </a:ext>
            </a:extLst>
          </p:cNvPr>
          <p:cNvSpPr/>
          <p:nvPr/>
        </p:nvSpPr>
        <p:spPr>
          <a:xfrm>
            <a:off x="457200" y="1524000"/>
            <a:ext cx="2438400" cy="704850"/>
          </a:xfrm>
          <a:prstGeom prst="roundRect">
            <a:avLst>
              <a:gd name="adj" fmla="val 10811"/>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 name="Web container title">
            <a:extLst>
              <a:ext uri="{FF2B5EF4-FFF2-40B4-BE49-F238E27FC236}">
                <a16:creationId xmlns:a16="http://schemas.microsoft.com/office/drawing/2014/main" id="{C8BC41CE-7602-213F-33D8-BDD55A8A0CF5}"/>
              </a:ext>
            </a:extLst>
          </p:cNvPr>
          <p:cNvSpPr txBox="1"/>
          <p:nvPr/>
        </p:nvSpPr>
        <p:spPr>
          <a:xfrm>
            <a:off x="590550" y="1619249"/>
            <a:ext cx="2114550" cy="209550"/>
          </a:xfrm>
          <a:prstGeom prst="rect">
            <a:avLst/>
          </a:prstGeom>
          <a:noFill/>
        </p:spPr>
        <p:txBody>
          <a:bodyPr vert="horz" wrap="square" lIns="0" tIns="0" rIns="0" bIns="0" rtlCol="0">
            <a:noAutofit/>
          </a:bodyPr>
          <a:lstStyle/>
          <a:p>
            <a:r>
              <a:rPr lang="en-SG" sz="1163" b="1" dirty="0" err="1">
                <a:solidFill>
                  <a:srgbClr val="F3F6F8"/>
                </a:solidFill>
                <a:latin typeface="Calibri" panose="020F0502020204030204" pitchFamily="34" charset="0"/>
              </a:rPr>
              <a:t>cmev</a:t>
            </a:r>
            <a:r>
              <a:rPr lang="en-SG" sz="1163" b="1" dirty="0">
                <a:solidFill>
                  <a:srgbClr val="F3F6F8"/>
                </a:solidFill>
                <a:latin typeface="Calibri" panose="020F0502020204030204" pitchFamily="34" charset="0"/>
              </a:rPr>
              <a:t>-web</a:t>
            </a:r>
          </a:p>
        </p:txBody>
      </p:sp>
      <p:sp>
        <p:nvSpPr>
          <p:cNvPr id="13" name="Web container detail">
            <a:extLst>
              <a:ext uri="{FF2B5EF4-FFF2-40B4-BE49-F238E27FC236}">
                <a16:creationId xmlns:a16="http://schemas.microsoft.com/office/drawing/2014/main" id="{A5782A78-EA9E-D10F-F6C0-3757034B21ED}"/>
              </a:ext>
            </a:extLst>
          </p:cNvPr>
          <p:cNvSpPr txBox="1"/>
          <p:nvPr/>
        </p:nvSpPr>
        <p:spPr>
          <a:xfrm>
            <a:off x="590550" y="1866899"/>
            <a:ext cx="2171700" cy="304800"/>
          </a:xfrm>
          <a:prstGeom prst="rect">
            <a:avLst/>
          </a:prstGeom>
          <a:noFill/>
        </p:spPr>
        <p:txBody>
          <a:bodyPr vert="horz" wrap="square" lIns="0" tIns="0" rIns="0" bIns="0" rtlCol="0">
            <a:noAutofit/>
          </a:bodyPr>
          <a:lstStyle/>
          <a:p>
            <a:r>
              <a:rPr lang="en-SG" sz="938">
                <a:solidFill>
                  <a:srgbClr val="B3C3CE"/>
                </a:solidFill>
                <a:latin typeface="Calibri" panose="020F0502020204030204" pitchFamily="34" charset="0"/>
              </a:rPr>
              <a:t>React / TypeScript / nginx</a:t>
            </a:r>
          </a:p>
        </p:txBody>
      </p:sp>
      <p:sp>
        <p:nvSpPr>
          <p:cNvPr id="14" name="API container">
            <a:extLst>
              <a:ext uri="{FF2B5EF4-FFF2-40B4-BE49-F238E27FC236}">
                <a16:creationId xmlns:a16="http://schemas.microsoft.com/office/drawing/2014/main" id="{2CBF629C-5006-C2C4-A90B-D16A3A1C517C}"/>
              </a:ext>
            </a:extLst>
          </p:cNvPr>
          <p:cNvSpPr/>
          <p:nvPr/>
        </p:nvSpPr>
        <p:spPr>
          <a:xfrm>
            <a:off x="3162300" y="1524000"/>
            <a:ext cx="2438400" cy="704850"/>
          </a:xfrm>
          <a:prstGeom prst="roundRect">
            <a:avLst>
              <a:gd name="adj" fmla="val 10811"/>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5" name="API container chip">
            <a:extLst>
              <a:ext uri="{FF2B5EF4-FFF2-40B4-BE49-F238E27FC236}">
                <a16:creationId xmlns:a16="http://schemas.microsoft.com/office/drawing/2014/main" id="{9EAC4040-81CE-7748-1917-EF51D9B5A969}"/>
              </a:ext>
            </a:extLst>
          </p:cNvPr>
          <p:cNvSpPr/>
          <p:nvPr/>
        </p:nvSpPr>
        <p:spPr>
          <a:xfrm>
            <a:off x="5238750" y="1628775"/>
            <a:ext cx="247650" cy="171450"/>
          </a:xfrm>
          <a:prstGeom prst="roundRect">
            <a:avLst>
              <a:gd name="adj" fmla="val 50000"/>
            </a:avLst>
          </a:prstGeom>
          <a:solidFill>
            <a:srgbClr val="0A1520">
              <a:alpha val="60000"/>
            </a:srgbClr>
          </a:solidFill>
          <a:ln w="12700">
            <a:solidFill>
              <a:srgbClr val="4FD1C0"/>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4FD1C0"/>
                </a:solidFill>
                <a:latin typeface="Calibri" panose="020F0502020204030204" pitchFamily="34" charset="0"/>
              </a:rPr>
              <a:t>M9</a:t>
            </a:r>
          </a:p>
        </p:txBody>
      </p:sp>
      <p:sp>
        <p:nvSpPr>
          <p:cNvPr id="16" name="API container title">
            <a:extLst>
              <a:ext uri="{FF2B5EF4-FFF2-40B4-BE49-F238E27FC236}">
                <a16:creationId xmlns:a16="http://schemas.microsoft.com/office/drawing/2014/main" id="{6AA90A5C-C062-0BCB-17BC-4B2508272864}"/>
              </a:ext>
            </a:extLst>
          </p:cNvPr>
          <p:cNvSpPr txBox="1"/>
          <p:nvPr/>
        </p:nvSpPr>
        <p:spPr>
          <a:xfrm>
            <a:off x="3295650" y="1619249"/>
            <a:ext cx="1866900" cy="209550"/>
          </a:xfrm>
          <a:prstGeom prst="rect">
            <a:avLst/>
          </a:prstGeom>
          <a:noFill/>
        </p:spPr>
        <p:txBody>
          <a:bodyPr vert="horz" wrap="square" lIns="0" tIns="0" rIns="0" bIns="0" rtlCol="0">
            <a:noAutofit/>
          </a:bodyPr>
          <a:lstStyle/>
          <a:p>
            <a:r>
              <a:rPr lang="en-SG" sz="1163" b="1" dirty="0" err="1">
                <a:solidFill>
                  <a:srgbClr val="F3F6F8"/>
                </a:solidFill>
                <a:latin typeface="Calibri" panose="020F0502020204030204" pitchFamily="34" charset="0"/>
              </a:rPr>
              <a:t>cmev-api</a:t>
            </a:r>
            <a:endParaRPr lang="en-SG" sz="1163" b="1" dirty="0">
              <a:solidFill>
                <a:srgbClr val="F3F6F8"/>
              </a:solidFill>
              <a:latin typeface="Calibri" panose="020F0502020204030204" pitchFamily="34" charset="0"/>
            </a:endParaRPr>
          </a:p>
        </p:txBody>
      </p:sp>
      <p:sp>
        <p:nvSpPr>
          <p:cNvPr id="17" name="API container detail">
            <a:extLst>
              <a:ext uri="{FF2B5EF4-FFF2-40B4-BE49-F238E27FC236}">
                <a16:creationId xmlns:a16="http://schemas.microsoft.com/office/drawing/2014/main" id="{B5487D56-11D0-684E-6B99-5FE0B1571571}"/>
              </a:ext>
            </a:extLst>
          </p:cNvPr>
          <p:cNvSpPr txBox="1"/>
          <p:nvPr/>
        </p:nvSpPr>
        <p:spPr>
          <a:xfrm>
            <a:off x="3295650" y="1866899"/>
            <a:ext cx="2171700" cy="304800"/>
          </a:xfrm>
          <a:prstGeom prst="rect">
            <a:avLst/>
          </a:prstGeom>
          <a:noFill/>
        </p:spPr>
        <p:txBody>
          <a:bodyPr vert="horz" wrap="square" lIns="0" tIns="0" rIns="0" bIns="0" rtlCol="0">
            <a:noAutofit/>
          </a:bodyPr>
          <a:lstStyle/>
          <a:p>
            <a:r>
              <a:rPr lang="en-SG" sz="938">
                <a:solidFill>
                  <a:srgbClr val="B3C3CE"/>
                </a:solidFill>
                <a:latin typeface="Calibri" panose="020F0502020204030204" pitchFamily="34" charset="0"/>
              </a:rPr>
              <a:t>FastAPI, review actions, print</a:t>
            </a:r>
          </a:p>
        </p:txBody>
      </p:sp>
      <p:sp>
        <p:nvSpPr>
          <p:cNvPr id="18" name="Broker container">
            <a:extLst>
              <a:ext uri="{FF2B5EF4-FFF2-40B4-BE49-F238E27FC236}">
                <a16:creationId xmlns:a16="http://schemas.microsoft.com/office/drawing/2014/main" id="{ED087674-4F6C-7083-8BEC-8DF6F784843A}"/>
              </a:ext>
            </a:extLst>
          </p:cNvPr>
          <p:cNvSpPr/>
          <p:nvPr/>
        </p:nvSpPr>
        <p:spPr>
          <a:xfrm>
            <a:off x="5867400" y="1524000"/>
            <a:ext cx="2438400" cy="704850"/>
          </a:xfrm>
          <a:prstGeom prst="roundRect">
            <a:avLst>
              <a:gd name="adj" fmla="val 10811"/>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 name="Broker container title">
            <a:extLst>
              <a:ext uri="{FF2B5EF4-FFF2-40B4-BE49-F238E27FC236}">
                <a16:creationId xmlns:a16="http://schemas.microsoft.com/office/drawing/2014/main" id="{9EFE98CA-3E99-0232-6085-F6621D4FE76F}"/>
              </a:ext>
            </a:extLst>
          </p:cNvPr>
          <p:cNvSpPr txBox="1"/>
          <p:nvPr/>
        </p:nvSpPr>
        <p:spPr>
          <a:xfrm>
            <a:off x="6000750" y="1619249"/>
            <a:ext cx="2114550"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cmev-kafka</a:t>
            </a:r>
          </a:p>
        </p:txBody>
      </p:sp>
      <p:sp>
        <p:nvSpPr>
          <p:cNvPr id="20" name="Broker container detail">
            <a:extLst>
              <a:ext uri="{FF2B5EF4-FFF2-40B4-BE49-F238E27FC236}">
                <a16:creationId xmlns:a16="http://schemas.microsoft.com/office/drawing/2014/main" id="{C4D4333B-D053-20CB-8051-686EA45CC195}"/>
              </a:ext>
            </a:extLst>
          </p:cNvPr>
          <p:cNvSpPr txBox="1"/>
          <p:nvPr/>
        </p:nvSpPr>
        <p:spPr>
          <a:xfrm>
            <a:off x="6000750" y="1866899"/>
            <a:ext cx="2171700" cy="304800"/>
          </a:xfrm>
          <a:prstGeom prst="rect">
            <a:avLst/>
          </a:prstGeom>
          <a:noFill/>
        </p:spPr>
        <p:txBody>
          <a:bodyPr vert="horz" wrap="square" lIns="0" tIns="0" rIns="0" bIns="0" rtlCol="0">
            <a:noAutofit/>
          </a:bodyPr>
          <a:lstStyle/>
          <a:p>
            <a:r>
              <a:rPr lang="en-SG" sz="938">
                <a:solidFill>
                  <a:srgbClr val="B3C3CE"/>
                </a:solidFill>
                <a:latin typeface="Calibri" panose="020F0502020204030204" pitchFamily="34" charset="0"/>
              </a:rPr>
              <a:t>Redpanda / Kafka event bus</a:t>
            </a:r>
          </a:p>
        </p:txBody>
      </p:sp>
      <p:cxnSp>
        <p:nvCxnSpPr>
          <p:cNvPr id="21" name="Web to API">
            <a:extLst>
              <a:ext uri="{FF2B5EF4-FFF2-40B4-BE49-F238E27FC236}">
                <a16:creationId xmlns:a16="http://schemas.microsoft.com/office/drawing/2014/main" id="{AAF59FAF-6564-CF97-5EB5-0616F062A6E5}"/>
              </a:ext>
            </a:extLst>
          </p:cNvPr>
          <p:cNvCxnSpPr/>
          <p:nvPr/>
        </p:nvCxnSpPr>
        <p:spPr>
          <a:xfrm>
            <a:off x="2895600" y="1876425"/>
            <a:ext cx="266700" cy="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PI to Kafka">
            <a:extLst>
              <a:ext uri="{FF2B5EF4-FFF2-40B4-BE49-F238E27FC236}">
                <a16:creationId xmlns:a16="http://schemas.microsoft.com/office/drawing/2014/main" id="{D2A681E8-317B-06C4-E6E1-EDAF21F1F59A}"/>
              </a:ext>
            </a:extLst>
          </p:cNvPr>
          <p:cNvCxnSpPr/>
          <p:nvPr/>
        </p:nvCxnSpPr>
        <p:spPr>
          <a:xfrm>
            <a:off x="5600700" y="1876425"/>
            <a:ext cx="266700" cy="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Event label">
            <a:extLst>
              <a:ext uri="{FF2B5EF4-FFF2-40B4-BE49-F238E27FC236}">
                <a16:creationId xmlns:a16="http://schemas.microsoft.com/office/drawing/2014/main" id="{CACF6C37-C08C-3694-7814-40D22C7FD34F}"/>
              </a:ext>
            </a:extLst>
          </p:cNvPr>
          <p:cNvSpPr txBox="1"/>
          <p:nvPr/>
        </p:nvSpPr>
        <p:spPr>
          <a:xfrm>
            <a:off x="457200" y="2419350"/>
            <a:ext cx="5334000" cy="152400"/>
          </a:xfrm>
          <a:prstGeom prst="rect">
            <a:avLst/>
          </a:prstGeom>
          <a:noFill/>
        </p:spPr>
        <p:txBody>
          <a:bodyPr vert="horz" wrap="square" lIns="0" tIns="0" rIns="0" bIns="0" rtlCol="0">
            <a:noAutofit/>
          </a:bodyPr>
          <a:lstStyle/>
          <a:p>
            <a:r>
              <a:rPr lang="en-US" sz="825" b="1" spc="113">
                <a:solidFill>
                  <a:srgbClr val="4FD1C0"/>
                </a:solidFill>
                <a:latin typeface="Calibri" panose="020F0502020204030204" pitchFamily="34" charset="0"/>
              </a:rPr>
              <a:t>EVENT PROCESSING  ·  COMMANDS AND COMPLETION EVENTS</a:t>
            </a:r>
            <a:endParaRPr lang="en-SG" sz="825" b="1" spc="113">
              <a:solidFill>
                <a:srgbClr val="4FD1C0"/>
              </a:solidFill>
              <a:latin typeface="Calibri" panose="020F0502020204030204" pitchFamily="34" charset="0"/>
            </a:endParaRPr>
          </a:p>
        </p:txBody>
      </p:sp>
      <p:cxnSp>
        <p:nvCxnSpPr>
          <p:cNvPr id="24" name="Broker to bus">
            <a:extLst>
              <a:ext uri="{FF2B5EF4-FFF2-40B4-BE49-F238E27FC236}">
                <a16:creationId xmlns:a16="http://schemas.microsoft.com/office/drawing/2014/main" id="{7214FE29-797A-5457-969A-6D02759E53AA}"/>
              </a:ext>
            </a:extLst>
          </p:cNvPr>
          <p:cNvCxnSpPr/>
          <p:nvPr/>
        </p:nvCxnSpPr>
        <p:spPr>
          <a:xfrm>
            <a:off x="7086600" y="2228850"/>
            <a:ext cx="0" cy="457200"/>
          </a:xfrm>
          <a:prstGeom prst="straightConnector1">
            <a:avLst/>
          </a:prstGeom>
          <a:ln w="2032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25" name="Event bus">
            <a:extLst>
              <a:ext uri="{FF2B5EF4-FFF2-40B4-BE49-F238E27FC236}">
                <a16:creationId xmlns:a16="http://schemas.microsoft.com/office/drawing/2014/main" id="{DB9A451C-41E4-7BEA-5986-3E5BB05273DE}"/>
              </a:ext>
            </a:extLst>
          </p:cNvPr>
          <p:cNvCxnSpPr/>
          <p:nvPr/>
        </p:nvCxnSpPr>
        <p:spPr>
          <a:xfrm>
            <a:off x="1676400" y="2686050"/>
            <a:ext cx="5410200" cy="0"/>
          </a:xfrm>
          <a:prstGeom prst="straightConnector1">
            <a:avLst/>
          </a:prstGeom>
          <a:ln w="2032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26" name="Bus drop 176">
            <a:extLst>
              <a:ext uri="{FF2B5EF4-FFF2-40B4-BE49-F238E27FC236}">
                <a16:creationId xmlns:a16="http://schemas.microsoft.com/office/drawing/2014/main" id="{A637FE63-B3DD-F8EE-D42E-FF6C8B7EB08A}"/>
              </a:ext>
            </a:extLst>
          </p:cNvPr>
          <p:cNvCxnSpPr/>
          <p:nvPr/>
        </p:nvCxnSpPr>
        <p:spPr>
          <a:xfrm>
            <a:off x="1676400" y="2686050"/>
            <a:ext cx="0" cy="28575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Bus drop 460">
            <a:extLst>
              <a:ext uri="{FF2B5EF4-FFF2-40B4-BE49-F238E27FC236}">
                <a16:creationId xmlns:a16="http://schemas.microsoft.com/office/drawing/2014/main" id="{CADB4366-27D1-5C63-0209-156AECA12119}"/>
              </a:ext>
            </a:extLst>
          </p:cNvPr>
          <p:cNvCxnSpPr/>
          <p:nvPr/>
        </p:nvCxnSpPr>
        <p:spPr>
          <a:xfrm>
            <a:off x="4381500" y="2686050"/>
            <a:ext cx="0" cy="28575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Bus drop 744">
            <a:extLst>
              <a:ext uri="{FF2B5EF4-FFF2-40B4-BE49-F238E27FC236}">
                <a16:creationId xmlns:a16="http://schemas.microsoft.com/office/drawing/2014/main" id="{8DA657EF-2FBD-F522-1552-2385F703E7DF}"/>
              </a:ext>
            </a:extLst>
          </p:cNvPr>
          <p:cNvCxnSpPr/>
          <p:nvPr/>
        </p:nvCxnSpPr>
        <p:spPr>
          <a:xfrm>
            <a:off x="7086600" y="2686050"/>
            <a:ext cx="0" cy="28575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rchestrator container">
            <a:extLst>
              <a:ext uri="{FF2B5EF4-FFF2-40B4-BE49-F238E27FC236}">
                <a16:creationId xmlns:a16="http://schemas.microsoft.com/office/drawing/2014/main" id="{DE51B1F0-63BB-FCA3-60B8-4122D657D864}"/>
              </a:ext>
            </a:extLst>
          </p:cNvPr>
          <p:cNvSpPr/>
          <p:nvPr/>
        </p:nvSpPr>
        <p:spPr>
          <a:xfrm>
            <a:off x="457200" y="2971800"/>
            <a:ext cx="2438400" cy="857250"/>
          </a:xfrm>
          <a:prstGeom prst="roundRect">
            <a:avLst>
              <a:gd name="adj" fmla="val 8889"/>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0" name="Orchestrator container title">
            <a:extLst>
              <a:ext uri="{FF2B5EF4-FFF2-40B4-BE49-F238E27FC236}">
                <a16:creationId xmlns:a16="http://schemas.microsoft.com/office/drawing/2014/main" id="{D1D2F731-13BA-C471-6915-95E92D628FA0}"/>
              </a:ext>
            </a:extLst>
          </p:cNvPr>
          <p:cNvSpPr txBox="1"/>
          <p:nvPr/>
        </p:nvSpPr>
        <p:spPr>
          <a:xfrm>
            <a:off x="590550" y="3067049"/>
            <a:ext cx="2114550"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cmev-orchestrator</a:t>
            </a:r>
          </a:p>
        </p:txBody>
      </p:sp>
      <p:sp>
        <p:nvSpPr>
          <p:cNvPr id="31" name="Orchestrator container detail">
            <a:extLst>
              <a:ext uri="{FF2B5EF4-FFF2-40B4-BE49-F238E27FC236}">
                <a16:creationId xmlns:a16="http://schemas.microsoft.com/office/drawing/2014/main" id="{13824C84-B697-333A-A120-8C082D5D0AD9}"/>
              </a:ext>
            </a:extLst>
          </p:cNvPr>
          <p:cNvSpPr txBox="1"/>
          <p:nvPr/>
        </p:nvSpPr>
        <p:spPr>
          <a:xfrm>
            <a:off x="590550" y="3314699"/>
            <a:ext cx="2171700" cy="457200"/>
          </a:xfrm>
          <a:prstGeom prst="rect">
            <a:avLst/>
          </a:prstGeom>
          <a:noFill/>
        </p:spPr>
        <p:txBody>
          <a:bodyPr vert="horz" wrap="square" lIns="0" tIns="0" rIns="0" bIns="0" rtlCol="0">
            <a:noAutofit/>
          </a:bodyPr>
          <a:lstStyle/>
          <a:p>
            <a:r>
              <a:rPr lang="en-US" sz="938">
                <a:solidFill>
                  <a:srgbClr val="B3C3CE"/>
                </a:solidFill>
                <a:latin typeface="Calibri" panose="020F0502020204030204" pitchFamily="34" charset="0"/>
              </a:rPr>
              <a:t>Stage dispatch and joins
Retries and dead letters</a:t>
            </a:r>
            <a:endParaRPr lang="en-SG" sz="938">
              <a:solidFill>
                <a:srgbClr val="B3C3CE"/>
              </a:solidFill>
              <a:latin typeface="Calibri" panose="020F0502020204030204" pitchFamily="34" charset="0"/>
            </a:endParaRPr>
          </a:p>
        </p:txBody>
      </p:sp>
      <p:sp>
        <p:nvSpPr>
          <p:cNvPr id="32" name="Producer container">
            <a:extLst>
              <a:ext uri="{FF2B5EF4-FFF2-40B4-BE49-F238E27FC236}">
                <a16:creationId xmlns:a16="http://schemas.microsoft.com/office/drawing/2014/main" id="{0FCD06E1-28C1-4433-F4B0-A50A05CC5F94}"/>
              </a:ext>
            </a:extLst>
          </p:cNvPr>
          <p:cNvSpPr/>
          <p:nvPr/>
        </p:nvSpPr>
        <p:spPr>
          <a:xfrm>
            <a:off x="3162300" y="2971800"/>
            <a:ext cx="2438400" cy="857250"/>
          </a:xfrm>
          <a:prstGeom prst="roundRect">
            <a:avLst>
              <a:gd name="adj" fmla="val 8889"/>
            </a:avLst>
          </a:prstGeom>
          <a:solidFill>
            <a:srgbClr val="0F2231">
              <a:alpha val="82000"/>
            </a:srgbClr>
          </a:solidFill>
          <a:ln w="15875">
            <a:solidFill>
              <a:srgbClr val="F0C46E"/>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3" name="Producer container chip">
            <a:extLst>
              <a:ext uri="{FF2B5EF4-FFF2-40B4-BE49-F238E27FC236}">
                <a16:creationId xmlns:a16="http://schemas.microsoft.com/office/drawing/2014/main" id="{668E7A0F-B3E7-C0C2-6E45-63B9F6669301}"/>
              </a:ext>
            </a:extLst>
          </p:cNvPr>
          <p:cNvSpPr/>
          <p:nvPr/>
        </p:nvSpPr>
        <p:spPr>
          <a:xfrm>
            <a:off x="5038725" y="3076575"/>
            <a:ext cx="447675" cy="171450"/>
          </a:xfrm>
          <a:prstGeom prst="roundRect">
            <a:avLst>
              <a:gd name="adj" fmla="val 50000"/>
            </a:avLst>
          </a:prstGeom>
          <a:solidFill>
            <a:srgbClr val="0A1520">
              <a:alpha val="60000"/>
            </a:srgbClr>
          </a:solidFill>
          <a:ln w="12700">
            <a:solidFill>
              <a:srgbClr val="F0C46E"/>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F0C46E"/>
                </a:solidFill>
                <a:latin typeface="Calibri" panose="020F0502020204030204" pitchFamily="34" charset="0"/>
              </a:rPr>
              <a:t>M1–M6</a:t>
            </a:r>
          </a:p>
        </p:txBody>
      </p:sp>
      <p:sp>
        <p:nvSpPr>
          <p:cNvPr id="34" name="Producer container title">
            <a:extLst>
              <a:ext uri="{FF2B5EF4-FFF2-40B4-BE49-F238E27FC236}">
                <a16:creationId xmlns:a16="http://schemas.microsoft.com/office/drawing/2014/main" id="{6AF98BEA-C74B-F36F-CF1E-3499C1F1CAA7}"/>
              </a:ext>
            </a:extLst>
          </p:cNvPr>
          <p:cNvSpPr txBox="1"/>
          <p:nvPr/>
        </p:nvSpPr>
        <p:spPr>
          <a:xfrm>
            <a:off x="3295650" y="3067049"/>
            <a:ext cx="1666875"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cmev-worker-producers</a:t>
            </a:r>
          </a:p>
        </p:txBody>
      </p:sp>
      <p:sp>
        <p:nvSpPr>
          <p:cNvPr id="35" name="Producer container detail">
            <a:extLst>
              <a:ext uri="{FF2B5EF4-FFF2-40B4-BE49-F238E27FC236}">
                <a16:creationId xmlns:a16="http://schemas.microsoft.com/office/drawing/2014/main" id="{1CFFD278-D9ED-C3B5-46DB-2EBA6C1375FF}"/>
              </a:ext>
            </a:extLst>
          </p:cNvPr>
          <p:cNvSpPr txBox="1"/>
          <p:nvPr/>
        </p:nvSpPr>
        <p:spPr>
          <a:xfrm>
            <a:off x="3295650" y="3314699"/>
            <a:ext cx="2171700" cy="457200"/>
          </a:xfrm>
          <a:prstGeom prst="rect">
            <a:avLst/>
          </a:prstGeom>
          <a:noFill/>
        </p:spPr>
        <p:txBody>
          <a:bodyPr vert="horz" wrap="square" lIns="0" tIns="0" rIns="0" bIns="0" rtlCol="0">
            <a:noAutofit/>
          </a:bodyPr>
          <a:lstStyle/>
          <a:p>
            <a:r>
              <a:rPr lang="en-US" sz="938">
                <a:solidFill>
                  <a:srgbClr val="B3C3CE"/>
                </a:solidFill>
                <a:latin typeface="Calibri" panose="020F0502020204030204" pitchFamily="34" charset="0"/>
              </a:rPr>
              <a:t>Fixture outputs for all six stages
Image and document branches</a:t>
            </a:r>
            <a:endParaRPr lang="en-SG" sz="938">
              <a:solidFill>
                <a:srgbClr val="B3C3CE"/>
              </a:solidFill>
              <a:latin typeface="Calibri" panose="020F0502020204030204" pitchFamily="34" charset="0"/>
            </a:endParaRPr>
          </a:p>
        </p:txBody>
      </p:sp>
      <p:sp>
        <p:nvSpPr>
          <p:cNvPr id="36" name="Consolidator container">
            <a:extLst>
              <a:ext uri="{FF2B5EF4-FFF2-40B4-BE49-F238E27FC236}">
                <a16:creationId xmlns:a16="http://schemas.microsoft.com/office/drawing/2014/main" id="{E9305E0F-251F-FF28-78BC-2DA110307072}"/>
              </a:ext>
            </a:extLst>
          </p:cNvPr>
          <p:cNvSpPr/>
          <p:nvPr/>
        </p:nvSpPr>
        <p:spPr>
          <a:xfrm>
            <a:off x="5867400" y="2971800"/>
            <a:ext cx="2438400" cy="857250"/>
          </a:xfrm>
          <a:prstGeom prst="roundRect">
            <a:avLst>
              <a:gd name="adj" fmla="val 8889"/>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7" name="Consolidator container chip">
            <a:extLst>
              <a:ext uri="{FF2B5EF4-FFF2-40B4-BE49-F238E27FC236}">
                <a16:creationId xmlns:a16="http://schemas.microsoft.com/office/drawing/2014/main" id="{7DF7AA12-7DBB-2E65-AAF5-C27039E5B3B8}"/>
              </a:ext>
            </a:extLst>
          </p:cNvPr>
          <p:cNvSpPr/>
          <p:nvPr/>
        </p:nvSpPr>
        <p:spPr>
          <a:xfrm>
            <a:off x="7943850" y="3076575"/>
            <a:ext cx="247650" cy="171450"/>
          </a:xfrm>
          <a:prstGeom prst="roundRect">
            <a:avLst>
              <a:gd name="adj" fmla="val 50000"/>
            </a:avLst>
          </a:prstGeom>
          <a:solidFill>
            <a:srgbClr val="0A1520">
              <a:alpha val="60000"/>
            </a:srgbClr>
          </a:solidFill>
          <a:ln w="12700">
            <a:solidFill>
              <a:srgbClr val="4FD1C0"/>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4FD1C0"/>
                </a:solidFill>
                <a:latin typeface="Calibri" panose="020F0502020204030204" pitchFamily="34" charset="0"/>
              </a:rPr>
              <a:t>M8</a:t>
            </a:r>
          </a:p>
        </p:txBody>
      </p:sp>
      <p:sp>
        <p:nvSpPr>
          <p:cNvPr id="38" name="Consolidator container title">
            <a:extLst>
              <a:ext uri="{FF2B5EF4-FFF2-40B4-BE49-F238E27FC236}">
                <a16:creationId xmlns:a16="http://schemas.microsoft.com/office/drawing/2014/main" id="{DCBFD882-EBFD-664A-6BE7-0FE9B45C3D5E}"/>
              </a:ext>
            </a:extLst>
          </p:cNvPr>
          <p:cNvSpPr txBox="1"/>
          <p:nvPr/>
        </p:nvSpPr>
        <p:spPr>
          <a:xfrm>
            <a:off x="6000750" y="3067049"/>
            <a:ext cx="1866900"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cmev-consolidator</a:t>
            </a:r>
          </a:p>
        </p:txBody>
      </p:sp>
      <p:sp>
        <p:nvSpPr>
          <p:cNvPr id="39" name="Consolidator container detail">
            <a:extLst>
              <a:ext uri="{FF2B5EF4-FFF2-40B4-BE49-F238E27FC236}">
                <a16:creationId xmlns:a16="http://schemas.microsoft.com/office/drawing/2014/main" id="{0C485847-3FE5-076A-3DEB-F1604704D264}"/>
              </a:ext>
            </a:extLst>
          </p:cNvPr>
          <p:cNvSpPr txBox="1"/>
          <p:nvPr/>
        </p:nvSpPr>
        <p:spPr>
          <a:xfrm>
            <a:off x="6000750" y="3314699"/>
            <a:ext cx="2171700" cy="457200"/>
          </a:xfrm>
          <a:prstGeom prst="rect">
            <a:avLst/>
          </a:prstGeom>
          <a:noFill/>
        </p:spPr>
        <p:txBody>
          <a:bodyPr vert="horz" wrap="square" lIns="0" tIns="0" rIns="0" bIns="0" rtlCol="0">
            <a:noAutofit/>
          </a:bodyPr>
          <a:lstStyle/>
          <a:p>
            <a:r>
              <a:rPr lang="en-US" sz="938">
                <a:solidFill>
                  <a:srgbClr val="B3C3CE"/>
                </a:solidFill>
                <a:latin typeface="Calibri" panose="020F0502020204030204" pitchFamily="34" charset="0"/>
              </a:rPr>
              <a:t>Deterministic findings
Pinned cost-table lookup</a:t>
            </a:r>
            <a:endParaRPr lang="en-SG" sz="938">
              <a:solidFill>
                <a:srgbClr val="B3C3CE"/>
              </a:solidFill>
              <a:latin typeface="Calibri" panose="020F0502020204030204" pitchFamily="34" charset="0"/>
            </a:endParaRPr>
          </a:p>
        </p:txBody>
      </p:sp>
      <p:sp>
        <p:nvSpPr>
          <p:cNvPr id="40" name="State label">
            <a:extLst>
              <a:ext uri="{FF2B5EF4-FFF2-40B4-BE49-F238E27FC236}">
                <a16:creationId xmlns:a16="http://schemas.microsoft.com/office/drawing/2014/main" id="{78F5FFA2-03E1-916A-761E-0EFB0E995A56}"/>
              </a:ext>
            </a:extLst>
          </p:cNvPr>
          <p:cNvSpPr txBox="1"/>
          <p:nvPr/>
        </p:nvSpPr>
        <p:spPr>
          <a:xfrm>
            <a:off x="457200" y="4057650"/>
            <a:ext cx="5334000" cy="152400"/>
          </a:xfrm>
          <a:prstGeom prst="rect">
            <a:avLst/>
          </a:prstGeom>
          <a:noFill/>
        </p:spPr>
        <p:txBody>
          <a:bodyPr vert="horz" wrap="square" lIns="0" tIns="0" rIns="0" bIns="0" rtlCol="0">
            <a:noAutofit/>
          </a:bodyPr>
          <a:lstStyle/>
          <a:p>
            <a:r>
              <a:rPr lang="en-US" sz="825" b="1" spc="113">
                <a:solidFill>
                  <a:srgbClr val="7AB6EA"/>
                </a:solidFill>
                <a:latin typeface="Calibri" panose="020F0502020204030204" pitchFamily="34" charset="0"/>
              </a:rPr>
              <a:t>SHARED STATE  ·  USED BY THE API AND EVERY WORKER</a:t>
            </a:r>
            <a:endParaRPr lang="en-SG" sz="825" b="1" spc="113">
              <a:solidFill>
                <a:srgbClr val="7AB6EA"/>
              </a:solidFill>
              <a:latin typeface="Calibri" panose="020F0502020204030204" pitchFamily="34" charset="0"/>
            </a:endParaRPr>
          </a:p>
        </p:txBody>
      </p:sp>
      <p:sp>
        <p:nvSpPr>
          <p:cNvPr id="41" name="Database container">
            <a:extLst>
              <a:ext uri="{FF2B5EF4-FFF2-40B4-BE49-F238E27FC236}">
                <a16:creationId xmlns:a16="http://schemas.microsoft.com/office/drawing/2014/main" id="{292AEB6D-DE7C-174D-4D42-F2DDB10C5F8B}"/>
              </a:ext>
            </a:extLst>
          </p:cNvPr>
          <p:cNvSpPr/>
          <p:nvPr/>
        </p:nvSpPr>
        <p:spPr>
          <a:xfrm>
            <a:off x="457200" y="4248150"/>
            <a:ext cx="2438400" cy="857250"/>
          </a:xfrm>
          <a:prstGeom prst="roundRect">
            <a:avLst>
              <a:gd name="adj" fmla="val 8889"/>
            </a:avLst>
          </a:prstGeom>
          <a:solidFill>
            <a:srgbClr val="0F2231">
              <a:alpha val="82000"/>
            </a:srgbClr>
          </a:solidFill>
          <a:ln w="15875">
            <a:solidFill>
              <a:srgbClr val="7AB6EA"/>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42" name="Database container title">
            <a:extLst>
              <a:ext uri="{FF2B5EF4-FFF2-40B4-BE49-F238E27FC236}">
                <a16:creationId xmlns:a16="http://schemas.microsoft.com/office/drawing/2014/main" id="{C0A83466-2B51-680E-C17F-3B25B0777FFB}"/>
              </a:ext>
            </a:extLst>
          </p:cNvPr>
          <p:cNvSpPr txBox="1"/>
          <p:nvPr/>
        </p:nvSpPr>
        <p:spPr>
          <a:xfrm>
            <a:off x="590550" y="4343399"/>
            <a:ext cx="2114550"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cmev-db</a:t>
            </a:r>
          </a:p>
        </p:txBody>
      </p:sp>
      <p:sp>
        <p:nvSpPr>
          <p:cNvPr id="43" name="Database container detail">
            <a:extLst>
              <a:ext uri="{FF2B5EF4-FFF2-40B4-BE49-F238E27FC236}">
                <a16:creationId xmlns:a16="http://schemas.microsoft.com/office/drawing/2014/main" id="{3B2D9B3B-835C-1D0F-8461-7E1DDE354B68}"/>
              </a:ext>
            </a:extLst>
          </p:cNvPr>
          <p:cNvSpPr txBox="1"/>
          <p:nvPr/>
        </p:nvSpPr>
        <p:spPr>
          <a:xfrm>
            <a:off x="590550" y="4591049"/>
            <a:ext cx="2171700" cy="457200"/>
          </a:xfrm>
          <a:prstGeom prst="rect">
            <a:avLst/>
          </a:prstGeom>
          <a:noFill/>
        </p:spPr>
        <p:txBody>
          <a:bodyPr vert="horz" wrap="square" lIns="0" tIns="0" rIns="0" bIns="0" rtlCol="0">
            <a:noAutofit/>
          </a:bodyPr>
          <a:lstStyle/>
          <a:p>
            <a:r>
              <a:rPr lang="en-SG" sz="938">
                <a:solidFill>
                  <a:srgbClr val="B3C3CE"/>
                </a:solidFill>
                <a:latin typeface="Calibri" panose="020F0502020204030204" pitchFamily="34" charset="0"/>
              </a:rPr>
              <a:t>PostgreSQL 16
Claims, revisions, results</a:t>
            </a:r>
          </a:p>
        </p:txBody>
      </p:sp>
      <p:sp>
        <p:nvSpPr>
          <p:cNvPr id="44" name="Object store container">
            <a:extLst>
              <a:ext uri="{FF2B5EF4-FFF2-40B4-BE49-F238E27FC236}">
                <a16:creationId xmlns:a16="http://schemas.microsoft.com/office/drawing/2014/main" id="{7B4DFECC-E2F8-4923-67C0-2CBAA4FC5A7F}"/>
              </a:ext>
            </a:extLst>
          </p:cNvPr>
          <p:cNvSpPr/>
          <p:nvPr/>
        </p:nvSpPr>
        <p:spPr>
          <a:xfrm>
            <a:off x="3162300" y="4248150"/>
            <a:ext cx="2438400" cy="857250"/>
          </a:xfrm>
          <a:prstGeom prst="roundRect">
            <a:avLst>
              <a:gd name="adj" fmla="val 8889"/>
            </a:avLst>
          </a:prstGeom>
          <a:solidFill>
            <a:srgbClr val="0F2231">
              <a:alpha val="82000"/>
            </a:srgbClr>
          </a:solidFill>
          <a:ln w="15875">
            <a:solidFill>
              <a:srgbClr val="7AB6EA"/>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45" name="Object store container title">
            <a:extLst>
              <a:ext uri="{FF2B5EF4-FFF2-40B4-BE49-F238E27FC236}">
                <a16:creationId xmlns:a16="http://schemas.microsoft.com/office/drawing/2014/main" id="{0F8BC08C-3AA3-2546-A5CA-4D560C082D63}"/>
              </a:ext>
            </a:extLst>
          </p:cNvPr>
          <p:cNvSpPr txBox="1"/>
          <p:nvPr/>
        </p:nvSpPr>
        <p:spPr>
          <a:xfrm>
            <a:off x="3295650" y="4343399"/>
            <a:ext cx="2114550"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cmev-objectstore</a:t>
            </a:r>
          </a:p>
        </p:txBody>
      </p:sp>
      <p:sp>
        <p:nvSpPr>
          <p:cNvPr id="46" name="Object store container detail">
            <a:extLst>
              <a:ext uri="{FF2B5EF4-FFF2-40B4-BE49-F238E27FC236}">
                <a16:creationId xmlns:a16="http://schemas.microsoft.com/office/drawing/2014/main" id="{BACE987C-5E60-752E-70C2-A797B01BD629}"/>
              </a:ext>
            </a:extLst>
          </p:cNvPr>
          <p:cNvSpPr txBox="1"/>
          <p:nvPr/>
        </p:nvSpPr>
        <p:spPr>
          <a:xfrm>
            <a:off x="3295650" y="4591049"/>
            <a:ext cx="2171700" cy="457200"/>
          </a:xfrm>
          <a:prstGeom prst="rect">
            <a:avLst/>
          </a:prstGeom>
          <a:noFill/>
        </p:spPr>
        <p:txBody>
          <a:bodyPr vert="horz" wrap="square" lIns="0" tIns="0" rIns="0" bIns="0" rtlCol="0">
            <a:noAutofit/>
          </a:bodyPr>
          <a:lstStyle/>
          <a:p>
            <a:r>
              <a:rPr lang="en-SG" sz="938">
                <a:solidFill>
                  <a:srgbClr val="B3C3CE"/>
                </a:solidFill>
                <a:latin typeface="Calibri" panose="020F0502020204030204" pitchFamily="34" charset="0"/>
              </a:rPr>
              <a:t>MinIO (S3 API)
Original evidence files</a:t>
            </a:r>
          </a:p>
        </p:txBody>
      </p:sp>
      <p:sp>
        <p:nvSpPr>
          <p:cNvPr id="47" name="Cost bootstrap container">
            <a:extLst>
              <a:ext uri="{FF2B5EF4-FFF2-40B4-BE49-F238E27FC236}">
                <a16:creationId xmlns:a16="http://schemas.microsoft.com/office/drawing/2014/main" id="{D1E2B024-F648-6072-5AA6-D27D6415D126}"/>
              </a:ext>
            </a:extLst>
          </p:cNvPr>
          <p:cNvSpPr/>
          <p:nvPr/>
        </p:nvSpPr>
        <p:spPr>
          <a:xfrm>
            <a:off x="5867400" y="4248150"/>
            <a:ext cx="2438400" cy="857250"/>
          </a:xfrm>
          <a:prstGeom prst="roundRect">
            <a:avLst>
              <a:gd name="adj" fmla="val 8889"/>
            </a:avLst>
          </a:prstGeom>
          <a:solidFill>
            <a:srgbClr val="0F2231">
              <a:alpha val="82000"/>
            </a:srgbClr>
          </a:solidFill>
          <a:ln w="15875">
            <a:solidFill>
              <a:srgbClr val="7AB6EA"/>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48" name="Cost bootstrap container chip">
            <a:extLst>
              <a:ext uri="{FF2B5EF4-FFF2-40B4-BE49-F238E27FC236}">
                <a16:creationId xmlns:a16="http://schemas.microsoft.com/office/drawing/2014/main" id="{580237A8-AAA6-FF62-7D32-E33AC952FD4F}"/>
              </a:ext>
            </a:extLst>
          </p:cNvPr>
          <p:cNvSpPr/>
          <p:nvPr/>
        </p:nvSpPr>
        <p:spPr>
          <a:xfrm>
            <a:off x="7943850" y="4352925"/>
            <a:ext cx="2476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M7</a:t>
            </a:r>
          </a:p>
        </p:txBody>
      </p:sp>
      <p:sp>
        <p:nvSpPr>
          <p:cNvPr id="49" name="Cost bootstrap container title">
            <a:extLst>
              <a:ext uri="{FF2B5EF4-FFF2-40B4-BE49-F238E27FC236}">
                <a16:creationId xmlns:a16="http://schemas.microsoft.com/office/drawing/2014/main" id="{97050696-588F-02D2-3C4A-7D8F002EF4E7}"/>
              </a:ext>
            </a:extLst>
          </p:cNvPr>
          <p:cNvSpPr txBox="1"/>
          <p:nvPr/>
        </p:nvSpPr>
        <p:spPr>
          <a:xfrm>
            <a:off x="6000750" y="4343399"/>
            <a:ext cx="1866900" cy="209550"/>
          </a:xfrm>
          <a:prstGeom prst="rect">
            <a:avLst/>
          </a:prstGeom>
          <a:noFill/>
        </p:spPr>
        <p:txBody>
          <a:bodyPr vert="horz" wrap="square" lIns="0" tIns="0" rIns="0" bIns="0" rtlCol="0">
            <a:noAutofit/>
          </a:bodyPr>
          <a:lstStyle/>
          <a:p>
            <a:r>
              <a:rPr lang="en-SG" sz="1163" b="1">
                <a:solidFill>
                  <a:srgbClr val="F3F6F8"/>
                </a:solidFill>
                <a:latin typeface="Calibri" panose="020F0502020204030204" pitchFamily="34" charset="0"/>
              </a:rPr>
              <a:t>cmev-cost-bootstrap</a:t>
            </a:r>
          </a:p>
        </p:txBody>
      </p:sp>
      <p:sp>
        <p:nvSpPr>
          <p:cNvPr id="50" name="Cost bootstrap container detail">
            <a:extLst>
              <a:ext uri="{FF2B5EF4-FFF2-40B4-BE49-F238E27FC236}">
                <a16:creationId xmlns:a16="http://schemas.microsoft.com/office/drawing/2014/main" id="{5A45753F-FF7D-3887-BCB1-64E4DB1A13B4}"/>
              </a:ext>
            </a:extLst>
          </p:cNvPr>
          <p:cNvSpPr txBox="1"/>
          <p:nvPr/>
        </p:nvSpPr>
        <p:spPr>
          <a:xfrm>
            <a:off x="6000750" y="4591049"/>
            <a:ext cx="2171700" cy="457200"/>
          </a:xfrm>
          <a:prstGeom prst="rect">
            <a:avLst/>
          </a:prstGeom>
          <a:noFill/>
        </p:spPr>
        <p:txBody>
          <a:bodyPr vert="horz" wrap="square" lIns="0" tIns="0" rIns="0" bIns="0" rtlCol="0">
            <a:noAutofit/>
          </a:bodyPr>
          <a:lstStyle/>
          <a:p>
            <a:r>
              <a:rPr lang="en-US" sz="938">
                <a:solidFill>
                  <a:srgbClr val="B3C3CE"/>
                </a:solidFill>
                <a:latin typeface="Calibri" panose="020F0502020204030204" pitchFamily="34" charset="0"/>
              </a:rPr>
              <a:t>One-shot offline synthetic build
Read-only cost-table volume</a:t>
            </a:r>
            <a:endParaRPr lang="en-SG" sz="938">
              <a:solidFill>
                <a:srgbClr val="B3C3CE"/>
              </a:solidFill>
              <a:latin typeface="Calibri" panose="020F0502020204030204" pitchFamily="34" charset="0"/>
            </a:endParaRPr>
          </a:p>
        </p:txBody>
      </p:sp>
      <p:cxnSp>
        <p:nvCxnSpPr>
          <p:cNvPr id="51" name="Cost to consolidator">
            <a:extLst>
              <a:ext uri="{FF2B5EF4-FFF2-40B4-BE49-F238E27FC236}">
                <a16:creationId xmlns:a16="http://schemas.microsoft.com/office/drawing/2014/main" id="{EA863706-4BF9-D843-CD3B-C751C9F0B4F8}"/>
              </a:ext>
            </a:extLst>
          </p:cNvPr>
          <p:cNvCxnSpPr/>
          <p:nvPr/>
        </p:nvCxnSpPr>
        <p:spPr>
          <a:xfrm flipV="1">
            <a:off x="7086600" y="3829050"/>
            <a:ext cx="0" cy="419100"/>
          </a:xfrm>
          <a:prstGeom prst="straightConnector1">
            <a:avLst/>
          </a:prstGeom>
          <a:ln w="20320">
            <a:solidFill>
              <a:srgbClr val="7AB6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Lean profile card">
            <a:extLst>
              <a:ext uri="{FF2B5EF4-FFF2-40B4-BE49-F238E27FC236}">
                <a16:creationId xmlns:a16="http://schemas.microsoft.com/office/drawing/2014/main" id="{C9541357-898F-DDC0-AD4E-BE86301B2279}"/>
              </a:ext>
            </a:extLst>
          </p:cNvPr>
          <p:cNvSpPr/>
          <p:nvPr/>
        </p:nvSpPr>
        <p:spPr>
          <a:xfrm>
            <a:off x="457200" y="5314950"/>
            <a:ext cx="7848600" cy="381000"/>
          </a:xfrm>
          <a:prstGeom prst="roundRect">
            <a:avLst>
              <a:gd name="adj" fmla="val 50000"/>
            </a:avLst>
          </a:prstGeom>
          <a:solidFill>
            <a:srgbClr val="0F2231">
              <a:alpha val="75000"/>
            </a:srgbClr>
          </a:solidFill>
          <a:ln w="12700">
            <a:solidFill>
              <a:srgbClr val="3E55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3" name="Lean profile chip">
            <a:extLst>
              <a:ext uri="{FF2B5EF4-FFF2-40B4-BE49-F238E27FC236}">
                <a16:creationId xmlns:a16="http://schemas.microsoft.com/office/drawing/2014/main" id="{16893D20-66D5-0E61-63C5-618A7F7643E3}"/>
              </a:ext>
            </a:extLst>
          </p:cNvPr>
          <p:cNvSpPr/>
          <p:nvPr/>
        </p:nvSpPr>
        <p:spPr>
          <a:xfrm>
            <a:off x="571500" y="5419725"/>
            <a:ext cx="990600" cy="171450"/>
          </a:xfrm>
          <a:prstGeom prst="roundRect">
            <a:avLst>
              <a:gd name="adj" fmla="val 50000"/>
            </a:avLst>
          </a:prstGeom>
          <a:solidFill>
            <a:srgbClr val="4FD1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50" b="1" spc="45">
                <a:solidFill>
                  <a:srgbClr val="0A1520"/>
                </a:solidFill>
                <a:latin typeface="Calibri" panose="020F0502020204030204" pitchFamily="34" charset="0"/>
              </a:rPr>
              <a:t>LEAN PROFILE</a:t>
            </a:r>
          </a:p>
        </p:txBody>
      </p:sp>
      <p:sp>
        <p:nvSpPr>
          <p:cNvPr id="54" name="Lean profile text">
            <a:extLst>
              <a:ext uri="{FF2B5EF4-FFF2-40B4-BE49-F238E27FC236}">
                <a16:creationId xmlns:a16="http://schemas.microsoft.com/office/drawing/2014/main" id="{48E3618B-385F-9296-D1F3-50CCCF57C8DE}"/>
              </a:ext>
            </a:extLst>
          </p:cNvPr>
          <p:cNvSpPr txBox="1"/>
          <p:nvPr/>
        </p:nvSpPr>
        <p:spPr>
          <a:xfrm>
            <a:off x="1695450" y="5419725"/>
            <a:ext cx="6477000" cy="171450"/>
          </a:xfrm>
          <a:prstGeom prst="rect">
            <a:avLst/>
          </a:prstGeom>
          <a:noFill/>
        </p:spPr>
        <p:txBody>
          <a:bodyPr vert="horz" wrap="square" lIns="0" tIns="0" rIns="0" bIns="0" rtlCol="0">
            <a:noAutofit/>
          </a:bodyPr>
          <a:lstStyle/>
          <a:p>
            <a:r>
              <a:rPr lang="en-US" sz="975">
                <a:solidFill>
                  <a:srgbClr val="F3F6F8"/>
                </a:solidFill>
                <a:latin typeface="Calibri" panose="020F0502020204030204" pitchFamily="34" charset="0"/>
              </a:rPr>
              <a:t>cmev-worker-combined runs the orchestrator, producer and consolidator roles in a single container.</a:t>
            </a:r>
            <a:endParaRPr lang="en-SG" sz="975">
              <a:solidFill>
                <a:srgbClr val="F3F6F8"/>
              </a:solidFill>
              <a:latin typeface="Calibri" panose="020F0502020204030204" pitchFamily="34" charset="0"/>
            </a:endParaRPr>
          </a:p>
        </p:txBody>
      </p:sp>
      <p:sp>
        <p:nvSpPr>
          <p:cNvPr id="55" name="Legend running">
            <a:extLst>
              <a:ext uri="{FF2B5EF4-FFF2-40B4-BE49-F238E27FC236}">
                <a16:creationId xmlns:a16="http://schemas.microsoft.com/office/drawing/2014/main" id="{8DCAF6E9-8C98-46DB-F650-C4019EC70C7C}"/>
              </a:ext>
            </a:extLst>
          </p:cNvPr>
          <p:cNvSpPr/>
          <p:nvPr/>
        </p:nvSpPr>
        <p:spPr>
          <a:xfrm>
            <a:off x="457200" y="5943600"/>
            <a:ext cx="247650" cy="133350"/>
          </a:xfrm>
          <a:prstGeom prst="roundRect">
            <a:avLst>
              <a:gd name="adj" fmla="val 21429"/>
            </a:avLst>
          </a:prstGeom>
          <a:solidFill>
            <a:srgbClr val="0F2231">
              <a:alpha val="80000"/>
            </a:srgbClr>
          </a:solidFill>
          <a:ln w="15875">
            <a:solidFill>
              <a:srgbClr val="4FD1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6" name="Legend running text">
            <a:extLst>
              <a:ext uri="{FF2B5EF4-FFF2-40B4-BE49-F238E27FC236}">
                <a16:creationId xmlns:a16="http://schemas.microsoft.com/office/drawing/2014/main" id="{B930C089-3469-E711-75CE-D271A5875FAA}"/>
              </a:ext>
            </a:extLst>
          </p:cNvPr>
          <p:cNvSpPr txBox="1"/>
          <p:nvPr/>
        </p:nvSpPr>
        <p:spPr>
          <a:xfrm>
            <a:off x="781050" y="5934075"/>
            <a:ext cx="1428750" cy="152400"/>
          </a:xfrm>
          <a:prstGeom prst="rect">
            <a:avLst/>
          </a:prstGeom>
          <a:noFill/>
        </p:spPr>
        <p:txBody>
          <a:bodyPr vert="horz" wrap="square" lIns="0" tIns="0" rIns="0" bIns="0" rtlCol="0">
            <a:noAutofit/>
          </a:bodyPr>
          <a:lstStyle/>
          <a:p>
            <a:r>
              <a:rPr lang="en-SG" sz="863">
                <a:solidFill>
                  <a:srgbClr val="B3C3CE"/>
                </a:solidFill>
                <a:latin typeface="Calibri" panose="020F0502020204030204" pitchFamily="34" charset="0"/>
              </a:rPr>
              <a:t>Running container</a:t>
            </a:r>
          </a:p>
        </p:txBody>
      </p:sp>
      <p:sp>
        <p:nvSpPr>
          <p:cNvPr id="57" name="Legend fixture">
            <a:extLst>
              <a:ext uri="{FF2B5EF4-FFF2-40B4-BE49-F238E27FC236}">
                <a16:creationId xmlns:a16="http://schemas.microsoft.com/office/drawing/2014/main" id="{62E400DF-241B-00E9-245B-B8118161FE41}"/>
              </a:ext>
            </a:extLst>
          </p:cNvPr>
          <p:cNvSpPr/>
          <p:nvPr/>
        </p:nvSpPr>
        <p:spPr>
          <a:xfrm>
            <a:off x="2171700" y="5943600"/>
            <a:ext cx="247650" cy="133350"/>
          </a:xfrm>
          <a:prstGeom prst="roundRect">
            <a:avLst>
              <a:gd name="adj" fmla="val 21429"/>
            </a:avLst>
          </a:prstGeom>
          <a:solidFill>
            <a:srgbClr val="0F2231">
              <a:alpha val="80000"/>
            </a:srgbClr>
          </a:solidFill>
          <a:ln w="15875">
            <a:solidFill>
              <a:srgbClr val="F0C4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8" name="Legend fixture text">
            <a:extLst>
              <a:ext uri="{FF2B5EF4-FFF2-40B4-BE49-F238E27FC236}">
                <a16:creationId xmlns:a16="http://schemas.microsoft.com/office/drawing/2014/main" id="{827C72F0-F9B7-E6FC-1CB6-043C43C3264E}"/>
              </a:ext>
            </a:extLst>
          </p:cNvPr>
          <p:cNvSpPr txBox="1"/>
          <p:nvPr/>
        </p:nvSpPr>
        <p:spPr>
          <a:xfrm>
            <a:off x="2495550" y="5934075"/>
            <a:ext cx="1905000" cy="152400"/>
          </a:xfrm>
          <a:prstGeom prst="rect">
            <a:avLst/>
          </a:prstGeom>
          <a:noFill/>
        </p:spPr>
        <p:txBody>
          <a:bodyPr vert="horz" wrap="square" lIns="0" tIns="0" rIns="0" bIns="0" rtlCol="0">
            <a:noAutofit/>
          </a:bodyPr>
          <a:lstStyle/>
          <a:p>
            <a:r>
              <a:rPr lang="en-SG" sz="863">
                <a:solidFill>
                  <a:srgbClr val="B3C3CE"/>
                </a:solidFill>
                <a:latin typeface="Calibri" panose="020F0502020204030204" pitchFamily="34" charset="0"/>
              </a:rPr>
              <a:t>Running with fixture outputs</a:t>
            </a:r>
          </a:p>
        </p:txBody>
      </p:sp>
      <p:sp>
        <p:nvSpPr>
          <p:cNvPr id="59" name="Legend planned">
            <a:extLst>
              <a:ext uri="{FF2B5EF4-FFF2-40B4-BE49-F238E27FC236}">
                <a16:creationId xmlns:a16="http://schemas.microsoft.com/office/drawing/2014/main" id="{7D845F81-169F-A6BC-132C-26AB3A9A1C65}"/>
              </a:ext>
            </a:extLst>
          </p:cNvPr>
          <p:cNvSpPr/>
          <p:nvPr/>
        </p:nvSpPr>
        <p:spPr>
          <a:xfrm>
            <a:off x="4362450" y="5943600"/>
            <a:ext cx="247650" cy="133350"/>
          </a:xfrm>
          <a:prstGeom prst="roundRect">
            <a:avLst>
              <a:gd name="adj" fmla="val 21429"/>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0" name="Legend planned text">
            <a:extLst>
              <a:ext uri="{FF2B5EF4-FFF2-40B4-BE49-F238E27FC236}">
                <a16:creationId xmlns:a16="http://schemas.microsoft.com/office/drawing/2014/main" id="{4323BAB5-576F-3FA3-0FAA-D0FAC7828D18}"/>
              </a:ext>
            </a:extLst>
          </p:cNvPr>
          <p:cNvSpPr txBox="1"/>
          <p:nvPr/>
        </p:nvSpPr>
        <p:spPr>
          <a:xfrm>
            <a:off x="4686300" y="5934075"/>
            <a:ext cx="1428750" cy="152400"/>
          </a:xfrm>
          <a:prstGeom prst="rect">
            <a:avLst/>
          </a:prstGeom>
          <a:noFill/>
        </p:spPr>
        <p:txBody>
          <a:bodyPr vert="horz" wrap="square" lIns="0" tIns="0" rIns="0" bIns="0" rtlCol="0">
            <a:noAutofit/>
          </a:bodyPr>
          <a:lstStyle/>
          <a:p>
            <a:r>
              <a:rPr lang="en-SG" sz="863">
                <a:solidFill>
                  <a:srgbClr val="B3C3CE"/>
                </a:solidFill>
                <a:latin typeface="Calibri" panose="020F0502020204030204" pitchFamily="34" charset="0"/>
              </a:rPr>
              <a:t>Planned container</a:t>
            </a:r>
          </a:p>
        </p:txBody>
      </p:sp>
      <p:sp>
        <p:nvSpPr>
          <p:cNvPr id="61" name="Planned panel">
            <a:extLst>
              <a:ext uri="{FF2B5EF4-FFF2-40B4-BE49-F238E27FC236}">
                <a16:creationId xmlns:a16="http://schemas.microsoft.com/office/drawing/2014/main" id="{63EDD601-ED8A-4CA6-5111-5DF9A8DB0D29}"/>
              </a:ext>
            </a:extLst>
          </p:cNvPr>
          <p:cNvSpPr/>
          <p:nvPr/>
        </p:nvSpPr>
        <p:spPr>
          <a:xfrm>
            <a:off x="8639175" y="521152"/>
            <a:ext cx="3124200" cy="5889173"/>
          </a:xfrm>
          <a:prstGeom prst="roundRect">
            <a:avLst>
              <a:gd name="adj" fmla="val 3659"/>
            </a:avLst>
          </a:prstGeom>
          <a:solidFill>
            <a:srgbClr val="0F2231">
              <a:alpha val="88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2" name="Planned label">
            <a:extLst>
              <a:ext uri="{FF2B5EF4-FFF2-40B4-BE49-F238E27FC236}">
                <a16:creationId xmlns:a16="http://schemas.microsoft.com/office/drawing/2014/main" id="{404681EA-D6B4-751D-C40D-B6439BEB3DDB}"/>
              </a:ext>
            </a:extLst>
          </p:cNvPr>
          <p:cNvSpPr txBox="1"/>
          <p:nvPr/>
        </p:nvSpPr>
        <p:spPr>
          <a:xfrm>
            <a:off x="8791575" y="790575"/>
            <a:ext cx="2667000" cy="152400"/>
          </a:xfrm>
          <a:prstGeom prst="rect">
            <a:avLst/>
          </a:prstGeom>
          <a:noFill/>
        </p:spPr>
        <p:txBody>
          <a:bodyPr vert="horz" wrap="square" lIns="0" tIns="0" rIns="0" bIns="0" rtlCol="0">
            <a:noAutofit/>
          </a:bodyPr>
          <a:lstStyle/>
          <a:p>
            <a:r>
              <a:rPr lang="en-SG" sz="825" b="1" spc="113" dirty="0">
                <a:solidFill>
                  <a:srgbClr val="F0C46E"/>
                </a:solidFill>
                <a:latin typeface="Calibri" panose="020F0502020204030204" pitchFamily="34" charset="0"/>
              </a:rPr>
              <a:t>PLANNED WORKER SPLIT</a:t>
            </a:r>
          </a:p>
        </p:txBody>
      </p:sp>
      <p:sp>
        <p:nvSpPr>
          <p:cNvPr id="63" name="Planned explanation">
            <a:extLst>
              <a:ext uri="{FF2B5EF4-FFF2-40B4-BE49-F238E27FC236}">
                <a16:creationId xmlns:a16="http://schemas.microsoft.com/office/drawing/2014/main" id="{A1BC413E-3B6F-29C2-1FAD-86A18D43D090}"/>
              </a:ext>
            </a:extLst>
          </p:cNvPr>
          <p:cNvSpPr txBox="1"/>
          <p:nvPr/>
        </p:nvSpPr>
        <p:spPr>
          <a:xfrm>
            <a:off x="8791575" y="1054552"/>
            <a:ext cx="2743200" cy="342900"/>
          </a:xfrm>
          <a:prstGeom prst="rect">
            <a:avLst/>
          </a:prstGeom>
          <a:noFill/>
        </p:spPr>
        <p:txBody>
          <a:bodyPr vert="horz" wrap="square" lIns="0" tIns="0" rIns="0" bIns="0" rtlCol="0">
            <a:noAutofit/>
          </a:bodyPr>
          <a:lstStyle/>
          <a:p>
            <a:r>
              <a:rPr lang="en-US" sz="975" dirty="0">
                <a:solidFill>
                  <a:srgbClr val="F3F6F8"/>
                </a:solidFill>
                <a:latin typeface="Calibri" panose="020F0502020204030204" pitchFamily="34" charset="0"/>
              </a:rPr>
              <a:t>Dedicated module containers replace the shared fixture producers.</a:t>
            </a:r>
            <a:endParaRPr lang="en-SG" sz="975" dirty="0">
              <a:solidFill>
                <a:srgbClr val="F3F6F8"/>
              </a:solidFill>
              <a:latin typeface="Calibri" panose="020F0502020204030204" pitchFamily="34" charset="0"/>
            </a:endParaRPr>
          </a:p>
        </p:txBody>
      </p:sp>
      <p:sp>
        <p:nvSpPr>
          <p:cNvPr id="64" name="Image branch label">
            <a:extLst>
              <a:ext uri="{FF2B5EF4-FFF2-40B4-BE49-F238E27FC236}">
                <a16:creationId xmlns:a16="http://schemas.microsoft.com/office/drawing/2014/main" id="{F8A852C7-6C2A-8424-6180-31A971DF3030}"/>
              </a:ext>
            </a:extLst>
          </p:cNvPr>
          <p:cNvSpPr txBox="1"/>
          <p:nvPr/>
        </p:nvSpPr>
        <p:spPr>
          <a:xfrm>
            <a:off x="8791575" y="1514474"/>
            <a:ext cx="2667000" cy="152400"/>
          </a:xfrm>
          <a:prstGeom prst="rect">
            <a:avLst/>
          </a:prstGeom>
          <a:noFill/>
        </p:spPr>
        <p:txBody>
          <a:bodyPr vert="horz" wrap="square" lIns="0" tIns="0" rIns="0" bIns="0" rtlCol="0">
            <a:noAutofit/>
          </a:bodyPr>
          <a:lstStyle/>
          <a:p>
            <a:r>
              <a:rPr lang="de-DE" sz="825" b="1" spc="90" dirty="0">
                <a:solidFill>
                  <a:srgbClr val="7AB6EA"/>
                </a:solidFill>
                <a:latin typeface="Calibri" panose="020F0502020204030204" pitchFamily="34" charset="0"/>
              </a:rPr>
              <a:t>IMAGE BRANCH  ·  M1 → M2 → M3</a:t>
            </a:r>
            <a:endParaRPr lang="en-SG" sz="825" b="1" spc="90" dirty="0">
              <a:solidFill>
                <a:srgbClr val="7AB6EA"/>
              </a:solidFill>
              <a:latin typeface="Calibri" panose="020F0502020204030204" pitchFamily="34" charset="0"/>
            </a:endParaRPr>
          </a:p>
        </p:txBody>
      </p:sp>
      <p:sp>
        <p:nvSpPr>
          <p:cNvPr id="65" name="Parts worker card">
            <a:extLst>
              <a:ext uri="{FF2B5EF4-FFF2-40B4-BE49-F238E27FC236}">
                <a16:creationId xmlns:a16="http://schemas.microsoft.com/office/drawing/2014/main" id="{898DA9F9-4F2D-8B15-9FDA-2159A861C116}"/>
              </a:ext>
            </a:extLst>
          </p:cNvPr>
          <p:cNvSpPr/>
          <p:nvPr/>
        </p:nvSpPr>
        <p:spPr>
          <a:xfrm>
            <a:off x="8791575" y="1724024"/>
            <a:ext cx="2743200" cy="28575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6" name="Parts worker text">
            <a:extLst>
              <a:ext uri="{FF2B5EF4-FFF2-40B4-BE49-F238E27FC236}">
                <a16:creationId xmlns:a16="http://schemas.microsoft.com/office/drawing/2014/main" id="{71FAA928-1498-17A0-CB75-4C153CCEEFCF}"/>
              </a:ext>
            </a:extLst>
          </p:cNvPr>
          <p:cNvSpPr txBox="1"/>
          <p:nvPr/>
        </p:nvSpPr>
        <p:spPr>
          <a:xfrm>
            <a:off x="8905875" y="1790699"/>
            <a:ext cx="1905000" cy="171450"/>
          </a:xfrm>
          <a:prstGeom prst="rect">
            <a:avLst/>
          </a:prstGeom>
          <a:noFill/>
        </p:spPr>
        <p:txBody>
          <a:bodyPr vert="horz" wrap="square" lIns="0" tIns="0" rIns="0" bIns="0" rtlCol="0">
            <a:noAutofit/>
          </a:bodyPr>
          <a:lstStyle/>
          <a:p>
            <a:r>
              <a:rPr lang="en-SG" sz="975" dirty="0" err="1">
                <a:solidFill>
                  <a:srgbClr val="F3F6F8"/>
                </a:solidFill>
                <a:latin typeface="Calibri" panose="020F0502020204030204" pitchFamily="34" charset="0"/>
              </a:rPr>
              <a:t>cmev</a:t>
            </a:r>
            <a:r>
              <a:rPr lang="en-SG" sz="975" dirty="0">
                <a:solidFill>
                  <a:srgbClr val="F3F6F8"/>
                </a:solidFill>
                <a:latin typeface="Calibri" panose="020F0502020204030204" pitchFamily="34" charset="0"/>
              </a:rPr>
              <a:t>-worker-parts</a:t>
            </a:r>
          </a:p>
        </p:txBody>
      </p:sp>
      <p:sp>
        <p:nvSpPr>
          <p:cNvPr id="67" name="Parts worker chip">
            <a:extLst>
              <a:ext uri="{FF2B5EF4-FFF2-40B4-BE49-F238E27FC236}">
                <a16:creationId xmlns:a16="http://schemas.microsoft.com/office/drawing/2014/main" id="{B96D42AE-1E9A-5103-82C0-6BDC9BA02D31}"/>
              </a:ext>
            </a:extLst>
          </p:cNvPr>
          <p:cNvSpPr/>
          <p:nvPr/>
        </p:nvSpPr>
        <p:spPr>
          <a:xfrm>
            <a:off x="11134725" y="1781174"/>
            <a:ext cx="2857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M1</a:t>
            </a:r>
          </a:p>
        </p:txBody>
      </p:sp>
      <p:sp>
        <p:nvSpPr>
          <p:cNvPr id="68" name="Damage worker card">
            <a:extLst>
              <a:ext uri="{FF2B5EF4-FFF2-40B4-BE49-F238E27FC236}">
                <a16:creationId xmlns:a16="http://schemas.microsoft.com/office/drawing/2014/main" id="{889F32F7-F1E2-22C0-9125-A6156BAB61BD}"/>
              </a:ext>
            </a:extLst>
          </p:cNvPr>
          <p:cNvSpPr/>
          <p:nvPr/>
        </p:nvSpPr>
        <p:spPr>
          <a:xfrm>
            <a:off x="8791575" y="2085974"/>
            <a:ext cx="2743200" cy="28575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9" name="Damage worker text">
            <a:extLst>
              <a:ext uri="{FF2B5EF4-FFF2-40B4-BE49-F238E27FC236}">
                <a16:creationId xmlns:a16="http://schemas.microsoft.com/office/drawing/2014/main" id="{B523F100-D2C2-218A-5383-D089F3749D77}"/>
              </a:ext>
            </a:extLst>
          </p:cNvPr>
          <p:cNvSpPr txBox="1"/>
          <p:nvPr/>
        </p:nvSpPr>
        <p:spPr>
          <a:xfrm>
            <a:off x="8905875" y="2152649"/>
            <a:ext cx="1905000" cy="171450"/>
          </a:xfrm>
          <a:prstGeom prst="rect">
            <a:avLst/>
          </a:prstGeom>
          <a:noFill/>
        </p:spPr>
        <p:txBody>
          <a:bodyPr vert="horz" wrap="square" lIns="0" tIns="0" rIns="0" bIns="0" rtlCol="0">
            <a:noAutofit/>
          </a:bodyPr>
          <a:lstStyle/>
          <a:p>
            <a:r>
              <a:rPr lang="en-SG" sz="975">
                <a:solidFill>
                  <a:srgbClr val="F3F6F8"/>
                </a:solidFill>
                <a:latin typeface="Calibri" panose="020F0502020204030204" pitchFamily="34" charset="0"/>
              </a:rPr>
              <a:t>cmev-worker-damage</a:t>
            </a:r>
          </a:p>
        </p:txBody>
      </p:sp>
      <p:sp>
        <p:nvSpPr>
          <p:cNvPr id="70" name="Damage worker chip">
            <a:extLst>
              <a:ext uri="{FF2B5EF4-FFF2-40B4-BE49-F238E27FC236}">
                <a16:creationId xmlns:a16="http://schemas.microsoft.com/office/drawing/2014/main" id="{48F0C2E8-B0ED-1D71-1D9B-D7436E18670E}"/>
              </a:ext>
            </a:extLst>
          </p:cNvPr>
          <p:cNvSpPr/>
          <p:nvPr/>
        </p:nvSpPr>
        <p:spPr>
          <a:xfrm>
            <a:off x="11134725" y="2143124"/>
            <a:ext cx="2857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M2</a:t>
            </a:r>
          </a:p>
        </p:txBody>
      </p:sp>
      <p:sp>
        <p:nvSpPr>
          <p:cNvPr id="71" name="Summary worker card">
            <a:extLst>
              <a:ext uri="{FF2B5EF4-FFF2-40B4-BE49-F238E27FC236}">
                <a16:creationId xmlns:a16="http://schemas.microsoft.com/office/drawing/2014/main" id="{25C93405-0628-B804-94AE-42B3BE4AEF45}"/>
              </a:ext>
            </a:extLst>
          </p:cNvPr>
          <p:cNvSpPr/>
          <p:nvPr/>
        </p:nvSpPr>
        <p:spPr>
          <a:xfrm>
            <a:off x="8791575" y="2447924"/>
            <a:ext cx="2743200" cy="28575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2" name="Summary worker text">
            <a:extLst>
              <a:ext uri="{FF2B5EF4-FFF2-40B4-BE49-F238E27FC236}">
                <a16:creationId xmlns:a16="http://schemas.microsoft.com/office/drawing/2014/main" id="{91D9F4A0-0F03-0D86-645B-DE447A62F9DA}"/>
              </a:ext>
            </a:extLst>
          </p:cNvPr>
          <p:cNvSpPr txBox="1"/>
          <p:nvPr/>
        </p:nvSpPr>
        <p:spPr>
          <a:xfrm>
            <a:off x="8905875" y="2514599"/>
            <a:ext cx="1905000" cy="171450"/>
          </a:xfrm>
          <a:prstGeom prst="rect">
            <a:avLst/>
          </a:prstGeom>
          <a:noFill/>
        </p:spPr>
        <p:txBody>
          <a:bodyPr vert="horz" wrap="square" lIns="0" tIns="0" rIns="0" bIns="0" rtlCol="0">
            <a:noAutofit/>
          </a:bodyPr>
          <a:lstStyle/>
          <a:p>
            <a:r>
              <a:rPr lang="en-SG" sz="975">
                <a:solidFill>
                  <a:srgbClr val="F3F6F8"/>
                </a:solidFill>
                <a:latin typeface="Calibri" panose="020F0502020204030204" pitchFamily="34" charset="0"/>
              </a:rPr>
              <a:t>cmev-worker-summary</a:t>
            </a:r>
          </a:p>
        </p:txBody>
      </p:sp>
      <p:sp>
        <p:nvSpPr>
          <p:cNvPr id="73" name="Summary worker chip">
            <a:extLst>
              <a:ext uri="{FF2B5EF4-FFF2-40B4-BE49-F238E27FC236}">
                <a16:creationId xmlns:a16="http://schemas.microsoft.com/office/drawing/2014/main" id="{99E1361F-0A9C-FE65-388F-9454528E2F88}"/>
              </a:ext>
            </a:extLst>
          </p:cNvPr>
          <p:cNvSpPr/>
          <p:nvPr/>
        </p:nvSpPr>
        <p:spPr>
          <a:xfrm>
            <a:off x="11134725" y="2505074"/>
            <a:ext cx="2857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M3</a:t>
            </a:r>
          </a:p>
        </p:txBody>
      </p:sp>
      <p:sp>
        <p:nvSpPr>
          <p:cNvPr id="74" name="Document branch label">
            <a:extLst>
              <a:ext uri="{FF2B5EF4-FFF2-40B4-BE49-F238E27FC236}">
                <a16:creationId xmlns:a16="http://schemas.microsoft.com/office/drawing/2014/main" id="{29B2DB9D-2F18-DACF-A3DF-358EA5FC9F1F}"/>
              </a:ext>
            </a:extLst>
          </p:cNvPr>
          <p:cNvSpPr txBox="1"/>
          <p:nvPr/>
        </p:nvSpPr>
        <p:spPr>
          <a:xfrm>
            <a:off x="8791576" y="2997653"/>
            <a:ext cx="2667000" cy="152400"/>
          </a:xfrm>
          <a:prstGeom prst="rect">
            <a:avLst/>
          </a:prstGeom>
          <a:noFill/>
        </p:spPr>
        <p:txBody>
          <a:bodyPr vert="horz" wrap="square" lIns="0" tIns="0" rIns="0" bIns="0" rtlCol="0">
            <a:noAutofit/>
          </a:bodyPr>
          <a:lstStyle/>
          <a:p>
            <a:r>
              <a:rPr lang="fr-FR" sz="825" b="1" spc="90">
                <a:solidFill>
                  <a:srgbClr val="7AB6EA"/>
                </a:solidFill>
                <a:latin typeface="Calibri" panose="020F0502020204030204" pitchFamily="34" charset="0"/>
              </a:rPr>
              <a:t>DOCUMENT BRANCH  ·  M4 → M5 → M6</a:t>
            </a:r>
            <a:endParaRPr lang="en-SG" sz="825" b="1" spc="90">
              <a:solidFill>
                <a:srgbClr val="7AB6EA"/>
              </a:solidFill>
              <a:latin typeface="Calibri" panose="020F0502020204030204" pitchFamily="34" charset="0"/>
            </a:endParaRPr>
          </a:p>
        </p:txBody>
      </p:sp>
      <p:sp>
        <p:nvSpPr>
          <p:cNvPr id="75" name="OCR worker card">
            <a:extLst>
              <a:ext uri="{FF2B5EF4-FFF2-40B4-BE49-F238E27FC236}">
                <a16:creationId xmlns:a16="http://schemas.microsoft.com/office/drawing/2014/main" id="{AE603B57-21A5-9CBC-4B93-DE62ABA889EE}"/>
              </a:ext>
            </a:extLst>
          </p:cNvPr>
          <p:cNvSpPr/>
          <p:nvPr/>
        </p:nvSpPr>
        <p:spPr>
          <a:xfrm>
            <a:off x="8791576" y="3207203"/>
            <a:ext cx="2743200" cy="28575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6" name="OCR worker text">
            <a:extLst>
              <a:ext uri="{FF2B5EF4-FFF2-40B4-BE49-F238E27FC236}">
                <a16:creationId xmlns:a16="http://schemas.microsoft.com/office/drawing/2014/main" id="{D61D68C0-DE35-21C8-4190-461A67C7F021}"/>
              </a:ext>
            </a:extLst>
          </p:cNvPr>
          <p:cNvSpPr txBox="1"/>
          <p:nvPr/>
        </p:nvSpPr>
        <p:spPr>
          <a:xfrm>
            <a:off x="8905876" y="3273878"/>
            <a:ext cx="1905000" cy="171450"/>
          </a:xfrm>
          <a:prstGeom prst="rect">
            <a:avLst/>
          </a:prstGeom>
          <a:noFill/>
        </p:spPr>
        <p:txBody>
          <a:bodyPr vert="horz" wrap="square" lIns="0" tIns="0" rIns="0" bIns="0" rtlCol="0">
            <a:noAutofit/>
          </a:bodyPr>
          <a:lstStyle/>
          <a:p>
            <a:r>
              <a:rPr lang="en-SG" sz="975">
                <a:solidFill>
                  <a:srgbClr val="F3F6F8"/>
                </a:solidFill>
                <a:latin typeface="Calibri" panose="020F0502020204030204" pitchFamily="34" charset="0"/>
              </a:rPr>
              <a:t>cmev-worker-ocr</a:t>
            </a:r>
          </a:p>
        </p:txBody>
      </p:sp>
      <p:sp>
        <p:nvSpPr>
          <p:cNvPr id="77" name="OCR worker chip">
            <a:extLst>
              <a:ext uri="{FF2B5EF4-FFF2-40B4-BE49-F238E27FC236}">
                <a16:creationId xmlns:a16="http://schemas.microsoft.com/office/drawing/2014/main" id="{DFB52096-BC04-F33B-61A2-E444EE0D7B8C}"/>
              </a:ext>
            </a:extLst>
          </p:cNvPr>
          <p:cNvSpPr/>
          <p:nvPr/>
        </p:nvSpPr>
        <p:spPr>
          <a:xfrm>
            <a:off x="11134726" y="3264353"/>
            <a:ext cx="2857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M4</a:t>
            </a:r>
          </a:p>
        </p:txBody>
      </p:sp>
      <p:sp>
        <p:nvSpPr>
          <p:cNvPr id="78" name="Line items worker card">
            <a:extLst>
              <a:ext uri="{FF2B5EF4-FFF2-40B4-BE49-F238E27FC236}">
                <a16:creationId xmlns:a16="http://schemas.microsoft.com/office/drawing/2014/main" id="{5D0F8C38-A6C8-AF32-FE5F-65E85C93A894}"/>
              </a:ext>
            </a:extLst>
          </p:cNvPr>
          <p:cNvSpPr/>
          <p:nvPr/>
        </p:nvSpPr>
        <p:spPr>
          <a:xfrm>
            <a:off x="8791576" y="3569153"/>
            <a:ext cx="2743200" cy="28575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9" name="Line items worker text">
            <a:extLst>
              <a:ext uri="{FF2B5EF4-FFF2-40B4-BE49-F238E27FC236}">
                <a16:creationId xmlns:a16="http://schemas.microsoft.com/office/drawing/2014/main" id="{8956E38D-B8B0-6F11-5EB6-EB5FDD4E41E2}"/>
              </a:ext>
            </a:extLst>
          </p:cNvPr>
          <p:cNvSpPr txBox="1"/>
          <p:nvPr/>
        </p:nvSpPr>
        <p:spPr>
          <a:xfrm>
            <a:off x="8905876" y="3635828"/>
            <a:ext cx="1905000" cy="171450"/>
          </a:xfrm>
          <a:prstGeom prst="rect">
            <a:avLst/>
          </a:prstGeom>
          <a:noFill/>
        </p:spPr>
        <p:txBody>
          <a:bodyPr vert="horz" wrap="square" lIns="0" tIns="0" rIns="0" bIns="0" rtlCol="0">
            <a:noAutofit/>
          </a:bodyPr>
          <a:lstStyle/>
          <a:p>
            <a:r>
              <a:rPr lang="en-SG" sz="975">
                <a:solidFill>
                  <a:srgbClr val="F3F6F8"/>
                </a:solidFill>
                <a:latin typeface="Calibri" panose="020F0502020204030204" pitchFamily="34" charset="0"/>
              </a:rPr>
              <a:t>cmev-worker-lineitems</a:t>
            </a:r>
          </a:p>
        </p:txBody>
      </p:sp>
      <p:sp>
        <p:nvSpPr>
          <p:cNvPr id="80" name="Line items worker chip">
            <a:extLst>
              <a:ext uri="{FF2B5EF4-FFF2-40B4-BE49-F238E27FC236}">
                <a16:creationId xmlns:a16="http://schemas.microsoft.com/office/drawing/2014/main" id="{02870DE5-8A3D-0009-4911-B9075B4CC2C3}"/>
              </a:ext>
            </a:extLst>
          </p:cNvPr>
          <p:cNvSpPr/>
          <p:nvPr/>
        </p:nvSpPr>
        <p:spPr>
          <a:xfrm>
            <a:off x="11134726" y="3626303"/>
            <a:ext cx="2857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M5</a:t>
            </a:r>
          </a:p>
        </p:txBody>
      </p:sp>
      <p:sp>
        <p:nvSpPr>
          <p:cNvPr id="81" name="Pen marks worker card">
            <a:extLst>
              <a:ext uri="{FF2B5EF4-FFF2-40B4-BE49-F238E27FC236}">
                <a16:creationId xmlns:a16="http://schemas.microsoft.com/office/drawing/2014/main" id="{D934B913-4D9B-B5EC-EEA5-9179CA7D4F5C}"/>
              </a:ext>
            </a:extLst>
          </p:cNvPr>
          <p:cNvSpPr/>
          <p:nvPr/>
        </p:nvSpPr>
        <p:spPr>
          <a:xfrm>
            <a:off x="8791576" y="3931103"/>
            <a:ext cx="2743200" cy="28575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2" name="Pen marks worker text">
            <a:extLst>
              <a:ext uri="{FF2B5EF4-FFF2-40B4-BE49-F238E27FC236}">
                <a16:creationId xmlns:a16="http://schemas.microsoft.com/office/drawing/2014/main" id="{8E54B4D7-0641-43C5-E572-A7BF47B2655D}"/>
              </a:ext>
            </a:extLst>
          </p:cNvPr>
          <p:cNvSpPr txBox="1"/>
          <p:nvPr/>
        </p:nvSpPr>
        <p:spPr>
          <a:xfrm>
            <a:off x="8905876" y="3997778"/>
            <a:ext cx="1905000" cy="171450"/>
          </a:xfrm>
          <a:prstGeom prst="rect">
            <a:avLst/>
          </a:prstGeom>
          <a:noFill/>
        </p:spPr>
        <p:txBody>
          <a:bodyPr vert="horz" wrap="square" lIns="0" tIns="0" rIns="0" bIns="0" rtlCol="0">
            <a:noAutofit/>
          </a:bodyPr>
          <a:lstStyle/>
          <a:p>
            <a:r>
              <a:rPr lang="en-SG" sz="975">
                <a:solidFill>
                  <a:srgbClr val="F3F6F8"/>
                </a:solidFill>
                <a:latin typeface="Calibri" panose="020F0502020204030204" pitchFamily="34" charset="0"/>
              </a:rPr>
              <a:t>cmev-worker-penmarks</a:t>
            </a:r>
          </a:p>
        </p:txBody>
      </p:sp>
      <p:sp>
        <p:nvSpPr>
          <p:cNvPr id="83" name="Pen marks worker chip">
            <a:extLst>
              <a:ext uri="{FF2B5EF4-FFF2-40B4-BE49-F238E27FC236}">
                <a16:creationId xmlns:a16="http://schemas.microsoft.com/office/drawing/2014/main" id="{1841532B-9B34-8A33-E9D8-24911229B2DB}"/>
              </a:ext>
            </a:extLst>
          </p:cNvPr>
          <p:cNvSpPr/>
          <p:nvPr/>
        </p:nvSpPr>
        <p:spPr>
          <a:xfrm>
            <a:off x="11134726" y="3988253"/>
            <a:ext cx="285750" cy="1714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13" b="1" spc="45">
                <a:solidFill>
                  <a:srgbClr val="7AB6EA"/>
                </a:solidFill>
                <a:latin typeface="Calibri" panose="020F0502020204030204" pitchFamily="34" charset="0"/>
              </a:rPr>
              <a:t>M6</a:t>
            </a:r>
          </a:p>
        </p:txBody>
      </p:sp>
      <p:cxnSp>
        <p:nvCxnSpPr>
          <p:cNvPr id="84" name="Registry divider">
            <a:extLst>
              <a:ext uri="{FF2B5EF4-FFF2-40B4-BE49-F238E27FC236}">
                <a16:creationId xmlns:a16="http://schemas.microsoft.com/office/drawing/2014/main" id="{990D5E40-52FB-1D31-3FAE-37614A7290A6}"/>
              </a:ext>
            </a:extLst>
          </p:cNvPr>
          <p:cNvCxnSpPr/>
          <p:nvPr/>
        </p:nvCxnSpPr>
        <p:spPr>
          <a:xfrm>
            <a:off x="8848725" y="5468710"/>
            <a:ext cx="2743200" cy="0"/>
          </a:xfrm>
          <a:prstGeom prst="straightConnector1">
            <a:avLst/>
          </a:prstGeom>
          <a:ln w="12700">
            <a:solidFill>
              <a:srgbClr val="2A3F4E"/>
            </a:solidFill>
          </a:ln>
        </p:spPr>
        <p:style>
          <a:lnRef idx="2">
            <a:schemeClr val="accent1"/>
          </a:lnRef>
          <a:fillRef idx="0">
            <a:schemeClr val="accent1"/>
          </a:fillRef>
          <a:effectRef idx="1">
            <a:schemeClr val="accent1"/>
          </a:effectRef>
          <a:fontRef idx="minor">
            <a:schemeClr val="tx1"/>
          </a:fontRef>
        </p:style>
      </p:cxnSp>
      <p:sp>
        <p:nvSpPr>
          <p:cNvPr id="85" name="Registry title">
            <a:extLst>
              <a:ext uri="{FF2B5EF4-FFF2-40B4-BE49-F238E27FC236}">
                <a16:creationId xmlns:a16="http://schemas.microsoft.com/office/drawing/2014/main" id="{F2E06521-893C-D124-CC6A-134DB6C7836E}"/>
              </a:ext>
            </a:extLst>
          </p:cNvPr>
          <p:cNvSpPr txBox="1"/>
          <p:nvPr/>
        </p:nvSpPr>
        <p:spPr>
          <a:xfrm>
            <a:off x="8848725" y="5621110"/>
            <a:ext cx="2743200" cy="190500"/>
          </a:xfrm>
          <a:prstGeom prst="rect">
            <a:avLst/>
          </a:prstGeom>
          <a:noFill/>
        </p:spPr>
        <p:txBody>
          <a:bodyPr vert="horz" wrap="square" lIns="0" tIns="0" rIns="0" bIns="0" rtlCol="0">
            <a:noAutofit/>
          </a:bodyPr>
          <a:lstStyle/>
          <a:p>
            <a:r>
              <a:rPr lang="en-SG" sz="1050" b="1" dirty="0">
                <a:solidFill>
                  <a:srgbClr val="F3F6F8"/>
                </a:solidFill>
                <a:latin typeface="Calibri" panose="020F0502020204030204" pitchFamily="34" charset="0"/>
              </a:rPr>
              <a:t>Read-only model registry</a:t>
            </a:r>
          </a:p>
        </p:txBody>
      </p:sp>
      <p:sp>
        <p:nvSpPr>
          <p:cNvPr id="86" name="Registry text">
            <a:extLst>
              <a:ext uri="{FF2B5EF4-FFF2-40B4-BE49-F238E27FC236}">
                <a16:creationId xmlns:a16="http://schemas.microsoft.com/office/drawing/2014/main" id="{D9A7211A-8F5D-75D3-8058-11DFC54A2B64}"/>
              </a:ext>
            </a:extLst>
          </p:cNvPr>
          <p:cNvSpPr txBox="1"/>
          <p:nvPr/>
        </p:nvSpPr>
        <p:spPr>
          <a:xfrm>
            <a:off x="8848725" y="5849709"/>
            <a:ext cx="2743200" cy="342900"/>
          </a:xfrm>
          <a:prstGeom prst="rect">
            <a:avLst/>
          </a:prstGeom>
          <a:noFill/>
        </p:spPr>
        <p:txBody>
          <a:bodyPr vert="horz" wrap="square" lIns="0" tIns="0" rIns="0" bIns="0" rtlCol="0">
            <a:noAutofit/>
          </a:bodyPr>
          <a:lstStyle/>
          <a:p>
            <a:r>
              <a:rPr lang="en-US" sz="900">
                <a:solidFill>
                  <a:srgbClr val="B3C3CE"/>
                </a:solidFill>
                <a:latin typeface="Calibri" panose="020F0502020204030204" pitchFamily="34" charset="0"/>
              </a:rPr>
              <a:t>Offline training publishes versioned weights that the image and document workers mount.</a:t>
            </a:r>
            <a:endParaRPr lang="en-SG" sz="900">
              <a:solidFill>
                <a:srgbClr val="B3C3CE"/>
              </a:solidFill>
              <a:latin typeface="Calibri" panose="020F0502020204030204" pitchFamily="34" charset="0"/>
            </a:endParaRPr>
          </a:p>
        </p:txBody>
      </p:sp>
    </p:spTree>
    <p:extLst>
      <p:ext uri="{BB962C8B-B14F-4D97-AF65-F5344CB8AC3E}">
        <p14:creationId xmlns:p14="http://schemas.microsoft.com/office/powerpoint/2010/main" val="550529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photo">
            <a:extLst>
              <a:ext uri="{FF2B5EF4-FFF2-40B4-BE49-F238E27FC236}">
                <a16:creationId xmlns:a16="http://schemas.microsoft.com/office/drawing/2014/main" id="{6E6C79B7-1C2A-61F5-47F5-89F9208E4F2F}"/>
              </a:ext>
            </a:extLst>
          </p:cNvPr>
          <p:cNvPicPr>
            <a:picLocks/>
          </p:cNvPicPr>
          <p:nvPr/>
        </p:nvPicPr>
        <p:blipFill>
          <a:blip r:embed="rId3">
            <a:grayscl/>
            <a:lum bright="-16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Background tint">
            <a:extLst>
              <a:ext uri="{FF2B5EF4-FFF2-40B4-BE49-F238E27FC236}">
                <a16:creationId xmlns:a16="http://schemas.microsoft.com/office/drawing/2014/main" id="{B8C6211A-C9D6-1239-470A-3BD3586BBB9C}"/>
              </a:ext>
            </a:extLst>
          </p:cNvPr>
          <p:cNvSpPr/>
          <p:nvPr/>
        </p:nvSpPr>
        <p:spPr>
          <a:xfrm>
            <a:off x="0" y="0"/>
            <a:ext cx="12192000" cy="6858000"/>
          </a:xfrm>
          <a:prstGeom prst="rect">
            <a:avLst/>
          </a:prstGeom>
          <a:gradFill flip="none" rotWithShape="1">
            <a:gsLst>
              <a:gs pos="0">
                <a:srgbClr val="0A1520">
                  <a:alpha val="92000"/>
                </a:srgbClr>
              </a:gs>
              <a:gs pos="100000">
                <a:srgbClr val="0A1520">
                  <a:alpha val="55000"/>
                </a:srgbClr>
              </a:gs>
              <a:gs pos="55000">
                <a:srgbClr val="0A1520">
                  <a:alpha val="80000"/>
                </a:srgbClr>
              </a:gs>
            </a:gsLst>
            <a:lin ang="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 name="Title shade">
            <a:extLst>
              <a:ext uri="{FF2B5EF4-FFF2-40B4-BE49-F238E27FC236}">
                <a16:creationId xmlns:a16="http://schemas.microsoft.com/office/drawing/2014/main" id="{F95A82BA-F724-403E-97C1-DD44B9707BCB}"/>
              </a:ext>
            </a:extLst>
          </p:cNvPr>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 name="Title">
            <a:extLst>
              <a:ext uri="{FF2B5EF4-FFF2-40B4-BE49-F238E27FC236}">
                <a16:creationId xmlns:a16="http://schemas.microsoft.com/office/drawing/2014/main" id="{652CD7D2-A063-4063-5320-E47CD6C42079}"/>
              </a:ext>
            </a:extLst>
          </p:cNvPr>
          <p:cNvSpPr txBox="1"/>
          <p:nvPr/>
        </p:nvSpPr>
        <p:spPr>
          <a:xfrm>
            <a:off x="457200" y="285749"/>
            <a:ext cx="8572500" cy="476250"/>
          </a:xfrm>
          <a:prstGeom prst="rect">
            <a:avLst/>
          </a:prstGeom>
          <a:noFill/>
        </p:spPr>
        <p:txBody>
          <a:bodyPr vert="horz" wrap="square" lIns="0" tIns="0" rIns="0" bIns="0" rtlCol="0">
            <a:noAutofit/>
          </a:bodyPr>
          <a:lstStyle/>
          <a:p>
            <a:r>
              <a:rPr lang="en-SG" sz="2850" b="1" dirty="0">
                <a:solidFill>
                  <a:srgbClr val="F3F6F8"/>
                </a:solidFill>
                <a:latin typeface="Calibri" panose="020F0502020204030204" pitchFamily="34" charset="0"/>
              </a:rPr>
              <a:t>Project Progress and Discussion</a:t>
            </a:r>
          </a:p>
        </p:txBody>
      </p:sp>
      <p:sp>
        <p:nvSpPr>
          <p:cNvPr id="7" name="Subtitle">
            <a:extLst>
              <a:ext uri="{FF2B5EF4-FFF2-40B4-BE49-F238E27FC236}">
                <a16:creationId xmlns:a16="http://schemas.microsoft.com/office/drawing/2014/main" id="{4A872F57-899A-1FA2-23B6-1418EDD7EEAE}"/>
              </a:ext>
            </a:extLst>
          </p:cNvPr>
          <p:cNvSpPr txBox="1"/>
          <p:nvPr/>
        </p:nvSpPr>
        <p:spPr>
          <a:xfrm>
            <a:off x="457200" y="800099"/>
            <a:ext cx="9525000" cy="247650"/>
          </a:xfrm>
          <a:prstGeom prst="rect">
            <a:avLst/>
          </a:prstGeom>
          <a:noFill/>
        </p:spPr>
        <p:txBody>
          <a:bodyPr vert="horz" wrap="square" lIns="0" tIns="0" rIns="0" bIns="0" rtlCol="0">
            <a:noAutofit/>
          </a:bodyPr>
          <a:lstStyle/>
          <a:p>
            <a:r>
              <a:rPr lang="en-US" sz="1050">
                <a:solidFill>
                  <a:srgbClr val="B3C3CE"/>
                </a:solidFill>
                <a:latin typeface="Calibri" panose="020F0502020204030204" pitchFamily="34" charset="0"/>
              </a:rPr>
              <a:t>The UI and backend harness are in place, and the first car defects model has been trained</a:t>
            </a:r>
            <a:endParaRPr lang="en-SG" sz="1050">
              <a:solidFill>
                <a:srgbClr val="B3C3CE"/>
              </a:solidFill>
              <a:latin typeface="Calibri" panose="020F0502020204030204" pitchFamily="34" charset="0"/>
            </a:endParaRPr>
          </a:p>
        </p:txBody>
      </p:sp>
      <p:sp>
        <p:nvSpPr>
          <p:cNvPr id="8" name="Project">
            <a:extLst>
              <a:ext uri="{FF2B5EF4-FFF2-40B4-BE49-F238E27FC236}">
                <a16:creationId xmlns:a16="http://schemas.microsoft.com/office/drawing/2014/main" id="{03444BDB-B641-43B3-25B3-A3A257F06DE8}"/>
              </a:ext>
            </a:extLst>
          </p:cNvPr>
          <p:cNvSpPr txBox="1"/>
          <p:nvPr/>
        </p:nvSpPr>
        <p:spPr>
          <a:xfrm>
            <a:off x="457200" y="6515100"/>
            <a:ext cx="2857500" cy="171450"/>
          </a:xfrm>
          <a:prstGeom prst="rect">
            <a:avLst/>
          </a:prstGeom>
          <a:noFill/>
        </p:spPr>
        <p:txBody>
          <a:bodyPr vert="horz" wrap="square" lIns="0" tIns="0" rIns="0" bIns="0" rtlCol="0">
            <a:noAutofit/>
          </a:bodyPr>
          <a:lstStyle/>
          <a:p>
            <a:r>
              <a:rPr lang="en-SG" sz="825" b="1" spc="113">
                <a:solidFill>
                  <a:srgbClr val="8397A5"/>
                </a:solidFill>
                <a:latin typeface="Calibri" panose="020F0502020204030204" pitchFamily="34" charset="0"/>
              </a:rPr>
              <a:t>CLAIM-CMEV</a:t>
            </a:r>
          </a:p>
        </p:txBody>
      </p:sp>
      <p:sp>
        <p:nvSpPr>
          <p:cNvPr id="9" name="Slide number">
            <a:extLst>
              <a:ext uri="{FF2B5EF4-FFF2-40B4-BE49-F238E27FC236}">
                <a16:creationId xmlns:a16="http://schemas.microsoft.com/office/drawing/2014/main" id="{DE22334A-49C6-2165-4CEC-4B21965D0608}"/>
              </a:ext>
            </a:extLst>
          </p:cNvPr>
          <p:cNvSpPr txBox="1"/>
          <p:nvPr/>
        </p:nvSpPr>
        <p:spPr>
          <a:xfrm>
            <a:off x="11334750" y="6496050"/>
            <a:ext cx="400050" cy="190500"/>
          </a:xfrm>
          <a:prstGeom prst="rect">
            <a:avLst/>
          </a:prstGeom>
          <a:noFill/>
        </p:spPr>
        <p:txBody>
          <a:bodyPr vert="horz" wrap="square" lIns="0" tIns="0" rIns="0" bIns="0" rtlCol="0">
            <a:noAutofit/>
          </a:bodyPr>
          <a:lstStyle/>
          <a:p>
            <a:pPr algn="r"/>
            <a:r>
              <a:rPr lang="en-SG" sz="975">
                <a:solidFill>
                  <a:srgbClr val="8397A5"/>
                </a:solidFill>
                <a:latin typeface="Calibri" panose="020F0502020204030204" pitchFamily="34" charset="0"/>
              </a:rPr>
              <a:t>02</a:t>
            </a:r>
          </a:p>
        </p:txBody>
      </p:sp>
      <p:sp>
        <p:nvSpPr>
          <p:cNvPr id="10" name="Tests stat">
            <a:extLst>
              <a:ext uri="{FF2B5EF4-FFF2-40B4-BE49-F238E27FC236}">
                <a16:creationId xmlns:a16="http://schemas.microsoft.com/office/drawing/2014/main" id="{E2BC33CC-14C1-3DE3-0CAA-F71D81E868BA}"/>
              </a:ext>
            </a:extLst>
          </p:cNvPr>
          <p:cNvSpPr/>
          <p:nvPr/>
        </p:nvSpPr>
        <p:spPr>
          <a:xfrm>
            <a:off x="457200" y="1276350"/>
            <a:ext cx="2381250" cy="762000"/>
          </a:xfrm>
          <a:prstGeom prst="roundRect">
            <a:avLst>
              <a:gd name="adj" fmla="val 12500"/>
            </a:avLst>
          </a:prstGeom>
          <a:solidFill>
            <a:srgbClr val="0F2231">
              <a:alpha val="82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 name="Tests stat value">
            <a:extLst>
              <a:ext uri="{FF2B5EF4-FFF2-40B4-BE49-F238E27FC236}">
                <a16:creationId xmlns:a16="http://schemas.microsoft.com/office/drawing/2014/main" id="{C22548E8-8A86-FA18-1D90-79E66D737DF5}"/>
              </a:ext>
            </a:extLst>
          </p:cNvPr>
          <p:cNvSpPr txBox="1"/>
          <p:nvPr/>
        </p:nvSpPr>
        <p:spPr>
          <a:xfrm>
            <a:off x="628650" y="1352549"/>
            <a:ext cx="2038350" cy="361950"/>
          </a:xfrm>
          <a:prstGeom prst="rect">
            <a:avLst/>
          </a:prstGeom>
          <a:noFill/>
        </p:spPr>
        <p:txBody>
          <a:bodyPr vert="horz" wrap="square" lIns="0" tIns="0" rIns="0" bIns="0" rtlCol="0">
            <a:noAutofit/>
          </a:bodyPr>
          <a:lstStyle/>
          <a:p>
            <a:r>
              <a:rPr lang="en-SG" sz="2250" b="1">
                <a:solidFill>
                  <a:srgbClr val="4FD1C0"/>
                </a:solidFill>
                <a:latin typeface="Calibri" panose="020F0502020204030204" pitchFamily="34" charset="0"/>
              </a:rPr>
              <a:t>1,413</a:t>
            </a:r>
          </a:p>
        </p:txBody>
      </p:sp>
      <p:sp>
        <p:nvSpPr>
          <p:cNvPr id="12" name="Tests stat label">
            <a:extLst>
              <a:ext uri="{FF2B5EF4-FFF2-40B4-BE49-F238E27FC236}">
                <a16:creationId xmlns:a16="http://schemas.microsoft.com/office/drawing/2014/main" id="{E51ECD92-AB00-AEA7-7C13-F9B9B5121A4C}"/>
              </a:ext>
            </a:extLst>
          </p:cNvPr>
          <p:cNvSpPr txBox="1"/>
          <p:nvPr/>
        </p:nvSpPr>
        <p:spPr>
          <a:xfrm>
            <a:off x="628650" y="1714499"/>
            <a:ext cx="2038350" cy="285750"/>
          </a:xfrm>
          <a:prstGeom prst="rect">
            <a:avLst/>
          </a:prstGeom>
          <a:noFill/>
        </p:spPr>
        <p:txBody>
          <a:bodyPr vert="horz" wrap="square" lIns="0" tIns="0" rIns="0" bIns="0" rtlCol="0">
            <a:noAutofit/>
          </a:bodyPr>
          <a:lstStyle/>
          <a:p>
            <a:r>
              <a:rPr lang="en-US" sz="863">
                <a:solidFill>
                  <a:srgbClr val="B3C3CE"/>
                </a:solidFill>
                <a:latin typeface="Calibri" panose="020F0502020204030204" pitchFamily="34" charset="0"/>
              </a:rPr>
              <a:t>automated tests passing on fixture and synthetic data</a:t>
            </a:r>
            <a:endParaRPr lang="en-SG" sz="863">
              <a:solidFill>
                <a:srgbClr val="B3C3CE"/>
              </a:solidFill>
              <a:latin typeface="Calibri" panose="020F0502020204030204" pitchFamily="34" charset="0"/>
            </a:endParaRPr>
          </a:p>
        </p:txBody>
      </p:sp>
      <p:sp>
        <p:nvSpPr>
          <p:cNvPr id="13" name="Containers stat">
            <a:extLst>
              <a:ext uri="{FF2B5EF4-FFF2-40B4-BE49-F238E27FC236}">
                <a16:creationId xmlns:a16="http://schemas.microsoft.com/office/drawing/2014/main" id="{6F2A8349-D25F-1F25-2A51-9129BB2E5F73}"/>
              </a:ext>
            </a:extLst>
          </p:cNvPr>
          <p:cNvSpPr/>
          <p:nvPr/>
        </p:nvSpPr>
        <p:spPr>
          <a:xfrm>
            <a:off x="3067050" y="1276350"/>
            <a:ext cx="2381250" cy="762000"/>
          </a:xfrm>
          <a:prstGeom prst="roundRect">
            <a:avLst>
              <a:gd name="adj" fmla="val 12500"/>
            </a:avLst>
          </a:prstGeom>
          <a:solidFill>
            <a:srgbClr val="0F2231">
              <a:alpha val="82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 name="Containers stat value">
            <a:extLst>
              <a:ext uri="{FF2B5EF4-FFF2-40B4-BE49-F238E27FC236}">
                <a16:creationId xmlns:a16="http://schemas.microsoft.com/office/drawing/2014/main" id="{17FAFE40-A684-00F6-E4BE-6D4AC83FCDF0}"/>
              </a:ext>
            </a:extLst>
          </p:cNvPr>
          <p:cNvSpPr txBox="1"/>
          <p:nvPr/>
        </p:nvSpPr>
        <p:spPr>
          <a:xfrm>
            <a:off x="3238500" y="1352549"/>
            <a:ext cx="2038350" cy="361950"/>
          </a:xfrm>
          <a:prstGeom prst="rect">
            <a:avLst/>
          </a:prstGeom>
          <a:noFill/>
        </p:spPr>
        <p:txBody>
          <a:bodyPr vert="horz" wrap="square" lIns="0" tIns="0" rIns="0" bIns="0" rtlCol="0">
            <a:noAutofit/>
          </a:bodyPr>
          <a:lstStyle/>
          <a:p>
            <a:r>
              <a:rPr lang="en-SG" sz="2250" b="1">
                <a:solidFill>
                  <a:srgbClr val="7AB6EA"/>
                </a:solidFill>
                <a:latin typeface="Calibri" panose="020F0502020204030204" pitchFamily="34" charset="0"/>
              </a:rPr>
              <a:t>9</a:t>
            </a:r>
          </a:p>
        </p:txBody>
      </p:sp>
      <p:sp>
        <p:nvSpPr>
          <p:cNvPr id="15" name="Containers stat label">
            <a:extLst>
              <a:ext uri="{FF2B5EF4-FFF2-40B4-BE49-F238E27FC236}">
                <a16:creationId xmlns:a16="http://schemas.microsoft.com/office/drawing/2014/main" id="{FBD6BC45-A3D5-62D1-0175-41C8894AD905}"/>
              </a:ext>
            </a:extLst>
          </p:cNvPr>
          <p:cNvSpPr txBox="1"/>
          <p:nvPr/>
        </p:nvSpPr>
        <p:spPr>
          <a:xfrm>
            <a:off x="3238500" y="1714499"/>
            <a:ext cx="2038350" cy="285750"/>
          </a:xfrm>
          <a:prstGeom prst="rect">
            <a:avLst/>
          </a:prstGeom>
          <a:noFill/>
        </p:spPr>
        <p:txBody>
          <a:bodyPr vert="horz" wrap="square" lIns="0" tIns="0" rIns="0" bIns="0" rtlCol="0">
            <a:noAutofit/>
          </a:bodyPr>
          <a:lstStyle/>
          <a:p>
            <a:r>
              <a:rPr lang="en-US" sz="863">
                <a:solidFill>
                  <a:srgbClr val="B3C3CE"/>
                </a:solidFill>
                <a:latin typeface="Calibri" panose="020F0502020204030204" pitchFamily="34" charset="0"/>
              </a:rPr>
              <a:t>containers in the full Compose profile, eight long-running</a:t>
            </a:r>
            <a:endParaRPr lang="en-SG" sz="863">
              <a:solidFill>
                <a:srgbClr val="B3C3CE"/>
              </a:solidFill>
              <a:latin typeface="Calibri" panose="020F0502020204030204" pitchFamily="34" charset="0"/>
            </a:endParaRPr>
          </a:p>
        </p:txBody>
      </p:sp>
      <p:sp>
        <p:nvSpPr>
          <p:cNvPr id="16" name="Model stat">
            <a:extLst>
              <a:ext uri="{FF2B5EF4-FFF2-40B4-BE49-F238E27FC236}">
                <a16:creationId xmlns:a16="http://schemas.microsoft.com/office/drawing/2014/main" id="{F0FD5562-CD72-2124-E10C-92C7370E6A16}"/>
              </a:ext>
            </a:extLst>
          </p:cNvPr>
          <p:cNvSpPr/>
          <p:nvPr/>
        </p:nvSpPr>
        <p:spPr>
          <a:xfrm>
            <a:off x="5676900" y="1276350"/>
            <a:ext cx="2381250" cy="762000"/>
          </a:xfrm>
          <a:prstGeom prst="roundRect">
            <a:avLst>
              <a:gd name="adj" fmla="val 12500"/>
            </a:avLst>
          </a:prstGeom>
          <a:solidFill>
            <a:srgbClr val="0F2231">
              <a:alpha val="82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7" name="Model stat value">
            <a:extLst>
              <a:ext uri="{FF2B5EF4-FFF2-40B4-BE49-F238E27FC236}">
                <a16:creationId xmlns:a16="http://schemas.microsoft.com/office/drawing/2014/main" id="{6950DDE4-6E96-5C61-44C7-C5EC3AB1DA84}"/>
              </a:ext>
            </a:extLst>
          </p:cNvPr>
          <p:cNvSpPr txBox="1"/>
          <p:nvPr/>
        </p:nvSpPr>
        <p:spPr>
          <a:xfrm>
            <a:off x="5848350" y="1352549"/>
            <a:ext cx="2038350" cy="361950"/>
          </a:xfrm>
          <a:prstGeom prst="rect">
            <a:avLst/>
          </a:prstGeom>
          <a:noFill/>
        </p:spPr>
        <p:txBody>
          <a:bodyPr vert="horz" wrap="square" lIns="0" tIns="0" rIns="0" bIns="0" rtlCol="0">
            <a:noAutofit/>
          </a:bodyPr>
          <a:lstStyle/>
          <a:p>
            <a:r>
              <a:rPr lang="en-SG" sz="2250" b="1">
                <a:solidFill>
                  <a:srgbClr val="F0C46E"/>
                </a:solidFill>
                <a:latin typeface="Calibri" panose="020F0502020204030204" pitchFamily="34" charset="0"/>
              </a:rPr>
              <a:t>1st</a:t>
            </a:r>
          </a:p>
        </p:txBody>
      </p:sp>
      <p:sp>
        <p:nvSpPr>
          <p:cNvPr id="18" name="Model stat label">
            <a:extLst>
              <a:ext uri="{FF2B5EF4-FFF2-40B4-BE49-F238E27FC236}">
                <a16:creationId xmlns:a16="http://schemas.microsoft.com/office/drawing/2014/main" id="{E652B42C-99B4-1BFD-4367-C0931A86B354}"/>
              </a:ext>
            </a:extLst>
          </p:cNvPr>
          <p:cNvSpPr txBox="1"/>
          <p:nvPr/>
        </p:nvSpPr>
        <p:spPr>
          <a:xfrm>
            <a:off x="5848350" y="1714499"/>
            <a:ext cx="2038350" cy="285750"/>
          </a:xfrm>
          <a:prstGeom prst="rect">
            <a:avLst/>
          </a:prstGeom>
          <a:noFill/>
        </p:spPr>
        <p:txBody>
          <a:bodyPr vert="horz" wrap="square" lIns="0" tIns="0" rIns="0" bIns="0" rtlCol="0">
            <a:noAutofit/>
          </a:bodyPr>
          <a:lstStyle/>
          <a:p>
            <a:r>
              <a:rPr lang="en-US" sz="863" dirty="0">
                <a:solidFill>
                  <a:srgbClr val="B3C3CE"/>
                </a:solidFill>
                <a:latin typeface="Calibri" panose="020F0502020204030204" pitchFamily="34" charset="0"/>
              </a:rPr>
              <a:t>car defects model trained: SegFormer-B2 </a:t>
            </a:r>
            <a:endParaRPr lang="en-SG" sz="863" dirty="0">
              <a:solidFill>
                <a:srgbClr val="B3C3CE"/>
              </a:solidFill>
              <a:latin typeface="Calibri" panose="020F0502020204030204" pitchFamily="34" charset="0"/>
            </a:endParaRPr>
          </a:p>
        </p:txBody>
      </p:sp>
      <p:sp>
        <p:nvSpPr>
          <p:cNvPr id="19" name="Progress panel">
            <a:extLst>
              <a:ext uri="{FF2B5EF4-FFF2-40B4-BE49-F238E27FC236}">
                <a16:creationId xmlns:a16="http://schemas.microsoft.com/office/drawing/2014/main" id="{BE885439-DABC-16D8-D180-E52994593F3D}"/>
              </a:ext>
            </a:extLst>
          </p:cNvPr>
          <p:cNvSpPr/>
          <p:nvPr/>
        </p:nvSpPr>
        <p:spPr>
          <a:xfrm>
            <a:off x="457200" y="2228850"/>
            <a:ext cx="7600950" cy="3905250"/>
          </a:xfrm>
          <a:prstGeom prst="roundRect">
            <a:avLst>
              <a:gd name="adj" fmla="val 2927"/>
            </a:avLst>
          </a:prstGeom>
          <a:solidFill>
            <a:srgbClr val="0F2231">
              <a:alpha val="86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0" name="Status header">
            <a:extLst>
              <a:ext uri="{FF2B5EF4-FFF2-40B4-BE49-F238E27FC236}">
                <a16:creationId xmlns:a16="http://schemas.microsoft.com/office/drawing/2014/main" id="{84E28B60-1A70-FB77-40E3-2007B9B7FF0B}"/>
              </a:ext>
            </a:extLst>
          </p:cNvPr>
          <p:cNvSpPr txBox="1"/>
          <p:nvPr/>
        </p:nvSpPr>
        <p:spPr>
          <a:xfrm>
            <a:off x="666750" y="2400300"/>
            <a:ext cx="3810000" cy="152400"/>
          </a:xfrm>
          <a:prstGeom prst="rect">
            <a:avLst/>
          </a:prstGeom>
          <a:noFill/>
        </p:spPr>
        <p:txBody>
          <a:bodyPr vert="horz" wrap="square" lIns="0" tIns="0" rIns="0" bIns="0" rtlCol="0">
            <a:noAutofit/>
          </a:bodyPr>
          <a:lstStyle/>
          <a:p>
            <a:r>
              <a:rPr lang="en-SG" sz="825" b="1" spc="113">
                <a:solidFill>
                  <a:srgbClr val="4FD1C0"/>
                </a:solidFill>
                <a:latin typeface="Calibri" panose="020F0502020204030204" pitchFamily="34" charset="0"/>
              </a:rPr>
              <a:t>COMPLETED AND PLANNED WORK</a:t>
            </a:r>
          </a:p>
        </p:txBody>
      </p:sp>
      <p:sp>
        <p:nvSpPr>
          <p:cNvPr id="21" name="System UI and backend harness status">
            <a:extLst>
              <a:ext uri="{FF2B5EF4-FFF2-40B4-BE49-F238E27FC236}">
                <a16:creationId xmlns:a16="http://schemas.microsoft.com/office/drawing/2014/main" id="{2E0342AD-72F8-4067-E1E7-CAD9E155BD0D}"/>
              </a:ext>
            </a:extLst>
          </p:cNvPr>
          <p:cNvSpPr/>
          <p:nvPr/>
        </p:nvSpPr>
        <p:spPr>
          <a:xfrm>
            <a:off x="666750" y="2686050"/>
            <a:ext cx="1009650" cy="209550"/>
          </a:xfrm>
          <a:prstGeom prst="roundRect">
            <a:avLst>
              <a:gd name="adj" fmla="val 50000"/>
            </a:avLst>
          </a:prstGeom>
          <a:solidFill>
            <a:srgbClr val="4FD1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50" b="1" spc="45">
                <a:solidFill>
                  <a:srgbClr val="0A1520"/>
                </a:solidFill>
                <a:latin typeface="Calibri" panose="020F0502020204030204" pitchFamily="34" charset="0"/>
              </a:rPr>
              <a:t>IMPLEMENTED</a:t>
            </a:r>
          </a:p>
        </p:txBody>
      </p:sp>
      <p:sp>
        <p:nvSpPr>
          <p:cNvPr id="22" name="System UI and backend harness heading">
            <a:extLst>
              <a:ext uri="{FF2B5EF4-FFF2-40B4-BE49-F238E27FC236}">
                <a16:creationId xmlns:a16="http://schemas.microsoft.com/office/drawing/2014/main" id="{26618999-D2BC-4055-8285-51EE55EFCF8A}"/>
              </a:ext>
            </a:extLst>
          </p:cNvPr>
          <p:cNvSpPr txBox="1"/>
          <p:nvPr/>
        </p:nvSpPr>
        <p:spPr>
          <a:xfrm>
            <a:off x="1847850" y="2666999"/>
            <a:ext cx="5905500" cy="228600"/>
          </a:xfrm>
          <a:prstGeom prst="rect">
            <a:avLst/>
          </a:prstGeom>
          <a:noFill/>
        </p:spPr>
        <p:txBody>
          <a:bodyPr vert="horz" wrap="square" lIns="0" tIns="0" rIns="0" bIns="0" rtlCol="0">
            <a:noAutofit/>
          </a:bodyPr>
          <a:lstStyle/>
          <a:p>
            <a:r>
              <a:rPr lang="en-US" sz="1275" b="1" dirty="0">
                <a:solidFill>
                  <a:srgbClr val="F3F6F8"/>
                </a:solidFill>
                <a:latin typeface="Calibri" panose="020F0502020204030204" pitchFamily="34" charset="0"/>
              </a:rPr>
              <a:t>System UI and backend harness</a:t>
            </a:r>
            <a:endParaRPr lang="en-SG" sz="1275" b="1" dirty="0">
              <a:solidFill>
                <a:srgbClr val="F3F6F8"/>
              </a:solidFill>
              <a:latin typeface="Calibri" panose="020F0502020204030204" pitchFamily="34" charset="0"/>
            </a:endParaRPr>
          </a:p>
        </p:txBody>
      </p:sp>
      <p:sp>
        <p:nvSpPr>
          <p:cNvPr id="23" name="System UI and backend harness detail">
            <a:extLst>
              <a:ext uri="{FF2B5EF4-FFF2-40B4-BE49-F238E27FC236}">
                <a16:creationId xmlns:a16="http://schemas.microsoft.com/office/drawing/2014/main" id="{A45215C9-6F6C-1FA0-5BFA-0EA63BAF676F}"/>
              </a:ext>
            </a:extLst>
          </p:cNvPr>
          <p:cNvSpPr txBox="1"/>
          <p:nvPr/>
        </p:nvSpPr>
        <p:spPr>
          <a:xfrm>
            <a:off x="1847850" y="2905124"/>
            <a:ext cx="5905500" cy="323850"/>
          </a:xfrm>
          <a:prstGeom prst="rect">
            <a:avLst/>
          </a:prstGeom>
          <a:noFill/>
        </p:spPr>
        <p:txBody>
          <a:bodyPr vert="horz" wrap="square" lIns="0" tIns="0" rIns="0" bIns="0" rtlCol="0">
            <a:noAutofit/>
          </a:bodyPr>
          <a:lstStyle/>
          <a:p>
            <a:r>
              <a:rPr lang="en-US" sz="938">
                <a:solidFill>
                  <a:srgbClr val="B3C3CE"/>
                </a:solidFill>
                <a:latin typeface="Calibri" panose="020F0502020204030204" pitchFamily="34" charset="0"/>
              </a:rPr>
              <a:t>Upload, review, evidence access and PDF export. API, orchestration, storage and rule checks run on fixtures.</a:t>
            </a:r>
            <a:endParaRPr lang="en-SG" sz="938">
              <a:solidFill>
                <a:srgbClr val="B3C3CE"/>
              </a:solidFill>
              <a:latin typeface="Calibri" panose="020F0502020204030204" pitchFamily="34" charset="0"/>
            </a:endParaRPr>
          </a:p>
        </p:txBody>
      </p:sp>
      <p:cxnSp>
        <p:nvCxnSpPr>
          <p:cNvPr id="24" name="First car defects model divider">
            <a:extLst>
              <a:ext uri="{FF2B5EF4-FFF2-40B4-BE49-F238E27FC236}">
                <a16:creationId xmlns:a16="http://schemas.microsoft.com/office/drawing/2014/main" id="{1274C010-85EB-99C9-7BD7-ACEA668EBE36}"/>
              </a:ext>
            </a:extLst>
          </p:cNvPr>
          <p:cNvCxnSpPr/>
          <p:nvPr/>
        </p:nvCxnSpPr>
        <p:spPr>
          <a:xfrm>
            <a:off x="666750" y="3257550"/>
            <a:ext cx="718185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25" name="First car defects model status">
            <a:extLst>
              <a:ext uri="{FF2B5EF4-FFF2-40B4-BE49-F238E27FC236}">
                <a16:creationId xmlns:a16="http://schemas.microsoft.com/office/drawing/2014/main" id="{92370F11-BE76-0106-F034-9AF285183AF8}"/>
              </a:ext>
            </a:extLst>
          </p:cNvPr>
          <p:cNvSpPr/>
          <p:nvPr/>
        </p:nvSpPr>
        <p:spPr>
          <a:xfrm>
            <a:off x="666750" y="3371850"/>
            <a:ext cx="1009650" cy="209550"/>
          </a:xfrm>
          <a:prstGeom prst="roundRect">
            <a:avLst>
              <a:gd name="adj" fmla="val 50000"/>
            </a:avLst>
          </a:prstGeom>
          <a:solidFill>
            <a:srgbClr val="F0C4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50" b="1" spc="45" dirty="0">
                <a:solidFill>
                  <a:srgbClr val="0A1520"/>
                </a:solidFill>
                <a:latin typeface="Calibri" panose="020F0502020204030204" pitchFamily="34" charset="0"/>
              </a:rPr>
              <a:t>TRAINING</a:t>
            </a:r>
          </a:p>
        </p:txBody>
      </p:sp>
      <p:sp>
        <p:nvSpPr>
          <p:cNvPr id="26" name="First car defects model heading">
            <a:extLst>
              <a:ext uri="{FF2B5EF4-FFF2-40B4-BE49-F238E27FC236}">
                <a16:creationId xmlns:a16="http://schemas.microsoft.com/office/drawing/2014/main" id="{C51A0465-23D9-F283-4CB3-6DD2448A5AF8}"/>
              </a:ext>
            </a:extLst>
          </p:cNvPr>
          <p:cNvSpPr txBox="1"/>
          <p:nvPr/>
        </p:nvSpPr>
        <p:spPr>
          <a:xfrm>
            <a:off x="1847850" y="3352799"/>
            <a:ext cx="5905500" cy="228600"/>
          </a:xfrm>
          <a:prstGeom prst="rect">
            <a:avLst/>
          </a:prstGeom>
          <a:noFill/>
        </p:spPr>
        <p:txBody>
          <a:bodyPr vert="horz" wrap="square" lIns="0" tIns="0" rIns="0" bIns="0" rtlCol="0">
            <a:noAutofit/>
          </a:bodyPr>
          <a:lstStyle/>
          <a:p>
            <a:r>
              <a:rPr lang="en-SG" sz="1050" b="1" dirty="0">
                <a:solidFill>
                  <a:srgbClr val="F3F6F8"/>
                </a:solidFill>
                <a:latin typeface="Calibri" panose="020F0502020204030204" pitchFamily="34" charset="0"/>
              </a:rPr>
              <a:t>First car part segmentation model available, car damages model currently training, document extraction model currently training </a:t>
            </a:r>
          </a:p>
        </p:txBody>
      </p:sp>
      <p:sp>
        <p:nvSpPr>
          <p:cNvPr id="27" name="First car defects model detail">
            <a:extLst>
              <a:ext uri="{FF2B5EF4-FFF2-40B4-BE49-F238E27FC236}">
                <a16:creationId xmlns:a16="http://schemas.microsoft.com/office/drawing/2014/main" id="{66D3060C-757A-8963-FF48-7EA15C76EDD4}"/>
              </a:ext>
            </a:extLst>
          </p:cNvPr>
          <p:cNvSpPr txBox="1"/>
          <p:nvPr/>
        </p:nvSpPr>
        <p:spPr>
          <a:xfrm>
            <a:off x="1847850" y="3724274"/>
            <a:ext cx="5905500" cy="323850"/>
          </a:xfrm>
          <a:prstGeom prst="rect">
            <a:avLst/>
          </a:prstGeom>
          <a:noFill/>
        </p:spPr>
        <p:txBody>
          <a:bodyPr vert="horz" wrap="square" lIns="0" tIns="0" rIns="0" bIns="0" rtlCol="0">
            <a:noAutofit/>
          </a:bodyPr>
          <a:lstStyle/>
          <a:p>
            <a:r>
              <a:rPr lang="en-US" sz="938" dirty="0">
                <a:solidFill>
                  <a:srgbClr val="B3C3CE"/>
                </a:solidFill>
                <a:latin typeface="Calibri" panose="020F0502020204030204" pitchFamily="34" charset="0"/>
              </a:rPr>
              <a:t>SegFormer-B2, ResNET-50 training, LayoutLMv3 </a:t>
            </a:r>
            <a:endParaRPr lang="en-SG" sz="938" dirty="0">
              <a:solidFill>
                <a:srgbClr val="B3C3CE"/>
              </a:solidFill>
              <a:latin typeface="Calibri" panose="020F0502020204030204" pitchFamily="34" charset="0"/>
            </a:endParaRPr>
          </a:p>
        </p:txBody>
      </p:sp>
      <p:cxnSp>
        <p:nvCxnSpPr>
          <p:cNvPr id="28" name="Component contracts divider">
            <a:extLst>
              <a:ext uri="{FF2B5EF4-FFF2-40B4-BE49-F238E27FC236}">
                <a16:creationId xmlns:a16="http://schemas.microsoft.com/office/drawing/2014/main" id="{C96C41F6-4E3A-DFBD-BB5F-BE783922B878}"/>
              </a:ext>
            </a:extLst>
          </p:cNvPr>
          <p:cNvCxnSpPr/>
          <p:nvPr/>
        </p:nvCxnSpPr>
        <p:spPr>
          <a:xfrm>
            <a:off x="666750" y="3943350"/>
            <a:ext cx="718185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29" name="Component contracts status">
            <a:extLst>
              <a:ext uri="{FF2B5EF4-FFF2-40B4-BE49-F238E27FC236}">
                <a16:creationId xmlns:a16="http://schemas.microsoft.com/office/drawing/2014/main" id="{0CBC5053-4392-10F8-1A18-1AB6AE0D52FA}"/>
              </a:ext>
            </a:extLst>
          </p:cNvPr>
          <p:cNvSpPr/>
          <p:nvPr/>
        </p:nvSpPr>
        <p:spPr>
          <a:xfrm>
            <a:off x="666750" y="4057650"/>
            <a:ext cx="1009650" cy="2095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50" b="1" spc="45">
                <a:solidFill>
                  <a:srgbClr val="7AB6EA"/>
                </a:solidFill>
                <a:latin typeface="Calibri" panose="020F0502020204030204" pitchFamily="34" charset="0"/>
              </a:rPr>
              <a:t>DEFINED</a:t>
            </a:r>
          </a:p>
        </p:txBody>
      </p:sp>
      <p:sp>
        <p:nvSpPr>
          <p:cNvPr id="30" name="Component contracts heading">
            <a:extLst>
              <a:ext uri="{FF2B5EF4-FFF2-40B4-BE49-F238E27FC236}">
                <a16:creationId xmlns:a16="http://schemas.microsoft.com/office/drawing/2014/main" id="{0D07DF97-C0D0-E039-8089-6354B2799877}"/>
              </a:ext>
            </a:extLst>
          </p:cNvPr>
          <p:cNvSpPr txBox="1"/>
          <p:nvPr/>
        </p:nvSpPr>
        <p:spPr>
          <a:xfrm>
            <a:off x="1847850" y="4038599"/>
            <a:ext cx="5905500" cy="228600"/>
          </a:xfrm>
          <a:prstGeom prst="rect">
            <a:avLst/>
          </a:prstGeom>
          <a:noFill/>
        </p:spPr>
        <p:txBody>
          <a:bodyPr vert="horz" wrap="square" lIns="0" tIns="0" rIns="0" bIns="0" rtlCol="0">
            <a:noAutofit/>
          </a:bodyPr>
          <a:lstStyle/>
          <a:p>
            <a:r>
              <a:rPr lang="en-SG" sz="1275" b="1" dirty="0">
                <a:solidFill>
                  <a:srgbClr val="F3F6F8"/>
                </a:solidFill>
                <a:latin typeface="Calibri" panose="020F0502020204030204" pitchFamily="34" charset="0"/>
              </a:rPr>
              <a:t>Component contracts</a:t>
            </a:r>
          </a:p>
        </p:txBody>
      </p:sp>
      <p:sp>
        <p:nvSpPr>
          <p:cNvPr id="31" name="Component contracts detail">
            <a:extLst>
              <a:ext uri="{FF2B5EF4-FFF2-40B4-BE49-F238E27FC236}">
                <a16:creationId xmlns:a16="http://schemas.microsoft.com/office/drawing/2014/main" id="{D8CAB867-29CD-5F5B-8787-042E53661CC7}"/>
              </a:ext>
            </a:extLst>
          </p:cNvPr>
          <p:cNvSpPr txBox="1"/>
          <p:nvPr/>
        </p:nvSpPr>
        <p:spPr>
          <a:xfrm>
            <a:off x="1847850" y="4276724"/>
            <a:ext cx="5905500" cy="323850"/>
          </a:xfrm>
          <a:prstGeom prst="rect">
            <a:avLst/>
          </a:prstGeom>
          <a:noFill/>
        </p:spPr>
        <p:txBody>
          <a:bodyPr vert="horz" wrap="square" lIns="0" tIns="0" rIns="0" bIns="0" rtlCol="0">
            <a:noAutofit/>
          </a:bodyPr>
          <a:lstStyle/>
          <a:p>
            <a:r>
              <a:rPr lang="en-US" sz="938">
                <a:solidFill>
                  <a:srgbClr val="B3C3CE"/>
                </a:solidFill>
                <a:latin typeface="Calibri" panose="020F0502020204030204" pitchFamily="34" charset="0"/>
              </a:rPr>
              <a:t>Typed records and Kafka events, versioned artifacts, claim revisions and exact monetary values.</a:t>
            </a:r>
            <a:endParaRPr lang="en-SG" sz="938">
              <a:solidFill>
                <a:srgbClr val="B3C3CE"/>
              </a:solidFill>
              <a:latin typeface="Calibri" panose="020F0502020204030204" pitchFamily="34" charset="0"/>
            </a:endParaRPr>
          </a:p>
        </p:txBody>
      </p:sp>
      <p:cxnSp>
        <p:nvCxnSpPr>
          <p:cNvPr id="32" name="Datasets divider">
            <a:extLst>
              <a:ext uri="{FF2B5EF4-FFF2-40B4-BE49-F238E27FC236}">
                <a16:creationId xmlns:a16="http://schemas.microsoft.com/office/drawing/2014/main" id="{959477C5-E63F-5BCD-5BEC-5CBB41B49FC9}"/>
              </a:ext>
            </a:extLst>
          </p:cNvPr>
          <p:cNvCxnSpPr/>
          <p:nvPr/>
        </p:nvCxnSpPr>
        <p:spPr>
          <a:xfrm>
            <a:off x="666750" y="4629150"/>
            <a:ext cx="718185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33" name="Datasets status">
            <a:extLst>
              <a:ext uri="{FF2B5EF4-FFF2-40B4-BE49-F238E27FC236}">
                <a16:creationId xmlns:a16="http://schemas.microsoft.com/office/drawing/2014/main" id="{8B66A3E1-5A50-5AD0-9F77-5E55568D816C}"/>
              </a:ext>
            </a:extLst>
          </p:cNvPr>
          <p:cNvSpPr/>
          <p:nvPr/>
        </p:nvSpPr>
        <p:spPr>
          <a:xfrm>
            <a:off x="666750" y="4743450"/>
            <a:ext cx="1009650" cy="20955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50" b="1" spc="45">
                <a:solidFill>
                  <a:srgbClr val="7AB6EA"/>
                </a:solidFill>
                <a:latin typeface="Calibri" panose="020F0502020204030204" pitchFamily="34" charset="0"/>
              </a:rPr>
              <a:t>IDENTIFIED</a:t>
            </a:r>
          </a:p>
        </p:txBody>
      </p:sp>
      <p:sp>
        <p:nvSpPr>
          <p:cNvPr id="34" name="Datasets heading">
            <a:extLst>
              <a:ext uri="{FF2B5EF4-FFF2-40B4-BE49-F238E27FC236}">
                <a16:creationId xmlns:a16="http://schemas.microsoft.com/office/drawing/2014/main" id="{28CEA457-0508-6BEF-98FC-693CF28B101C}"/>
              </a:ext>
            </a:extLst>
          </p:cNvPr>
          <p:cNvSpPr txBox="1"/>
          <p:nvPr/>
        </p:nvSpPr>
        <p:spPr>
          <a:xfrm>
            <a:off x="1847850" y="4724399"/>
            <a:ext cx="5905500" cy="228600"/>
          </a:xfrm>
          <a:prstGeom prst="rect">
            <a:avLst/>
          </a:prstGeom>
          <a:noFill/>
        </p:spPr>
        <p:txBody>
          <a:bodyPr vert="horz" wrap="square" lIns="0" tIns="0" rIns="0" bIns="0" rtlCol="0">
            <a:noAutofit/>
          </a:bodyPr>
          <a:lstStyle/>
          <a:p>
            <a:r>
              <a:rPr lang="en-SG" sz="1275" b="1">
                <a:solidFill>
                  <a:srgbClr val="F3F6F8"/>
                </a:solidFill>
                <a:latin typeface="Calibri" panose="020F0502020204030204" pitchFamily="34" charset="0"/>
              </a:rPr>
              <a:t>Datasets</a:t>
            </a:r>
          </a:p>
        </p:txBody>
      </p:sp>
      <p:sp>
        <p:nvSpPr>
          <p:cNvPr id="35" name="Datasets detail">
            <a:extLst>
              <a:ext uri="{FF2B5EF4-FFF2-40B4-BE49-F238E27FC236}">
                <a16:creationId xmlns:a16="http://schemas.microsoft.com/office/drawing/2014/main" id="{842F630F-3759-AA5E-E848-5284302FBC9D}"/>
              </a:ext>
            </a:extLst>
          </p:cNvPr>
          <p:cNvSpPr txBox="1"/>
          <p:nvPr/>
        </p:nvSpPr>
        <p:spPr>
          <a:xfrm>
            <a:off x="1847850" y="4962524"/>
            <a:ext cx="5905500" cy="323850"/>
          </a:xfrm>
          <a:prstGeom prst="rect">
            <a:avLst/>
          </a:prstGeom>
          <a:noFill/>
        </p:spPr>
        <p:txBody>
          <a:bodyPr vert="horz" wrap="square" lIns="0" tIns="0" rIns="0" bIns="0" rtlCol="0">
            <a:noAutofit/>
          </a:bodyPr>
          <a:lstStyle/>
          <a:p>
            <a:r>
              <a:rPr lang="en-US" sz="938" dirty="0">
                <a:solidFill>
                  <a:srgbClr val="B3C3CE"/>
                </a:solidFill>
                <a:latin typeface="Calibri" panose="020F0502020204030204" pitchFamily="34" charset="0"/>
              </a:rPr>
              <a:t>HITL vehicle parts, </a:t>
            </a:r>
            <a:r>
              <a:rPr lang="en-US" sz="938" dirty="0" err="1">
                <a:solidFill>
                  <a:srgbClr val="B3C3CE"/>
                </a:solidFill>
                <a:latin typeface="Calibri" panose="020F0502020204030204" pitchFamily="34" charset="0"/>
              </a:rPr>
              <a:t>CarDD</a:t>
            </a:r>
            <a:r>
              <a:rPr lang="en-US" sz="938" dirty="0">
                <a:solidFill>
                  <a:srgbClr val="B3C3CE"/>
                </a:solidFill>
                <a:latin typeface="Calibri" panose="020F0502020204030204" pitchFamily="34" charset="0"/>
              </a:rPr>
              <a:t> damage (access pending), marked estimates and synthetic repair costs.</a:t>
            </a:r>
            <a:endParaRPr lang="en-SG" sz="938" dirty="0">
              <a:solidFill>
                <a:srgbClr val="B3C3CE"/>
              </a:solidFill>
              <a:latin typeface="Calibri" panose="020F0502020204030204" pitchFamily="34" charset="0"/>
            </a:endParaRPr>
          </a:p>
        </p:txBody>
      </p:sp>
      <p:cxnSp>
        <p:nvCxnSpPr>
          <p:cNvPr id="36" name="Model approach divider">
            <a:extLst>
              <a:ext uri="{FF2B5EF4-FFF2-40B4-BE49-F238E27FC236}">
                <a16:creationId xmlns:a16="http://schemas.microsoft.com/office/drawing/2014/main" id="{34885067-6092-B16F-82C7-8A5CF32D168B}"/>
              </a:ext>
            </a:extLst>
          </p:cNvPr>
          <p:cNvCxnSpPr/>
          <p:nvPr/>
        </p:nvCxnSpPr>
        <p:spPr>
          <a:xfrm>
            <a:off x="666750" y="5314950"/>
            <a:ext cx="718185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37" name="Model approach status">
            <a:extLst>
              <a:ext uri="{FF2B5EF4-FFF2-40B4-BE49-F238E27FC236}">
                <a16:creationId xmlns:a16="http://schemas.microsoft.com/office/drawing/2014/main" id="{EA1042CA-C7EA-CC91-2F67-8F5F5D492E34}"/>
              </a:ext>
            </a:extLst>
          </p:cNvPr>
          <p:cNvSpPr/>
          <p:nvPr/>
        </p:nvSpPr>
        <p:spPr>
          <a:xfrm>
            <a:off x="666750" y="5429250"/>
            <a:ext cx="1009650" cy="209550"/>
          </a:xfrm>
          <a:prstGeom prst="roundRect">
            <a:avLst>
              <a:gd name="adj" fmla="val 50000"/>
            </a:avLst>
          </a:prstGeom>
          <a:solidFill>
            <a:srgbClr val="0A1520">
              <a:alpha val="60000"/>
            </a:srgbClr>
          </a:solidFill>
          <a:ln w="12700">
            <a:solidFill>
              <a:srgbClr val="B3C3C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none" lIns="19050" tIns="0" rIns="19050" bIns="0" rtlCol="0" anchor="ctr"/>
          <a:lstStyle/>
          <a:p>
            <a:pPr algn="ctr"/>
            <a:r>
              <a:rPr lang="en-SG" sz="750" b="1" spc="45">
                <a:solidFill>
                  <a:srgbClr val="B3C3CE"/>
                </a:solidFill>
                <a:latin typeface="Calibri" panose="020F0502020204030204" pitchFamily="34" charset="0"/>
              </a:rPr>
              <a:t>PLANNED</a:t>
            </a:r>
          </a:p>
        </p:txBody>
      </p:sp>
      <p:sp>
        <p:nvSpPr>
          <p:cNvPr id="38" name="Model approach heading">
            <a:extLst>
              <a:ext uri="{FF2B5EF4-FFF2-40B4-BE49-F238E27FC236}">
                <a16:creationId xmlns:a16="http://schemas.microsoft.com/office/drawing/2014/main" id="{9698BF70-7AD1-2BC9-A425-B397954734A6}"/>
              </a:ext>
            </a:extLst>
          </p:cNvPr>
          <p:cNvSpPr txBox="1"/>
          <p:nvPr/>
        </p:nvSpPr>
        <p:spPr>
          <a:xfrm>
            <a:off x="1847850" y="5410199"/>
            <a:ext cx="5905500" cy="228600"/>
          </a:xfrm>
          <a:prstGeom prst="rect">
            <a:avLst/>
          </a:prstGeom>
          <a:noFill/>
        </p:spPr>
        <p:txBody>
          <a:bodyPr vert="horz" wrap="square" lIns="0" tIns="0" rIns="0" bIns="0" rtlCol="0">
            <a:noAutofit/>
          </a:bodyPr>
          <a:lstStyle/>
          <a:p>
            <a:r>
              <a:rPr lang="en-SG" sz="1275" b="1" dirty="0">
                <a:solidFill>
                  <a:srgbClr val="F3F6F8"/>
                </a:solidFill>
                <a:latin typeface="Calibri" panose="020F0502020204030204" pitchFamily="34" charset="0"/>
              </a:rPr>
              <a:t>Model approach</a:t>
            </a:r>
          </a:p>
        </p:txBody>
      </p:sp>
      <p:sp>
        <p:nvSpPr>
          <p:cNvPr id="39" name="Model approach detail">
            <a:extLst>
              <a:ext uri="{FF2B5EF4-FFF2-40B4-BE49-F238E27FC236}">
                <a16:creationId xmlns:a16="http://schemas.microsoft.com/office/drawing/2014/main" id="{4E6C4D07-5163-9BE4-A06C-3E6E74403253}"/>
              </a:ext>
            </a:extLst>
          </p:cNvPr>
          <p:cNvSpPr txBox="1"/>
          <p:nvPr/>
        </p:nvSpPr>
        <p:spPr>
          <a:xfrm>
            <a:off x="1847850" y="5648324"/>
            <a:ext cx="5905500" cy="323850"/>
          </a:xfrm>
          <a:prstGeom prst="rect">
            <a:avLst/>
          </a:prstGeom>
          <a:noFill/>
        </p:spPr>
        <p:txBody>
          <a:bodyPr vert="horz" wrap="square" lIns="0" tIns="0" rIns="0" bIns="0" rtlCol="0">
            <a:noAutofit/>
          </a:bodyPr>
          <a:lstStyle/>
          <a:p>
            <a:r>
              <a:rPr lang="en-US" sz="938" dirty="0" err="1">
                <a:solidFill>
                  <a:srgbClr val="B3C3CE"/>
                </a:solidFill>
                <a:latin typeface="Calibri" panose="020F0502020204030204" pitchFamily="34" charset="0"/>
              </a:rPr>
              <a:t>SegFormer</a:t>
            </a:r>
            <a:r>
              <a:rPr lang="en-US" sz="938" dirty="0">
                <a:solidFill>
                  <a:srgbClr val="B3C3CE"/>
                </a:solidFill>
                <a:latin typeface="Calibri" panose="020F0502020204030204" pitchFamily="34" charset="0"/>
              </a:rPr>
              <a:t> vision, pretrained </a:t>
            </a:r>
            <a:r>
              <a:rPr lang="en-US" sz="938" dirty="0" err="1">
                <a:solidFill>
                  <a:srgbClr val="B3C3CE"/>
                </a:solidFill>
                <a:latin typeface="Calibri" panose="020F0502020204030204" pitchFamily="34" charset="0"/>
              </a:rPr>
              <a:t>PaddleOCR</a:t>
            </a:r>
            <a:r>
              <a:rPr lang="en-US" sz="938" dirty="0">
                <a:solidFill>
                  <a:srgbClr val="B3C3CE"/>
                </a:solidFill>
                <a:latin typeface="Calibri" panose="020F0502020204030204" pitchFamily="34" charset="0"/>
              </a:rPr>
              <a:t>, Faster R-CNN pen marks, rule-based line items and offline cost ranges.</a:t>
            </a:r>
            <a:endParaRPr lang="en-SG" sz="938" dirty="0">
              <a:solidFill>
                <a:srgbClr val="B3C3CE"/>
              </a:solidFill>
              <a:latin typeface="Calibri" panose="020F0502020204030204" pitchFamily="34" charset="0"/>
            </a:endParaRPr>
          </a:p>
        </p:txBody>
      </p:sp>
      <p:sp>
        <p:nvSpPr>
          <p:cNvPr id="55" name="Photo credit">
            <a:extLst>
              <a:ext uri="{FF2B5EF4-FFF2-40B4-BE49-F238E27FC236}">
                <a16:creationId xmlns:a16="http://schemas.microsoft.com/office/drawing/2014/main" id="{996E31A7-93B3-69EF-4EEC-4EBD702D84B5}"/>
              </a:ext>
            </a:extLst>
          </p:cNvPr>
          <p:cNvSpPr txBox="1"/>
          <p:nvPr/>
        </p:nvSpPr>
        <p:spPr>
          <a:xfrm>
            <a:off x="6096000" y="6524625"/>
            <a:ext cx="4953000" cy="152400"/>
          </a:xfrm>
          <a:prstGeom prst="rect">
            <a:avLst/>
          </a:prstGeom>
          <a:noFill/>
        </p:spPr>
        <p:txBody>
          <a:bodyPr vert="horz" wrap="square" lIns="0" tIns="0" rIns="0" bIns="0" rtlCol="0">
            <a:noAutofit/>
          </a:bodyPr>
          <a:lstStyle/>
          <a:p>
            <a:pPr algn="r"/>
            <a:r>
              <a:rPr lang="en-US" sz="713">
                <a:solidFill>
                  <a:srgbClr val="8397A5"/>
                </a:solidFill>
                <a:latin typeface="Calibri" panose="020F0502020204030204" pitchFamily="34" charset="0"/>
              </a:rPr>
              <a:t>Background photo: Scientificranking, Wikimedia Commons, CC BY 4.0 (cropped, greyscale, tinted)</a:t>
            </a:r>
            <a:endParaRPr lang="en-SG" sz="713">
              <a:solidFill>
                <a:srgbClr val="8397A5"/>
              </a:solidFill>
              <a:latin typeface="Calibri" panose="020F0502020204030204" pitchFamily="34" charset="0"/>
            </a:endParaRPr>
          </a:p>
        </p:txBody>
      </p:sp>
      <p:pic>
        <p:nvPicPr>
          <p:cNvPr id="56" name="Picture 55" descr="The image shows a website interface for a car damage claims service, featuring a clear and organized layout for submitting and reviewing evidence such as photographs, estimates, and costs.&#10;&#10;AI-generated content may be incorrect.">
            <a:extLst>
              <a:ext uri="{FF2B5EF4-FFF2-40B4-BE49-F238E27FC236}">
                <a16:creationId xmlns:a16="http://schemas.microsoft.com/office/drawing/2014/main" id="{9D3BF621-7DE8-D9DF-D6F4-AB17A7F69210}"/>
              </a:ext>
            </a:extLst>
          </p:cNvPr>
          <p:cNvPicPr>
            <a:picLocks noChangeAspect="1"/>
          </p:cNvPicPr>
          <p:nvPr/>
        </p:nvPicPr>
        <p:blipFill>
          <a:blip r:embed="rId4"/>
          <a:stretch>
            <a:fillRect/>
          </a:stretch>
        </p:blipFill>
        <p:spPr>
          <a:xfrm>
            <a:off x="8297604" y="285749"/>
            <a:ext cx="3650365" cy="1869021"/>
          </a:xfrm>
          <a:prstGeom prst="rect">
            <a:avLst/>
          </a:prstGeom>
        </p:spPr>
      </p:pic>
      <p:pic>
        <p:nvPicPr>
          <p:cNvPr id="58" name="Picture 57" descr="The image shows a digital dashboard displaying a claims management system, with various tabs and sections for inputting, reviewing, and processing claims, including vehicle details, estimated costs, and inspection results.&#10;&#10;AI-generated content may be incorrect.">
            <a:extLst>
              <a:ext uri="{FF2B5EF4-FFF2-40B4-BE49-F238E27FC236}">
                <a16:creationId xmlns:a16="http://schemas.microsoft.com/office/drawing/2014/main" id="{5135C4F5-3A1D-2947-7237-3C9A72E0DBB7}"/>
              </a:ext>
            </a:extLst>
          </p:cNvPr>
          <p:cNvPicPr>
            <a:picLocks noChangeAspect="1"/>
          </p:cNvPicPr>
          <p:nvPr/>
        </p:nvPicPr>
        <p:blipFill>
          <a:blip r:embed="rId5"/>
          <a:stretch>
            <a:fillRect/>
          </a:stretch>
        </p:blipFill>
        <p:spPr>
          <a:xfrm>
            <a:off x="8297603" y="2266844"/>
            <a:ext cx="3650365" cy="1886055"/>
          </a:xfrm>
          <a:prstGeom prst="rect">
            <a:avLst/>
          </a:prstGeom>
        </p:spPr>
      </p:pic>
      <p:pic>
        <p:nvPicPr>
          <p:cNvPr id="62" name="Picture 61" descr="The image shows a digital dashboard with sections for submitting and managing car insurance claims, including fields for vehicle details, loss date, and evidence files.&#10;&#10;AI-generated content may be incorrect.">
            <a:extLst>
              <a:ext uri="{FF2B5EF4-FFF2-40B4-BE49-F238E27FC236}">
                <a16:creationId xmlns:a16="http://schemas.microsoft.com/office/drawing/2014/main" id="{42A2C33B-90C5-3807-B486-37790D45A936}"/>
              </a:ext>
            </a:extLst>
          </p:cNvPr>
          <p:cNvPicPr>
            <a:picLocks noChangeAspect="1"/>
          </p:cNvPicPr>
          <p:nvPr/>
        </p:nvPicPr>
        <p:blipFill>
          <a:blip r:embed="rId6"/>
          <a:stretch>
            <a:fillRect/>
          </a:stretch>
        </p:blipFill>
        <p:spPr>
          <a:xfrm>
            <a:off x="8297602" y="4336078"/>
            <a:ext cx="3650365" cy="2007572"/>
          </a:xfrm>
          <a:prstGeom prst="rect">
            <a:avLst/>
          </a:prstGeom>
        </p:spPr>
      </p:pic>
    </p:spTree>
    <p:extLst>
      <p:ext uri="{BB962C8B-B14F-4D97-AF65-F5344CB8AC3E}">
        <p14:creationId xmlns:p14="http://schemas.microsoft.com/office/powerpoint/2010/main" val="1310165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230"/>
        <p:cNvGrpSpPr/>
        <p:nvPr/>
      </p:nvGrpSpPr>
      <p:grpSpPr>
        <a:xfrm>
          <a:off x="0" y="0"/>
          <a:ext cx="0" cy="0"/>
          <a:chOff x="0" y="0"/>
          <a:chExt cx="0" cy="0"/>
        </a:xfrm>
      </p:grpSpPr>
      <p:pic>
        <p:nvPicPr>
          <p:cNvPr id="9001" name="Background photo"/>
          <p:cNvPicPr>
            <a:picLocks/>
          </p:cNvPicPr>
          <p:nvPr/>
        </p:nvPicPr>
        <p:blipFill>
          <a:blip r:embed="rId3">
            <a:lum bright="-16000"/>
          </a:blip>
          <a:stretch>
            <a:fillRect/>
          </a:stretch>
        </p:blipFill>
        <p:spPr>
          <a:xfrm>
            <a:off x="0" y="0"/>
            <a:ext cx="12192000" cy="6858000"/>
          </a:xfrm>
          <a:prstGeom prst="rect">
            <a:avLst/>
          </a:prstGeom>
        </p:spPr>
      </p:pic>
      <p:sp>
        <p:nvSpPr>
          <p:cNvPr id="9002" name="Background tint"/>
          <p:cNvSpPr/>
          <p:nvPr/>
        </p:nvSpPr>
        <p:spPr>
          <a:xfrm>
            <a:off x="0" y="0"/>
            <a:ext cx="12192000" cy="6858000"/>
          </a:xfrm>
          <a:prstGeom prst="rect">
            <a:avLst/>
          </a:prstGeom>
          <a:gradFill flip="none" rotWithShape="1">
            <a:gsLst>
              <a:gs pos="0">
                <a:srgbClr val="0A1520">
                  <a:alpha val="94000"/>
                </a:srgbClr>
              </a:gs>
              <a:gs pos="55000">
                <a:srgbClr val="0A1520">
                  <a:alpha val="82000"/>
                </a:srgbClr>
              </a:gs>
              <a:gs pos="100000">
                <a:srgbClr val="0A1520">
                  <a:alpha val="66000"/>
                </a:srgbClr>
              </a:gs>
            </a:gsLst>
            <a:lin ang="0" scaled="1"/>
            <a:tileRect/>
          </a:gradFill>
          <a:ln>
            <a:noFill/>
          </a:ln>
        </p:spPr>
        <p:txBody>
          <a:bodyPr/>
          <a:lstStyle/>
          <a:p>
            <a:endParaRPr lang="en-US"/>
          </a:p>
        </p:txBody>
      </p:sp>
      <p:sp>
        <p:nvSpPr>
          <p:cNvPr id="9003" name="Title shade"/>
          <p:cNvSpPr/>
          <p:nvPr/>
        </p:nvSpPr>
        <p:spPr>
          <a:xfrm>
            <a:off x="0" y="0"/>
            <a:ext cx="12192000" cy="1428750"/>
          </a:xfrm>
          <a:prstGeom prst="rect">
            <a:avLst/>
          </a:prstGeom>
          <a:gradFill flip="none" rotWithShape="1">
            <a:gsLst>
              <a:gs pos="0">
                <a:srgbClr val="0A1520">
                  <a:alpha val="75000"/>
                </a:srgbClr>
              </a:gs>
              <a:gs pos="100000">
                <a:srgbClr val="0A1520">
                  <a:alpha val="0"/>
                </a:srgbClr>
              </a:gs>
            </a:gsLst>
            <a:lin ang="5400000" scaled="1"/>
            <a:tileRect/>
          </a:gradFill>
          <a:ln>
            <a:noFill/>
          </a:ln>
        </p:spPr>
        <p:txBody>
          <a:bodyPr/>
          <a:lstStyle/>
          <a:p>
            <a:endParaRPr lang="en-US"/>
          </a:p>
        </p:txBody>
      </p:sp>
      <p:sp>
        <p:nvSpPr>
          <p:cNvPr id="9004" name="Google Shape;14;p11"/>
          <p:cNvSpPr/>
          <p:nvPr/>
        </p:nvSpPr>
        <p:spPr>
          <a:xfrm>
            <a:off x="502920" y="6510528"/>
            <a:ext cx="4937760"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ACERY  |  Group 34</a:t>
            </a:r>
            <a:endParaRPr sz="800" b="0" i="0" u="none" strike="noStrike" cap="none">
              <a:solidFill>
                <a:schemeClr val="dk1"/>
              </a:solidFill>
              <a:latin typeface="Arial"/>
              <a:ea typeface="Arial"/>
              <a:cs typeface="Arial"/>
              <a:sym typeface="Arial"/>
            </a:endParaRPr>
          </a:p>
        </p:txBody>
      </p:sp>
      <p:sp>
        <p:nvSpPr>
          <p:cNvPr id="9005" name="Google Shape;15;p11"/>
          <p:cNvSpPr/>
          <p:nvPr/>
        </p:nvSpPr>
        <p:spPr>
          <a:xfrm>
            <a:off x="7589520" y="6510528"/>
            <a:ext cx="4069080" cy="16459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397A5"/>
              </a:buClr>
              <a:buSzPts val="800"/>
              <a:buFont typeface="Arial"/>
              <a:buNone/>
            </a:pPr>
            <a:r>
              <a:rPr lang="en-US" sz="800" b="0" i="0" u="none" strike="noStrike" cap="none">
                <a:solidFill>
                  <a:srgbClr val="8397A5"/>
                </a:solidFill>
                <a:latin typeface="Arial"/>
                <a:ea typeface="Arial"/>
                <a:cs typeface="Arial"/>
                <a:sym typeface="Arial"/>
              </a:rPr>
              <a:t>National University of Singapore | ISS</a:t>
            </a:r>
            <a:endParaRPr sz="800" b="0" i="0" u="none" strike="noStrike" cap="none">
              <a:solidFill>
                <a:schemeClr val="dk1"/>
              </a:solidFill>
              <a:latin typeface="Arial"/>
              <a:ea typeface="Arial"/>
              <a:cs typeface="Arial"/>
              <a:sym typeface="Arial"/>
            </a:endParaRPr>
          </a:p>
        </p:txBody>
      </p:sp>
      <p:sp>
        <p:nvSpPr>
          <p:cNvPr id="231" name="Google Shape;231;p8"/>
          <p:cNvSpPr/>
          <p:nvPr/>
        </p:nvSpPr>
        <p:spPr>
          <a:xfrm>
            <a:off x="530352" y="384048"/>
            <a:ext cx="8046720" cy="42062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2600"/>
              <a:buFont typeface="Arial"/>
              <a:buNone/>
            </a:pPr>
            <a:r>
              <a:rPr lang="en-US" sz="2600" b="1" i="0" u="none" strike="noStrike" cap="none">
                <a:solidFill>
                  <a:srgbClr val="F3F6F8"/>
                </a:solidFill>
                <a:latin typeface="Arial"/>
                <a:ea typeface="Arial"/>
                <a:cs typeface="Arial"/>
                <a:sym typeface="Arial"/>
              </a:rPr>
              <a:t>Evaluation and quality controls</a:t>
            </a:r>
            <a:endParaRPr sz="2600" b="0" i="0" u="none" strike="noStrike" cap="none">
              <a:solidFill>
                <a:srgbClr val="F3F6F8"/>
              </a:solidFill>
              <a:latin typeface="Arial"/>
              <a:ea typeface="Arial"/>
              <a:cs typeface="Arial"/>
              <a:sym typeface="Arial"/>
            </a:endParaRPr>
          </a:p>
        </p:txBody>
      </p:sp>
      <p:sp>
        <p:nvSpPr>
          <p:cNvPr id="232" name="Google Shape;232;p8"/>
          <p:cNvSpPr/>
          <p:nvPr/>
        </p:nvSpPr>
        <p:spPr>
          <a:xfrm>
            <a:off x="548640" y="841248"/>
            <a:ext cx="108813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3C3CE"/>
              </a:buClr>
              <a:buSzPts val="1150"/>
              <a:buFont typeface="Arial"/>
              <a:buNone/>
            </a:pPr>
            <a:r>
              <a:rPr lang="en-US" sz="1800" b="0" i="0" u="none" strike="noStrike" cap="none">
                <a:solidFill>
                  <a:srgbClr val="B3C3CE"/>
                </a:solidFill>
                <a:latin typeface="Arial"/>
                <a:ea typeface="Arial"/>
                <a:cs typeface="Arial"/>
                <a:sym typeface="Arial"/>
              </a:rPr>
              <a:t>Each module has measurable technical performance and explicit operational safeguards.</a:t>
            </a:r>
            <a:endParaRPr sz="1800" b="0" i="0" u="none" strike="noStrike" cap="none">
              <a:solidFill>
                <a:srgbClr val="F3F6F8"/>
              </a:solidFill>
              <a:latin typeface="Arial"/>
              <a:ea typeface="Arial"/>
              <a:cs typeface="Arial"/>
              <a:sym typeface="Arial"/>
            </a:endParaRPr>
          </a:p>
        </p:txBody>
      </p:sp>
      <p:sp>
        <p:nvSpPr>
          <p:cNvPr id="233" name="Google Shape;233;p8"/>
          <p:cNvSpPr/>
          <p:nvPr/>
        </p:nvSpPr>
        <p:spPr>
          <a:xfrm>
            <a:off x="594360" y="1325880"/>
            <a:ext cx="5212080" cy="1755648"/>
          </a:xfrm>
          <a:prstGeom prst="roundRect">
            <a:avLst>
              <a:gd name="adj" fmla="val 3125"/>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34" name="Google Shape;234;p8"/>
          <p:cNvSpPr/>
          <p:nvPr/>
        </p:nvSpPr>
        <p:spPr>
          <a:xfrm>
            <a:off x="594360" y="1325880"/>
            <a:ext cx="73152" cy="1755648"/>
          </a:xfrm>
          <a:prstGeom prst="rect">
            <a:avLst/>
          </a:prstGeom>
          <a:solidFill>
            <a:srgbClr val="7AB6EA"/>
          </a:solidFill>
          <a:ln w="12700" cap="flat" cmpd="sng">
            <a:solidFill>
              <a:srgbClr val="7AB6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35" name="Google Shape;235;p8"/>
          <p:cNvSpPr/>
          <p:nvPr/>
        </p:nvSpPr>
        <p:spPr>
          <a:xfrm>
            <a:off x="813816" y="152704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Computer vision quality</a:t>
            </a:r>
            <a:endParaRPr sz="1800" b="0" i="0" u="none" strike="noStrike" cap="none">
              <a:solidFill>
                <a:srgbClr val="F3F6F8"/>
              </a:solidFill>
              <a:latin typeface="Arial"/>
              <a:ea typeface="Arial"/>
              <a:cs typeface="Arial"/>
              <a:sym typeface="Arial"/>
            </a:endParaRPr>
          </a:p>
        </p:txBody>
      </p:sp>
      <p:sp>
        <p:nvSpPr>
          <p:cNvPr id="236" name="Google Shape;236;p8"/>
          <p:cNvSpPr/>
          <p:nvPr/>
        </p:nvSpPr>
        <p:spPr>
          <a:xfrm>
            <a:off x="813816" y="1901952"/>
            <a:ext cx="2414016" cy="1024128"/>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000000"/>
              </a:buClr>
              <a:buSzPts val="1150"/>
              <a:buFont typeface="Arial"/>
              <a:buNone/>
            </a:pPr>
            <a:r>
              <a:rPr lang="en-US" sz="1500" b="0" i="0" u="none" strike="noStrike" cap="none" dirty="0">
                <a:solidFill>
                  <a:srgbClr val="D3DCE3"/>
                </a:solidFill>
                <a:latin typeface="Arial"/>
                <a:ea typeface="Arial"/>
                <a:cs typeface="Arial"/>
                <a:sym typeface="Arial"/>
              </a:rPr>
              <a:t>Precision / recall by part and damage type</a:t>
            </a:r>
            <a:endParaRPr sz="1500" b="0" i="0" u="none" strike="noStrike" cap="none" dirty="0">
              <a:solidFill>
                <a:srgbClr val="F3F6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500" b="0" i="0" u="none" strike="noStrike" cap="none" dirty="0" err="1">
                <a:solidFill>
                  <a:srgbClr val="D3DCE3"/>
                </a:solidFill>
                <a:latin typeface="Arial"/>
                <a:ea typeface="Arial"/>
                <a:cs typeface="Arial"/>
                <a:sym typeface="Arial"/>
              </a:rPr>
              <a:t>IoU</a:t>
            </a:r>
            <a:r>
              <a:rPr lang="en-US" sz="1500" b="0" i="0" u="none" strike="noStrike" cap="none" dirty="0">
                <a:solidFill>
                  <a:srgbClr val="D3DCE3"/>
                </a:solidFill>
                <a:latin typeface="Arial"/>
                <a:ea typeface="Arial"/>
                <a:cs typeface="Arial"/>
                <a:sym typeface="Arial"/>
              </a:rPr>
              <a:t> for localization</a:t>
            </a:r>
            <a:endParaRPr sz="1500" b="0" i="0" u="none" strike="noStrike" cap="none" dirty="0">
              <a:solidFill>
                <a:srgbClr val="F3F6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500" b="0" i="0" u="none" strike="noStrike" cap="none" dirty="0">
                <a:solidFill>
                  <a:srgbClr val="D3DCE3"/>
                </a:solidFill>
                <a:latin typeface="Arial"/>
                <a:ea typeface="Arial"/>
                <a:cs typeface="Arial"/>
                <a:sym typeface="Arial"/>
              </a:rPr>
              <a:t>Cross-image consistency</a:t>
            </a:r>
            <a:endParaRPr sz="1500" b="0" i="0" u="none" strike="noStrike" cap="none" dirty="0">
              <a:solidFill>
                <a:srgbClr val="F3F6F8"/>
              </a:solidFill>
              <a:latin typeface="Arial"/>
              <a:ea typeface="Arial"/>
              <a:cs typeface="Arial"/>
              <a:sym typeface="Arial"/>
            </a:endParaRPr>
          </a:p>
        </p:txBody>
      </p:sp>
      <p:sp>
        <p:nvSpPr>
          <p:cNvPr id="237" name="Google Shape;237;p8"/>
          <p:cNvSpPr/>
          <p:nvPr/>
        </p:nvSpPr>
        <p:spPr>
          <a:xfrm>
            <a:off x="6126480" y="1325880"/>
            <a:ext cx="5212080" cy="1755648"/>
          </a:xfrm>
          <a:prstGeom prst="roundRect">
            <a:avLst>
              <a:gd name="adj" fmla="val 3125"/>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38" name="Google Shape;238;p8"/>
          <p:cNvSpPr/>
          <p:nvPr/>
        </p:nvSpPr>
        <p:spPr>
          <a:xfrm>
            <a:off x="6126480" y="1325880"/>
            <a:ext cx="73152" cy="1755648"/>
          </a:xfrm>
          <a:prstGeom prst="rect">
            <a:avLst/>
          </a:prstGeom>
          <a:solidFill>
            <a:srgbClr val="F0C46E"/>
          </a:solidFill>
          <a:ln w="12700" cap="flat" cmpd="sng">
            <a:solidFill>
              <a:srgbClr val="F0C4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39" name="Google Shape;239;p8"/>
          <p:cNvSpPr/>
          <p:nvPr/>
        </p:nvSpPr>
        <p:spPr>
          <a:xfrm>
            <a:off x="6345936" y="152704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Cost model</a:t>
            </a:r>
            <a:endParaRPr sz="1800" b="0" i="0" u="none" strike="noStrike" cap="none">
              <a:solidFill>
                <a:srgbClr val="F3F6F8"/>
              </a:solidFill>
              <a:latin typeface="Arial"/>
              <a:ea typeface="Arial"/>
              <a:cs typeface="Arial"/>
              <a:sym typeface="Arial"/>
            </a:endParaRPr>
          </a:p>
        </p:txBody>
      </p:sp>
      <p:sp>
        <p:nvSpPr>
          <p:cNvPr id="240" name="Google Shape;240;p8"/>
          <p:cNvSpPr/>
          <p:nvPr/>
        </p:nvSpPr>
        <p:spPr>
          <a:xfrm>
            <a:off x="6345936" y="1901952"/>
            <a:ext cx="2452609" cy="1024128"/>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000000"/>
              </a:buClr>
              <a:buSzPts val="1150"/>
              <a:buFont typeface="Arial"/>
              <a:buNone/>
            </a:pPr>
            <a:r>
              <a:rPr lang="en-US" sz="1500" b="0" i="0" u="none" strike="noStrike" cap="none" dirty="0">
                <a:solidFill>
                  <a:srgbClr val="D3DCE3"/>
                </a:solidFill>
                <a:latin typeface="Arial"/>
                <a:ea typeface="Arial"/>
                <a:cs typeface="Arial"/>
                <a:sym typeface="Arial"/>
              </a:rPr>
              <a:t>MAE and RMSE</a:t>
            </a:r>
            <a:endParaRPr sz="1500" b="0" i="0" u="none" strike="noStrike" cap="none" dirty="0">
              <a:solidFill>
                <a:srgbClr val="F3F6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500" b="0" i="0" u="none" strike="noStrike" cap="none" dirty="0">
                <a:solidFill>
                  <a:srgbClr val="D3DCE3"/>
                </a:solidFill>
                <a:latin typeface="Arial"/>
                <a:ea typeface="Arial"/>
                <a:cs typeface="Arial"/>
                <a:sym typeface="Arial"/>
              </a:rPr>
              <a:t>Prediction-interval coverage</a:t>
            </a:r>
            <a:endParaRPr sz="1500" b="0" i="0" u="none" strike="noStrike" cap="none" dirty="0">
              <a:solidFill>
                <a:srgbClr val="F3F6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500" b="0" i="0" u="none" strike="noStrike" cap="none" dirty="0">
                <a:solidFill>
                  <a:srgbClr val="D3DCE3"/>
                </a:solidFill>
                <a:latin typeface="Arial"/>
                <a:ea typeface="Arial"/>
                <a:cs typeface="Arial"/>
                <a:sym typeface="Arial"/>
              </a:rPr>
              <a:t>Residuals by vehicle segment</a:t>
            </a:r>
            <a:endParaRPr sz="1500" b="0" i="0" u="none" strike="noStrike" cap="none" dirty="0">
              <a:solidFill>
                <a:srgbClr val="F3F6F8"/>
              </a:solidFill>
              <a:latin typeface="Arial"/>
              <a:ea typeface="Arial"/>
              <a:cs typeface="Arial"/>
              <a:sym typeface="Arial"/>
            </a:endParaRPr>
          </a:p>
        </p:txBody>
      </p:sp>
      <p:sp>
        <p:nvSpPr>
          <p:cNvPr id="241" name="Google Shape;241;p8"/>
          <p:cNvSpPr/>
          <p:nvPr/>
        </p:nvSpPr>
        <p:spPr>
          <a:xfrm>
            <a:off x="594360" y="3474720"/>
            <a:ext cx="5212080" cy="1755648"/>
          </a:xfrm>
          <a:prstGeom prst="roundRect">
            <a:avLst>
              <a:gd name="adj" fmla="val 3125"/>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42" name="Google Shape;242;p8"/>
          <p:cNvSpPr/>
          <p:nvPr/>
        </p:nvSpPr>
        <p:spPr>
          <a:xfrm>
            <a:off x="594360" y="3474720"/>
            <a:ext cx="73152" cy="1755648"/>
          </a:xfrm>
          <a:prstGeom prst="rect">
            <a:avLst/>
          </a:prstGeom>
          <a:solidFill>
            <a:srgbClr val="4FD1C0"/>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43" name="Google Shape;243;p8"/>
          <p:cNvSpPr/>
          <p:nvPr/>
        </p:nvSpPr>
        <p:spPr>
          <a:xfrm>
            <a:off x="813816" y="367588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Anomaly review</a:t>
            </a:r>
            <a:endParaRPr sz="1800" b="0" i="0" u="none" strike="noStrike" cap="none">
              <a:solidFill>
                <a:srgbClr val="F3F6F8"/>
              </a:solidFill>
              <a:latin typeface="Arial"/>
              <a:ea typeface="Arial"/>
              <a:cs typeface="Arial"/>
              <a:sym typeface="Arial"/>
            </a:endParaRPr>
          </a:p>
        </p:txBody>
      </p:sp>
      <p:sp>
        <p:nvSpPr>
          <p:cNvPr id="244" name="Google Shape;244;p8"/>
          <p:cNvSpPr/>
          <p:nvPr/>
        </p:nvSpPr>
        <p:spPr>
          <a:xfrm>
            <a:off x="813816" y="4050792"/>
            <a:ext cx="2555462" cy="1024128"/>
          </a:xfrm>
          <a:prstGeom prst="rect">
            <a:avLst/>
          </a:prstGeom>
          <a:noFill/>
          <a:ln>
            <a:noFill/>
          </a:ln>
        </p:spPr>
        <p:txBody>
          <a:bodyPr spcFirstLastPara="1" wrap="square" lIns="250" tIns="250" rIns="250" bIns="250" anchor="t" anchorCtr="0">
            <a:normAutofit/>
          </a:bodyPr>
          <a:lstStyle/>
          <a:p>
            <a:pPr marL="0" marR="0" lvl="0" indent="0" algn="l" rtl="0">
              <a:lnSpc>
                <a:spcPct val="100000"/>
              </a:lnSpc>
              <a:spcBef>
                <a:spcPts val="0"/>
              </a:spcBef>
              <a:spcAft>
                <a:spcPts val="0"/>
              </a:spcAft>
              <a:buClr>
                <a:srgbClr val="000000"/>
              </a:buClr>
              <a:buSzPts val="1150"/>
              <a:buFont typeface="Arial"/>
              <a:buNone/>
            </a:pPr>
            <a:r>
              <a:rPr lang="en-US" sz="1388" b="0" i="0" u="none" strike="noStrike" cap="none">
                <a:solidFill>
                  <a:srgbClr val="D3DCE3"/>
                </a:solidFill>
                <a:latin typeface="Arial"/>
                <a:ea typeface="Arial"/>
                <a:cs typeface="Arial"/>
                <a:sym typeface="Arial"/>
              </a:rPr>
              <a:t>Precision–recall for rare cases</a:t>
            </a:r>
            <a:endParaRPr sz="1388" b="0" i="0" u="none" strike="noStrike" cap="none">
              <a:solidFill>
                <a:srgbClr val="F3F6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388" b="0" i="0" u="none" strike="noStrike" cap="none">
                <a:solidFill>
                  <a:srgbClr val="D3DCE3"/>
                </a:solidFill>
                <a:latin typeface="Arial"/>
                <a:ea typeface="Arial"/>
                <a:cs typeface="Arial"/>
                <a:sym typeface="Arial"/>
              </a:rPr>
              <a:t>TPR / FPR trade-off</a:t>
            </a:r>
            <a:endParaRPr sz="1388" b="0" i="0" u="none" strike="noStrike" cap="none">
              <a:solidFill>
                <a:srgbClr val="F3F6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50"/>
              <a:buFont typeface="Arial"/>
              <a:buNone/>
            </a:pPr>
            <a:r>
              <a:rPr lang="en-US" sz="1388" b="0" i="0" u="none" strike="noStrike" cap="none">
                <a:solidFill>
                  <a:srgbClr val="D3DCE3"/>
                </a:solidFill>
                <a:latin typeface="Arial"/>
                <a:ea typeface="Arial"/>
                <a:cs typeface="Arial"/>
                <a:sym typeface="Arial"/>
              </a:rPr>
              <a:t>Surveyor false-positive feedback</a:t>
            </a:r>
            <a:endParaRPr sz="1388" b="0" i="0" u="none" strike="noStrike" cap="none">
              <a:solidFill>
                <a:srgbClr val="F3F6F8"/>
              </a:solidFill>
              <a:latin typeface="Arial"/>
              <a:ea typeface="Arial"/>
              <a:cs typeface="Arial"/>
              <a:sym typeface="Arial"/>
            </a:endParaRPr>
          </a:p>
        </p:txBody>
      </p:sp>
      <p:sp>
        <p:nvSpPr>
          <p:cNvPr id="245" name="Google Shape;245;p8"/>
          <p:cNvSpPr/>
          <p:nvPr/>
        </p:nvSpPr>
        <p:spPr>
          <a:xfrm>
            <a:off x="6126480" y="3474720"/>
            <a:ext cx="5212080" cy="1755648"/>
          </a:xfrm>
          <a:prstGeom prst="roundRect">
            <a:avLst>
              <a:gd name="adj" fmla="val 3125"/>
            </a:avLst>
          </a:prstGeom>
          <a:solidFill>
            <a:srgbClr val="0F2231">
              <a:alpha val="84000"/>
            </a:srgbClr>
          </a:solidFill>
          <a:ln w="12700" cap="flat" cmpd="sng">
            <a:solidFill>
              <a:srgbClr val="3E5566"/>
            </a:solidFill>
            <a:prstDash val="solid"/>
            <a:round/>
            <a:headEnd type="none" w="sm" len="sm"/>
            <a:tailEnd type="none" w="sm" len="sm"/>
          </a:ln>
          <a:effectLst>
            <a:outerShdw blurRad="19050" dist="8890" dir="2700000" algn="bl" rotWithShape="0">
              <a:srgbClr val="000000">
                <a:alpha val="35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46" name="Google Shape;246;p8"/>
          <p:cNvSpPr/>
          <p:nvPr/>
        </p:nvSpPr>
        <p:spPr>
          <a:xfrm>
            <a:off x="6126480" y="3474720"/>
            <a:ext cx="73152" cy="1755648"/>
          </a:xfrm>
          <a:prstGeom prst="rect">
            <a:avLst/>
          </a:prstGeom>
          <a:solidFill>
            <a:srgbClr val="A99BF0"/>
          </a:solidFill>
          <a:ln w="12700" cap="flat" cmpd="sng">
            <a:solidFill>
              <a:srgbClr val="A99B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3F6F8"/>
              </a:solidFill>
              <a:latin typeface="Arial"/>
              <a:ea typeface="Arial"/>
              <a:cs typeface="Arial"/>
              <a:sym typeface="Arial"/>
            </a:endParaRPr>
          </a:p>
        </p:txBody>
      </p:sp>
      <p:sp>
        <p:nvSpPr>
          <p:cNvPr id="247" name="Google Shape;247;p8"/>
          <p:cNvSpPr/>
          <p:nvPr/>
        </p:nvSpPr>
        <p:spPr>
          <a:xfrm>
            <a:off x="6345936" y="3675888"/>
            <a:ext cx="4828032"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F6F8"/>
              </a:buClr>
              <a:buSzPts val="1600"/>
              <a:buFont typeface="Arial"/>
              <a:buNone/>
            </a:pPr>
            <a:r>
              <a:rPr lang="en-US" sz="1800" b="1" i="0" u="none" strike="noStrike" cap="none">
                <a:solidFill>
                  <a:srgbClr val="F3F6F8"/>
                </a:solidFill>
                <a:latin typeface="Arial"/>
                <a:ea typeface="Arial"/>
                <a:cs typeface="Arial"/>
                <a:sym typeface="Arial"/>
              </a:rPr>
              <a:t>Governance</a:t>
            </a:r>
            <a:endParaRPr sz="1800" b="0" i="0" u="none" strike="noStrike" cap="none">
              <a:solidFill>
                <a:srgbClr val="F3F6F8"/>
              </a:solidFill>
              <a:latin typeface="Arial"/>
              <a:ea typeface="Arial"/>
              <a:cs typeface="Arial"/>
              <a:sym typeface="Arial"/>
            </a:endParaRPr>
          </a:p>
        </p:txBody>
      </p:sp>
      <p:sp>
        <p:nvSpPr>
          <p:cNvPr id="248" name="Google Shape;248;p8"/>
          <p:cNvSpPr/>
          <p:nvPr/>
        </p:nvSpPr>
        <p:spPr>
          <a:xfrm>
            <a:off x="6345936" y="4050792"/>
            <a:ext cx="2452609" cy="1024128"/>
          </a:xfrm>
          <a:prstGeom prst="rect">
            <a:avLst/>
          </a:prstGeom>
          <a:noFill/>
          <a:ln>
            <a:noFill/>
          </a:ln>
        </p:spPr>
        <p:txBody>
          <a:bodyPr spcFirstLastPara="1" wrap="square" lIns="250" tIns="250" rIns="250" bIns="250" anchor="t" anchorCtr="0">
            <a:normAutofit/>
          </a:bodyPr>
          <a:lstStyle/>
          <a:p>
            <a:pPr marL="0" marR="0" lvl="0" indent="0" algn="l" rtl="0">
              <a:lnSpc>
                <a:spcPct val="90000"/>
              </a:lnSpc>
              <a:spcBef>
                <a:spcPts val="0"/>
              </a:spcBef>
              <a:spcAft>
                <a:spcPts val="0"/>
              </a:spcAft>
              <a:buClr>
                <a:srgbClr val="000000"/>
              </a:buClr>
              <a:buSzPts val="1150"/>
              <a:buFont typeface="Arial"/>
              <a:buNone/>
            </a:pPr>
            <a:r>
              <a:rPr lang="en-US" sz="1388" b="0" i="0" u="none" strike="noStrike" cap="none">
                <a:solidFill>
                  <a:srgbClr val="D3DCE3"/>
                </a:solidFill>
                <a:latin typeface="Arial"/>
                <a:ea typeface="Arial"/>
                <a:cs typeface="Arial"/>
                <a:sym typeface="Arial"/>
              </a:rPr>
              <a:t>PII removal and secure storage</a:t>
            </a:r>
            <a:endParaRPr sz="1388" b="0" i="0" u="none" strike="noStrike" cap="none">
              <a:solidFill>
                <a:srgbClr val="F3F6F8"/>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150"/>
              <a:buFont typeface="Arial"/>
              <a:buNone/>
            </a:pPr>
            <a:r>
              <a:rPr lang="en-US" sz="1388" b="0" i="0" u="none" strike="noStrike" cap="none">
                <a:solidFill>
                  <a:srgbClr val="D3DCE3"/>
                </a:solidFill>
                <a:latin typeface="Arial"/>
                <a:ea typeface="Arial"/>
                <a:cs typeface="Arial"/>
                <a:sym typeface="Arial"/>
              </a:rPr>
              <a:t>Audit trail and model versions</a:t>
            </a:r>
            <a:endParaRPr sz="1388" b="0" i="0" u="none" strike="noStrike" cap="none">
              <a:solidFill>
                <a:srgbClr val="F3F6F8"/>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150"/>
              <a:buFont typeface="Arial"/>
              <a:buNone/>
            </a:pPr>
            <a:r>
              <a:rPr lang="en-US" sz="1388" b="0" i="0" u="none" strike="noStrike" cap="none">
                <a:solidFill>
                  <a:srgbClr val="D3DCE3"/>
                </a:solidFill>
                <a:latin typeface="Arial"/>
                <a:ea typeface="Arial"/>
                <a:cs typeface="Arial"/>
                <a:sym typeface="Arial"/>
              </a:rPr>
              <a:t>Low confidence → manual review</a:t>
            </a:r>
            <a:endParaRPr sz="1388" b="0" i="0" u="none" strike="noStrike" cap="none">
              <a:solidFill>
                <a:srgbClr val="F3F6F8"/>
              </a:solidFill>
              <a:latin typeface="Arial"/>
              <a:ea typeface="Arial"/>
              <a:cs typeface="Arial"/>
              <a:sym typeface="Arial"/>
            </a:endParaRPr>
          </a:p>
        </p:txBody>
      </p:sp>
      <p:sp>
        <p:nvSpPr>
          <p:cNvPr id="249" name="Google Shape;249;p8"/>
          <p:cNvSpPr txBox="1">
            <a:spLocks noGrp="1"/>
          </p:cNvSpPr>
          <p:nvPr>
            <p:ph type="sldNum" idx="4294967295"/>
          </p:nvPr>
        </p:nvSpPr>
        <p:spPr>
          <a:xfrm>
            <a:off x="11750040" y="6492240"/>
            <a:ext cx="228600" cy="1828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800"/>
              <a:buNone/>
            </a:pPr>
            <a:fld id="{00000000-1234-1234-1234-123412341234}" type="slidenum">
              <a:rPr lang="en-US" sz="800" b="0">
                <a:solidFill>
                  <a:srgbClr val="8397A5"/>
                </a:solidFill>
                <a:latin typeface="Arial"/>
                <a:ea typeface="Arial"/>
                <a:cs typeface="Arial"/>
                <a:sym typeface="Arial"/>
              </a:rPr>
              <a:t>10</a:t>
            </a:fld>
            <a:endParaRPr sz="800">
              <a:solidFill>
                <a:srgbClr val="8397A5"/>
              </a:solidFill>
              <a:latin typeface="Arial"/>
              <a:ea typeface="Arial"/>
              <a:cs typeface="Arial"/>
              <a:sym typeface="Arial"/>
            </a:endParaRPr>
          </a:p>
        </p:txBody>
      </p:sp>
      <p:sp>
        <p:nvSpPr>
          <p:cNvPr id="250" name="Google Shape;250;p8"/>
          <p:cNvSpPr/>
          <p:nvPr/>
        </p:nvSpPr>
        <p:spPr>
          <a:xfrm>
            <a:off x="1090500" y="5623575"/>
            <a:ext cx="10011000" cy="420600"/>
          </a:xfrm>
          <a:prstGeom prst="roundRect">
            <a:avLst>
              <a:gd name="adj" fmla="val 16667"/>
            </a:avLst>
          </a:prstGeom>
          <a:solidFill>
            <a:srgbClr val="0F2231">
              <a:alpha val="92000"/>
            </a:srgbClr>
          </a:solidFill>
          <a:ln w="12700" cap="flat" cmpd="sng">
            <a:solidFill>
              <a:srgbClr val="4FD1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Success means useful, explainable review support with known limitations, not only a high model. score.</a:t>
            </a:r>
            <a:endParaRPr sz="1800"/>
          </a:p>
        </p:txBody>
      </p:sp>
      <p:pic>
        <p:nvPicPr>
          <p:cNvPr id="251" name="Google Shape;251;p8"/>
          <p:cNvPicPr preferRelativeResize="0"/>
          <p:nvPr/>
        </p:nvPicPr>
        <p:blipFill rotWithShape="1">
          <a:blip r:embed="rId4">
            <a:alphaModFix/>
          </a:blip>
          <a:srcRect/>
          <a:stretch/>
        </p:blipFill>
        <p:spPr>
          <a:xfrm>
            <a:off x="3442430" y="1426009"/>
            <a:ext cx="2388002" cy="1555390"/>
          </a:xfrm>
          <a:prstGeom prst="rect">
            <a:avLst/>
          </a:prstGeom>
          <a:noFill/>
          <a:ln>
            <a:noFill/>
          </a:ln>
        </p:spPr>
      </p:pic>
      <p:pic>
        <p:nvPicPr>
          <p:cNvPr id="252" name="Google Shape;252;p8"/>
          <p:cNvPicPr preferRelativeResize="0"/>
          <p:nvPr/>
        </p:nvPicPr>
        <p:blipFill rotWithShape="1">
          <a:blip r:embed="rId5">
            <a:alphaModFix/>
          </a:blip>
          <a:srcRect/>
          <a:stretch/>
        </p:blipFill>
        <p:spPr>
          <a:xfrm>
            <a:off x="8769784" y="1495654"/>
            <a:ext cx="2578608" cy="1440758"/>
          </a:xfrm>
          <a:prstGeom prst="rect">
            <a:avLst/>
          </a:prstGeom>
          <a:noFill/>
          <a:ln>
            <a:noFill/>
          </a:ln>
        </p:spPr>
      </p:pic>
      <p:pic>
        <p:nvPicPr>
          <p:cNvPr id="253" name="Google Shape;253;p8"/>
          <p:cNvPicPr preferRelativeResize="0"/>
          <p:nvPr/>
        </p:nvPicPr>
        <p:blipFill rotWithShape="1">
          <a:blip r:embed="rId6">
            <a:alphaModFix/>
          </a:blip>
          <a:srcRect/>
          <a:stretch/>
        </p:blipFill>
        <p:spPr>
          <a:xfrm>
            <a:off x="8769784" y="3759696"/>
            <a:ext cx="2578608" cy="1279697"/>
          </a:xfrm>
          <a:prstGeom prst="rect">
            <a:avLst/>
          </a:prstGeom>
          <a:noFill/>
          <a:ln>
            <a:noFill/>
          </a:ln>
        </p:spPr>
      </p:pic>
      <p:pic>
        <p:nvPicPr>
          <p:cNvPr id="254" name="Google Shape;254;p8"/>
          <p:cNvPicPr preferRelativeResize="0"/>
          <p:nvPr/>
        </p:nvPicPr>
        <p:blipFill rotWithShape="1">
          <a:blip r:embed="rId7">
            <a:alphaModFix/>
          </a:blip>
          <a:srcRect/>
          <a:stretch/>
        </p:blipFill>
        <p:spPr>
          <a:xfrm>
            <a:off x="3440623" y="3588042"/>
            <a:ext cx="2389610" cy="155539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1904</Words>
  <Application>Microsoft Macintosh PowerPoint</Application>
  <PresentationFormat>Widescreen</PresentationFormat>
  <Paragraphs>194</Paragraphs>
  <Slides>10</Slides>
  <Notes>10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Sun Yan (BE DMR PTE GPE EEA)</dc:creator>
  <cp:lastModifiedBy>Rodel Miguel</cp:lastModifiedBy>
  <cp:revision>3</cp:revision>
  <dcterms:created xsi:type="dcterms:W3CDTF">2026-09-05T17:33:02Z</dcterms:created>
  <dcterms:modified xsi:type="dcterms:W3CDTF">2026-09-28T15:52:39Z</dcterms:modified>
</cp:coreProperties>
</file>