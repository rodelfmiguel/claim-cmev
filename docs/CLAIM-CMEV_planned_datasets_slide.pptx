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<Relationship Id="rId1" Type="http://schemas.openxmlformats.org/officeDocument/2006/relationships/officeDocument" Target="ppt/presentation.xml"/>
 <Relationship Id="rId2" Type="http://schemas.openxmlformats.org/package/2006/relationships/metadata/core-properties" Target="docProps/core.xml"/>
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 type="screen16x9"/>
  <p:notesSz cx="6858000" cy="9144000"/>
  <p:defaultTextStyle>
    <a:defPPr>
      <a:defRPr lang="en-S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ideView">
  <p:normalViewPr>
    <p:restoredLeft sz="15620"/>
    <p:restoredTop sz="94660"/>
  </p:normalViewPr>
  <p:slideViewPr>
    <p:cSldViewPr snapToGrid="1" snapToObjects="1"/>
  </p:slideViewPr>
  <p:gridSpacing cx="78028800" cy="78028800"/>
</p:viewPr>
</file>

<file path=ppt/_rels/presentation.xml.rels><?xml version="1.0" encoding="UTF-8" standalone="yes"?>
<Relationships xmlns="http://schemas.openxmlformats.org/package/2006/relationships">
 <Relationship Id="rId1" Type="http://schemas.openxmlformats.org/officeDocument/2006/relationships/slideMaster" Target="slideMasters/slideMaster1.xml"/>
 <Relationship Id="rId2" Type="http://schemas.openxmlformats.org/officeDocument/2006/relationships/slide" Target="slides/slide1.xml"/>
 <Relationship Id="rId3" Type="http://schemas.openxmlformats.org/officeDocument/2006/relationships/presProps" Target="presProps.xml"/>
 <Relationship Id="rId4" Type="http://schemas.openxmlformats.org/officeDocument/2006/relationships/viewProps" Target="viewProps.xml"/>
 <Relationship Id="rId5" Type="http://schemas.openxmlformats.org/officeDocument/2006/relationships/theme" Target="theme/theme1.xml"/>
 <Relationship Id="rId6" Type="http://schemas.openxmlformats.org/officeDocument/2006/relationships/tableStyles" Target="tableStyles.xml"/>
</Relationships>
</file>

<file path=ppt/slideLayouts/_rels/slideLayout1.xml.rels><?xml version="1.0" encoding="UTF-8" standalone="yes"?>
<Relationships xmlns="http://schemas.openxmlformats.org/package/2006/relationships">
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<Relationship Id="rId1" Type="http://schemas.openxmlformats.org/officeDocument/2006/relationships/slideLayout" Target="../slideLayouts/slideLayout1.xml"/>
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CLAIM-CME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1" r:id="rId1"/>
  </p:sldLayoutIdLst>
  <p:txStyles>
    <p:titleStyle>
      <a:lvl1pPr algn="l">
        <a:defRPr sz="3000" b="1"/>
      </a:lvl1pPr>
    </p:titleStyle>
    <p:bodyStyle>
      <a:lvl1pPr algn="l">
        <a:defRPr sz="1800"/>
      </a:lvl1pPr>
    </p:bodyStyle>
    <p:otherStyle>
      <a:defPPr>
        <a:defRPr lang="en-SG"/>
      </a:defPPr>
    </p:otherStyle>
  </p:txStyles>
</p:sldMaster>
</file>

<file path=ppt/slides/_rels/slide1.xml.rels><?xml version="1.0" encoding="UTF-8" standalone="yes"?>
<Relationships xmlns="http://schemas.openxmlformats.org/package/2006/relationships">
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Title"/>
          <p:cNvSpPr/>
          <p:nvPr/>
        </p:nvSpPr>
        <p:spPr>
          <a:xfrm>
            <a:off x="502920" y="256032"/>
            <a:ext cx="9144000" cy="475488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wrap="square" lIns="0" rIns="0" tIns="45720" bIns="45720" anchor="ctr"/>
          <a:lstStyle/>
          <a:p>
            <a:pPr algn="l" marL="0" indent="0" lnSpc="2750">
              <a:buNone/>
            </a:pPr>
            <a:r>
              <a:rPr lang="en-SG" sz="2750" b="1" dirty="0">
                <a:solidFill>
                  <a:srgbClr val="0C1B33"/>
                </a:solidFill>
                <a:latin typeface="Arial"/>
              </a:rPr>
              <a:t>Planned datasets by CLAIM-CMEV module</a:t>
            </a:r>
            <a:endParaRPr lang="en-SG" sz="2750"/>
          </a:p>
        </p:txBody>
      </p:sp>
      <p:sp>
        <p:nvSpPr>
          <p:cNvPr id="4" name="Image count badge"/>
          <p:cNvSpPr/>
          <p:nvPr/>
        </p:nvSpPr>
        <p:spPr>
          <a:xfrm>
            <a:off x="10149840" y="283464"/>
            <a:ext cx="1536192" cy="365760"/>
          </a:xfrm>
          <a:prstGeom prst="roundRect">
            <a:avLst/>
          </a:prstGeom>
          <a:solidFill>
            <a:srgbClr val="DCEEFF"/>
          </a:solidFill>
          <a:ln w="8890">
            <a:solidFill>
              <a:srgbClr val="6AADE4"/>
            </a:solidFill>
          </a:ln>
        </p:spPr>
        <p:txBody>
          <a:bodyPr wrap="square" lIns="54864" rIns="54864" tIns="45720" bIns="45720" anchor="ctr"/>
          <a:lstStyle/>
          <a:p>
            <a:pPr algn="ctr" marL="0" indent="0" lnSpc="1050">
              <a:buNone/>
            </a:pPr>
            <a:r>
              <a:rPr lang="en-SG" sz="1050" b="1" dirty="0">
                <a:solidFill>
                  <a:srgbClr val="174A73"/>
                </a:solidFill>
                <a:latin typeface="Arial"/>
              </a:rPr>
              <a:t>≈20k real images*</a:t>
            </a:r>
            <a:endParaRPr lang="en-SG" sz="1050"/>
          </a:p>
        </p:txBody>
      </p:sp>
      <p:sp>
        <p:nvSpPr>
          <p:cNvPr id="5" name="Subtitle"/>
          <p:cNvSpPr/>
          <p:nvPr/>
        </p:nvSpPr>
        <p:spPr>
          <a:xfrm>
            <a:off x="521208" y="786384"/>
            <a:ext cx="10789920" cy="310896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wrap="square" lIns="0" rIns="0" tIns="45720" bIns="45720" anchor="ctr"/>
          <a:lstStyle/>
          <a:p>
            <a:pPr algn="l" marL="0" indent="0" lnSpc="1450">
              <a:buNone/>
            </a:pPr>
            <a:r>
              <a:rPr lang="en-SG" sz="1450" b="0" dirty="0">
                <a:solidFill>
                  <a:srgbClr val="5E6C7D"/>
                </a:solidFill>
                <a:latin typeface="Arial"/>
              </a:rPr>
              <a:t>Public sources train separate modules; synthetic data completes the end-to-end prototype.</a:t>
            </a:r>
            <a:endParaRPr lang="en-SG" sz="1450"/>
          </a:p>
        </p:txBody>
      </p:sp>
      <p:sp>
        <p:nvSpPr>
          <p:cNvPr id="6" name="Header DATA WORKSTREAM"/>
          <p:cNvSpPr/>
          <p:nvPr/>
        </p:nvSpPr>
        <p:spPr>
          <a:xfrm>
            <a:off x="502920" y="1243584"/>
            <a:ext cx="1435608" cy="438912"/>
          </a:xfrm>
          <a:prstGeom prst="rect">
            <a:avLst/>
          </a:prstGeom>
          <a:solidFill>
            <a:srgbClr val="D9ECFF"/>
          </a:solidFill>
          <a:ln w="11430">
            <a:solidFill>
              <a:srgbClr val="68A9DE"/>
            </a:solidFill>
          </a:ln>
        </p:spPr>
        <p:txBody>
          <a:bodyPr wrap="square" lIns="54864" rIns="54864" tIns="45720" bIns="45720" anchor="ctr"/>
          <a:lstStyle/>
          <a:p>
            <a:pPr algn="ctr" marL="0" indent="0" lnSpc="1020">
              <a:buNone/>
            </a:pPr>
            <a:r>
              <a:rPr lang="en-SG" sz="1020" b="1" dirty="0">
                <a:solidFill>
                  <a:srgbClr val="17324D"/>
                </a:solidFill>
                <a:latin typeface="Arial"/>
              </a:rPr>
              <a:t>DATA WORKSTREAM</a:t>
            </a:r>
            <a:endParaRPr lang="en-SG" sz="1020"/>
          </a:p>
        </p:txBody>
      </p:sp>
      <p:sp>
        <p:nvSpPr>
          <p:cNvPr id="7" name="Header PLANNED DATASETS"/>
          <p:cNvSpPr/>
          <p:nvPr/>
        </p:nvSpPr>
        <p:spPr>
          <a:xfrm>
            <a:off x="1938528" y="1243584"/>
            <a:ext cx="3355848" cy="438912"/>
          </a:xfrm>
          <a:prstGeom prst="rect">
            <a:avLst/>
          </a:prstGeom>
          <a:solidFill>
            <a:srgbClr val="D9ECFF"/>
          </a:solidFill>
          <a:ln w="11430">
            <a:solidFill>
              <a:srgbClr val="68A9DE"/>
            </a:solidFill>
          </a:ln>
        </p:spPr>
        <p:txBody>
          <a:bodyPr wrap="square" lIns="54864" rIns="54864" tIns="45720" bIns="45720" anchor="ctr"/>
          <a:lstStyle/>
          <a:p>
            <a:pPr algn="ctr" marL="0" indent="0" lnSpc="1020">
              <a:buNone/>
            </a:pPr>
            <a:r>
              <a:rPr lang="en-SG" sz="1020" b="1" dirty="0">
                <a:solidFill>
                  <a:srgbClr val="17324D"/>
                </a:solidFill>
                <a:latin typeface="Arial"/>
              </a:rPr>
              <a:t>PLANNED DATASETS</a:t>
            </a:r>
            <a:endParaRPr lang="en-SG" sz="1020"/>
          </a:p>
        </p:txBody>
      </p:sp>
      <p:sp>
        <p:nvSpPr>
          <p:cNvPr id="8" name="Header USE IN CLAIM-CMEV"/>
          <p:cNvSpPr/>
          <p:nvPr/>
        </p:nvSpPr>
        <p:spPr>
          <a:xfrm>
            <a:off x="5294376" y="1243584"/>
            <a:ext cx="2761488" cy="438912"/>
          </a:xfrm>
          <a:prstGeom prst="rect">
            <a:avLst/>
          </a:prstGeom>
          <a:solidFill>
            <a:srgbClr val="D9ECFF"/>
          </a:solidFill>
          <a:ln w="11430">
            <a:solidFill>
              <a:srgbClr val="68A9DE"/>
            </a:solidFill>
          </a:ln>
        </p:spPr>
        <p:txBody>
          <a:bodyPr wrap="square" lIns="54864" rIns="54864" tIns="45720" bIns="45720" anchor="ctr"/>
          <a:lstStyle/>
          <a:p>
            <a:pPr algn="ctr" marL="0" indent="0" lnSpc="1020">
              <a:buNone/>
            </a:pPr>
            <a:r>
              <a:rPr lang="en-SG" sz="1020" b="1" dirty="0">
                <a:solidFill>
                  <a:srgbClr val="17324D"/>
                </a:solidFill>
                <a:latin typeface="Arial"/>
              </a:rPr>
              <a:t>USE IN CLAIM-CMEV</a:t>
            </a:r>
            <a:endParaRPr lang="en-SG" sz="1020"/>
          </a:p>
        </p:txBody>
      </p:sp>
      <p:sp>
        <p:nvSpPr>
          <p:cNvPr id="9" name="Header AVAILABILITY / CAVEAT"/>
          <p:cNvSpPr/>
          <p:nvPr/>
        </p:nvSpPr>
        <p:spPr>
          <a:xfrm>
            <a:off x="8055864" y="1243584"/>
            <a:ext cx="3630168" cy="438912"/>
          </a:xfrm>
          <a:prstGeom prst="rect">
            <a:avLst/>
          </a:prstGeom>
          <a:solidFill>
            <a:srgbClr val="D9ECFF"/>
          </a:solidFill>
          <a:ln w="11430">
            <a:solidFill>
              <a:srgbClr val="68A9DE"/>
            </a:solidFill>
          </a:ln>
        </p:spPr>
        <p:txBody>
          <a:bodyPr wrap="square" lIns="54864" rIns="54864" tIns="45720" bIns="45720" anchor="ctr"/>
          <a:lstStyle/>
          <a:p>
            <a:pPr algn="ctr" marL="0" indent="0" lnSpc="1020">
              <a:buNone/>
            </a:pPr>
            <a:r>
              <a:rPr lang="en-SG" sz="1020" b="1" dirty="0">
                <a:solidFill>
                  <a:srgbClr val="17324D"/>
                </a:solidFill>
                <a:latin typeface="Arial"/>
              </a:rPr>
              <a:t>AVAILABILITY / CAVEAT</a:t>
            </a:r>
            <a:endParaRPr lang="en-SG" sz="1020"/>
          </a:p>
        </p:txBody>
      </p:sp>
      <p:sp>
        <p:nvSpPr>
          <p:cNvPr id="10" name="Workstream 1"/>
          <p:cNvSpPr/>
          <p:nvPr/>
        </p:nvSpPr>
        <p:spPr>
          <a:xfrm>
            <a:off x="502920" y="1682496"/>
            <a:ext cx="1435608" cy="832104"/>
          </a:xfrm>
          <a:prstGeom prst="rect">
            <a:avLst/>
          </a:prstGeom>
          <a:solidFill>
            <a:srgbClr val="E7F1FF"/>
          </a:solidFill>
          <a:ln w="8255">
            <a:solidFill>
              <a:srgbClr val="86B9E2"/>
            </a:solidFill>
          </a:ln>
        </p:spPr>
        <p:txBody>
          <a:bodyPr wrap="square" lIns="118872" rIns="118872" tIns="45720" bIns="45720" anchor="ctr"/>
          <a:lstStyle/>
          <a:p>
            <a:pPr algn="l" marL="0" indent="0" lnSpc="1230">
              <a:buNone/>
            </a:pPr>
            <a:r>
              <a:rPr lang="en-SG" sz="1230" b="1" dirty="0">
                <a:solidFill>
                  <a:srgbClr val="17324D"/>
                </a:solidFill>
                <a:latin typeface="Arial"/>
              </a:rPr>
              <a:t>Vehicle</a:t>
            </a:r>
            <a:endParaRPr lang="en-SG" sz="1230"/>
          </a:p>
          <a:p>
            <a:pPr algn="l" marL="0" indent="0" lnSpc="1230">
              <a:buNone/>
            </a:pPr>
            <a:r>
              <a:rPr lang="en-SG" sz="1230" b="1" dirty="0">
                <a:solidFill>
                  <a:srgbClr val="17324D"/>
                </a:solidFill>
                <a:latin typeface="Arial"/>
              </a:rPr>
              <a:t>parts</a:t>
            </a:r>
            <a:endParaRPr lang="en-SG" sz="1230"/>
          </a:p>
        </p:txBody>
      </p:sp>
      <p:sp>
        <p:nvSpPr>
          <p:cNvPr id="11" name="Datasets 1"/>
          <p:cNvSpPr/>
          <p:nvPr/>
        </p:nvSpPr>
        <p:spPr>
          <a:xfrm>
            <a:off x="1938528" y="1682496"/>
            <a:ext cx="3355848" cy="832104"/>
          </a:xfrm>
          <a:prstGeom prst="rect">
            <a:avLst/>
          </a:prstGeom>
          <a:solidFill>
            <a:srgbClr val="FFFFFF"/>
          </a:solidFill>
          <a:ln w="8255">
            <a:solidFill>
              <a:srgbClr val="86B9E2"/>
            </a:solidFill>
          </a:ln>
        </p:spPr>
        <p:txBody>
          <a:bodyPr wrap="square" lIns="109728" rIns="109728" tIns="45720" bIns="45720" anchor="ctr"/>
          <a:lstStyle/>
          <a:p>
            <a:pPr algn="l" marL="0" indent="0" lnSpc="989">
              <a:buNone/>
            </a:pPr>
            <a:r>
              <a:rPr lang="en-SG" sz="960" b="0" dirty="0">
                <a:solidFill>
                  <a:srgbClr val="13243A"/>
                </a:solidFill>
                <a:latin typeface="Arial"/>
              </a:rPr>
              <a:t>• HITL Car Parts &amp; Car Damages — primary</a:t>
            </a:r>
            <a:endParaRPr lang="en-SG" sz="960"/>
          </a:p>
          <a:p>
            <a:pPr algn="l" marL="0" indent="0" lnSpc="989">
              <a:buNone/>
            </a:pPr>
            <a:r>
              <a:rPr lang="en-SG" sz="960" b="0" dirty="0">
                <a:solidFill>
                  <a:srgbClr val="13243A"/>
                </a:solidFill>
                <a:latin typeface="Arial"/>
              </a:rPr>
              <a:t>• DSMLR Car-Parts-Segmentation — supplement</a:t>
            </a:r>
            <a:endParaRPr lang="en-SG" sz="960"/>
          </a:p>
          <a:p>
            <a:pPr algn="l" marL="0" indent="0" lnSpc="989">
              <a:buNone/>
            </a:pPr>
            <a:r>
              <a:rPr lang="en-SG" sz="960" b="0" dirty="0">
                <a:solidFill>
                  <a:srgbClr val="13243A"/>
                </a:solidFill>
                <a:latin typeface="Arial"/>
              </a:rPr>
              <a:t>• Ultralytics Carparts-Seg — reserve</a:t>
            </a:r>
            <a:endParaRPr lang="en-SG" sz="960"/>
          </a:p>
        </p:txBody>
      </p:sp>
      <p:sp>
        <p:nvSpPr>
          <p:cNvPr id="12" name="Use 1"/>
          <p:cNvSpPr/>
          <p:nvPr/>
        </p:nvSpPr>
        <p:spPr>
          <a:xfrm>
            <a:off x="5294376" y="1682496"/>
            <a:ext cx="2761488" cy="832104"/>
          </a:xfrm>
          <a:prstGeom prst="rect">
            <a:avLst/>
          </a:prstGeom>
          <a:solidFill>
            <a:srgbClr val="FFFFFF"/>
          </a:solidFill>
          <a:ln w="8255">
            <a:solidFill>
              <a:srgbClr val="86B9E2"/>
            </a:solidFill>
          </a:ln>
        </p:spPr>
        <p:txBody>
          <a:bodyPr wrap="square" lIns="109728" rIns="109728" tIns="45720" bIns="45720" anchor="ctr"/>
          <a:lstStyle/>
          <a:p>
            <a:pPr algn="l" marL="0" indent="0" lnSpc="1009">
              <a:buNone/>
            </a:pPr>
            <a:r>
              <a:rPr lang="en-SG" sz="970" b="0" dirty="0">
                <a:solidFill>
                  <a:srgbClr val="13243A"/>
                </a:solidFill>
                <a:latin typeface="Arial"/>
              </a:rPr>
              <a:t>Part masks and shared part/side vocabulary</a:t>
            </a:r>
            <a:endParaRPr lang="en-SG" sz="970"/>
          </a:p>
          <a:p>
            <a:pPr algn="l" marL="0" indent="0" lnSpc="1009">
              <a:buNone/>
            </a:pPr>
            <a:r>
              <a:rPr lang="en-SG" sz="970" b="0" dirty="0">
                <a:solidFill>
                  <a:srgbClr val="13243A"/>
                </a:solidFill>
                <a:latin typeface="Arial"/>
              </a:rPr>
              <a:t>Supplementary damage labels</a:t>
            </a:r>
            <a:endParaRPr lang="en-SG" sz="970"/>
          </a:p>
        </p:txBody>
      </p:sp>
      <p:sp>
        <p:nvSpPr>
          <p:cNvPr id="13" name="Caveat 1"/>
          <p:cNvSpPr/>
          <p:nvPr/>
        </p:nvSpPr>
        <p:spPr>
          <a:xfrm>
            <a:off x="8055864" y="1682496"/>
            <a:ext cx="3630168" cy="832104"/>
          </a:xfrm>
          <a:prstGeom prst="rect">
            <a:avLst/>
          </a:prstGeom>
          <a:solidFill>
            <a:srgbClr val="FFFFFF"/>
          </a:solidFill>
          <a:ln w="8255">
            <a:solidFill>
              <a:srgbClr val="86B9E2"/>
            </a:solidFill>
          </a:ln>
        </p:spPr>
        <p:txBody>
          <a:bodyPr wrap="square" lIns="109728" rIns="109728" tIns="45720" bIns="45720" anchor="ctr"/>
          <a:lstStyle/>
          <a:p>
            <a:pPr algn="l" marL="0" indent="0" lnSpc="993">
              <a:buNone/>
            </a:pPr>
            <a:r>
              <a:rPr lang="en-SG" sz="955" b="0" dirty="0">
                <a:solidFill>
                  <a:srgbClr val="13243A"/>
                </a:solidFill>
                <a:latin typeface="Arial"/>
              </a:rPr>
              <a:t>CC0 / research release / AGPL-3.0</a:t>
            </a:r>
            <a:endParaRPr lang="en-SG" sz="955"/>
          </a:p>
          <a:p>
            <a:pPr algn="l" marL="0" indent="0" lnSpc="993">
              <a:buNone/>
            </a:pPr>
            <a:r>
              <a:rPr lang="en-SG" sz="955" b="0" dirty="0">
                <a:solidFill>
                  <a:srgbClr val="13243A"/>
                </a:solidFill>
                <a:latin typeface="Arial"/>
              </a:rPr>
              <a:t>Map labels; assess reserve licence before use.</a:t>
            </a:r>
            <a:endParaRPr lang="en-SG" sz="955"/>
          </a:p>
        </p:txBody>
      </p:sp>
      <p:sp>
        <p:nvSpPr>
          <p:cNvPr id="14" name="Workstream 2"/>
          <p:cNvSpPr/>
          <p:nvPr/>
        </p:nvSpPr>
        <p:spPr>
          <a:xfrm>
            <a:off x="502920" y="2514600"/>
            <a:ext cx="1435608" cy="832104"/>
          </a:xfrm>
          <a:prstGeom prst="rect">
            <a:avLst/>
          </a:prstGeom>
          <a:solidFill>
            <a:srgbClr val="E8F7F2"/>
          </a:solidFill>
          <a:ln w="8255">
            <a:solidFill>
              <a:srgbClr val="86B9E2"/>
            </a:solidFill>
          </a:ln>
        </p:spPr>
        <p:txBody>
          <a:bodyPr wrap="square" lIns="118872" rIns="118872" tIns="45720" bIns="45720" anchor="ctr"/>
          <a:lstStyle/>
          <a:p>
            <a:pPr algn="l" marL="0" indent="0" lnSpc="1230">
              <a:buNone/>
            </a:pPr>
            <a:r>
              <a:rPr lang="en-SG" sz="1230" b="1" dirty="0">
                <a:solidFill>
                  <a:srgbClr val="17324D"/>
                </a:solidFill>
                <a:latin typeface="Arial"/>
              </a:rPr>
              <a:t>Damage</a:t>
            </a:r>
            <a:endParaRPr lang="en-SG" sz="1230"/>
          </a:p>
          <a:p>
            <a:pPr algn="l" marL="0" indent="0" lnSpc="1230">
              <a:buNone/>
            </a:pPr>
            <a:r>
              <a:rPr lang="en-SG" sz="1230" b="1" dirty="0">
                <a:solidFill>
                  <a:srgbClr val="17324D"/>
                </a:solidFill>
                <a:latin typeface="Arial"/>
              </a:rPr>
              <a:t>localisation</a:t>
            </a:r>
            <a:endParaRPr lang="en-SG" sz="1230"/>
          </a:p>
        </p:txBody>
      </p:sp>
      <p:sp>
        <p:nvSpPr>
          <p:cNvPr id="15" name="Datasets 2"/>
          <p:cNvSpPr/>
          <p:nvPr/>
        </p:nvSpPr>
        <p:spPr>
          <a:xfrm>
            <a:off x="1938528" y="2514600"/>
            <a:ext cx="3355848" cy="832104"/>
          </a:xfrm>
          <a:prstGeom prst="rect">
            <a:avLst/>
          </a:prstGeom>
          <a:solidFill>
            <a:srgbClr val="F4F8FC"/>
          </a:solidFill>
          <a:ln w="8255">
            <a:solidFill>
              <a:srgbClr val="86B9E2"/>
            </a:solidFill>
          </a:ln>
        </p:spPr>
        <p:txBody>
          <a:bodyPr wrap="square" lIns="109728" rIns="109728" tIns="45720" bIns="45720" anchor="ctr"/>
          <a:lstStyle/>
          <a:p>
            <a:pPr algn="l" marL="0" indent="0" lnSpc="989">
              <a:buNone/>
            </a:pPr>
            <a:r>
              <a:rPr lang="en-SG" sz="960" b="0" dirty="0">
                <a:solidFill>
                  <a:srgbClr val="13243A"/>
                </a:solidFill>
                <a:latin typeface="Arial"/>
              </a:rPr>
              <a:t>• VehiDE — main source by volume</a:t>
            </a:r>
            <a:endParaRPr lang="en-SG" sz="960"/>
          </a:p>
          <a:p>
            <a:pPr algn="l" marL="0" indent="0" lnSpc="989">
              <a:buNone/>
            </a:pPr>
            <a:r>
              <a:rPr lang="en-SG" sz="960" b="0" dirty="0">
                <a:solidFill>
                  <a:srgbClr val="13243A"/>
                </a:solidFill>
                <a:latin typeface="Arial"/>
              </a:rPr>
              <a:t>• CarDD — high-quality supplement</a:t>
            </a:r>
            <a:endParaRPr lang="en-SG" sz="960"/>
          </a:p>
          <a:p>
            <a:pPr algn="l" marL="0" indent="0" lnSpc="989">
              <a:buNone/>
            </a:pPr>
            <a:r>
              <a:rPr lang="en-SG" sz="960" b="0" dirty="0">
                <a:solidFill>
                  <a:srgbClr val="13243A"/>
                </a:solidFill>
                <a:latin typeface="Arial"/>
              </a:rPr>
              <a:t>• CrashCar101 — generated</a:t>
            </a:r>
            <a:endParaRPr lang="en-SG" sz="960"/>
          </a:p>
        </p:txBody>
      </p:sp>
      <p:sp>
        <p:nvSpPr>
          <p:cNvPr id="16" name="Use 2"/>
          <p:cNvSpPr/>
          <p:nvPr/>
        </p:nvSpPr>
        <p:spPr>
          <a:xfrm>
            <a:off x="5294376" y="2514600"/>
            <a:ext cx="2761488" cy="832104"/>
          </a:xfrm>
          <a:prstGeom prst="rect">
            <a:avLst/>
          </a:prstGeom>
          <a:solidFill>
            <a:srgbClr val="F4F8FC"/>
          </a:solidFill>
          <a:ln w="8255">
            <a:solidFill>
              <a:srgbClr val="86B9E2"/>
            </a:solidFill>
          </a:ln>
        </p:spPr>
        <p:txBody>
          <a:bodyPr wrap="square" lIns="109728" rIns="109728" tIns="45720" bIns="45720" anchor="ctr"/>
          <a:lstStyle/>
          <a:p>
            <a:pPr algn="l" marL="0" indent="0" lnSpc="1009">
              <a:buNone/>
            </a:pPr>
            <a:r>
              <a:rPr lang="en-SG" sz="970" b="0" dirty="0">
                <a:solidFill>
                  <a:srgbClr val="13243A"/>
                </a:solidFill>
                <a:latin typeface="Arial"/>
              </a:rPr>
              <a:t>Damage segmentation</a:t>
            </a:r>
            <a:endParaRPr lang="en-SG" sz="970"/>
          </a:p>
          <a:p>
            <a:pPr algn="l" marL="0" indent="0" lnSpc="1009">
              <a:buNone/>
            </a:pPr>
            <a:r>
              <a:rPr lang="en-SG" sz="970" b="0" dirty="0">
                <a:solidFill>
                  <a:srgbClr val="13243A"/>
                </a:solidFill>
                <a:latin typeface="Arial"/>
              </a:rPr>
              <a:t>Joint part–damage labels and controlled tests</a:t>
            </a:r>
            <a:endParaRPr lang="en-SG" sz="970"/>
          </a:p>
        </p:txBody>
      </p:sp>
      <p:sp>
        <p:nvSpPr>
          <p:cNvPr id="17" name="Caveat 2"/>
          <p:cNvSpPr/>
          <p:nvPr/>
        </p:nvSpPr>
        <p:spPr>
          <a:xfrm>
            <a:off x="8055864" y="2514600"/>
            <a:ext cx="3630168" cy="832104"/>
          </a:xfrm>
          <a:prstGeom prst="rect">
            <a:avLst/>
          </a:prstGeom>
          <a:solidFill>
            <a:srgbClr val="F4F8FC"/>
          </a:solidFill>
          <a:ln w="8255">
            <a:solidFill>
              <a:srgbClr val="86B9E2"/>
            </a:solidFill>
          </a:ln>
        </p:spPr>
        <p:txBody>
          <a:bodyPr wrap="square" lIns="109728" rIns="109728" tIns="45720" bIns="45720" anchor="ctr"/>
          <a:lstStyle/>
          <a:p>
            <a:pPr algn="l" marL="0" indent="0" lnSpc="993">
              <a:buNone/>
            </a:pPr>
            <a:r>
              <a:rPr lang="en-SG" sz="955" b="0" dirty="0">
                <a:solidFill>
                  <a:srgbClr val="13243A"/>
                </a:solidFill>
                <a:latin typeface="Arial"/>
              </a:rPr>
              <a:t>VehiDE terms to verify; CarDD form required.</a:t>
            </a:r>
            <a:endParaRPr lang="en-SG" sz="955"/>
          </a:p>
          <a:p>
            <a:pPr algn="l" marL="0" indent="0" lnSpc="993">
              <a:buNone/>
            </a:pPr>
            <a:r>
              <a:rPr lang="en-SG" sz="955" b="0" dirty="0">
                <a:solidFill>
                  <a:srgbClr val="13243A"/>
                </a:solidFill>
                <a:latin typeface="Arial"/>
              </a:rPr>
              <a:t>Validate generated-image results on real photos.</a:t>
            </a:r>
            <a:endParaRPr lang="en-SG" sz="955"/>
          </a:p>
        </p:txBody>
      </p:sp>
      <p:sp>
        <p:nvSpPr>
          <p:cNvPr id="18" name="Workstream 3"/>
          <p:cNvSpPr/>
          <p:nvPr/>
        </p:nvSpPr>
        <p:spPr>
          <a:xfrm>
            <a:off x="502920" y="3346704"/>
            <a:ext cx="1435608" cy="832104"/>
          </a:xfrm>
          <a:prstGeom prst="rect">
            <a:avLst/>
          </a:prstGeom>
          <a:solidFill>
            <a:srgbClr val="F1EBFF"/>
          </a:solidFill>
          <a:ln w="8255">
            <a:solidFill>
              <a:srgbClr val="86B9E2"/>
            </a:solidFill>
          </a:ln>
        </p:spPr>
        <p:txBody>
          <a:bodyPr wrap="square" lIns="118872" rIns="118872" tIns="45720" bIns="45720" anchor="ctr"/>
          <a:lstStyle/>
          <a:p>
            <a:pPr algn="l" marL="0" indent="0" lnSpc="1230">
              <a:buNone/>
            </a:pPr>
            <a:r>
              <a:rPr lang="en-SG" sz="1230" b="1" dirty="0">
                <a:solidFill>
                  <a:srgbClr val="17324D"/>
                </a:solidFill>
                <a:latin typeface="Arial"/>
              </a:rPr>
              <a:t>Multi-view</a:t>
            </a:r>
            <a:endParaRPr lang="en-SG" sz="1230"/>
          </a:p>
          <a:p>
            <a:pPr algn="l" marL="0" indent="0" lnSpc="1230">
              <a:buNone/>
            </a:pPr>
            <a:r>
              <a:rPr lang="en-SG" sz="1230" b="1" dirty="0">
                <a:solidFill>
                  <a:srgbClr val="17324D"/>
                </a:solidFill>
                <a:latin typeface="Arial"/>
              </a:rPr>
              <a:t>coverage</a:t>
            </a:r>
            <a:endParaRPr lang="en-SG" sz="1230"/>
          </a:p>
        </p:txBody>
      </p:sp>
      <p:sp>
        <p:nvSpPr>
          <p:cNvPr id="19" name="Datasets 3"/>
          <p:cNvSpPr/>
          <p:nvPr/>
        </p:nvSpPr>
        <p:spPr>
          <a:xfrm>
            <a:off x="1938528" y="3346704"/>
            <a:ext cx="3355848" cy="832104"/>
          </a:xfrm>
          <a:prstGeom prst="rect">
            <a:avLst/>
          </a:prstGeom>
          <a:solidFill>
            <a:srgbClr val="FFFFFF"/>
          </a:solidFill>
          <a:ln w="8255">
            <a:solidFill>
              <a:srgbClr val="86B9E2"/>
            </a:solidFill>
          </a:ln>
        </p:spPr>
        <p:txBody>
          <a:bodyPr wrap="square" lIns="109728" rIns="109728" tIns="45720" bIns="45720" anchor="ctr"/>
          <a:lstStyle/>
          <a:p>
            <a:pPr algn="l" marL="0" indent="0" lnSpc="989">
              <a:buNone/>
            </a:pPr>
            <a:r>
              <a:rPr lang="en-SG" sz="960" b="0" dirty="0">
                <a:solidFill>
                  <a:srgbClr val="13243A"/>
                </a:solidFill>
                <a:latin typeface="Arial"/>
              </a:rPr>
              <a:t>• CrashCar101 grouped views</a:t>
            </a:r>
            <a:endParaRPr lang="en-SG" sz="960"/>
          </a:p>
          <a:p>
            <a:pPr algn="l" marL="0" indent="0" lnSpc="989">
              <a:buNone/>
            </a:pPr>
            <a:r>
              <a:rPr lang="en-SG" sz="960" b="0" dirty="0">
                <a:solidFill>
                  <a:srgbClr val="13243A"/>
                </a:solidFill>
                <a:latin typeface="Arial"/>
              </a:rPr>
              <a:t>• Authorised real grouped pilot photos — if available</a:t>
            </a:r>
            <a:endParaRPr lang="en-SG" sz="960"/>
          </a:p>
        </p:txBody>
      </p:sp>
      <p:sp>
        <p:nvSpPr>
          <p:cNvPr id="20" name="Use 3"/>
          <p:cNvSpPr/>
          <p:nvPr/>
        </p:nvSpPr>
        <p:spPr>
          <a:xfrm>
            <a:off x="5294376" y="3346704"/>
            <a:ext cx="2761488" cy="832104"/>
          </a:xfrm>
          <a:prstGeom prst="rect">
            <a:avLst/>
          </a:prstGeom>
          <a:solidFill>
            <a:srgbClr val="FFFFFF"/>
          </a:solidFill>
          <a:ln w="8255">
            <a:solidFill>
              <a:srgbClr val="86B9E2"/>
            </a:solidFill>
          </a:ln>
        </p:spPr>
        <p:txBody>
          <a:bodyPr wrap="square" lIns="109728" rIns="109728" tIns="45720" bIns="45720" anchor="ctr"/>
          <a:lstStyle/>
          <a:p>
            <a:pPr algn="l" marL="0" indent="0" lnSpc="1009">
              <a:buNone/>
            </a:pPr>
            <a:r>
              <a:rPr lang="en-SG" sz="970" b="0" dirty="0">
                <a:solidFill>
                  <a:srgbClr val="13243A"/>
                </a:solidFill>
                <a:latin typeface="Arial"/>
              </a:rPr>
              <a:t>Repeated-view aggregation</a:t>
            </a:r>
            <a:endParaRPr lang="en-SG" sz="970"/>
          </a:p>
          <a:p>
            <a:pPr algn="l" marL="0" indent="0" lnSpc="1009">
              <a:buNone/>
            </a:pPr>
            <a:r>
              <a:rPr lang="en-SG" sz="970" b="0" dirty="0">
                <a:solidFill>
                  <a:srgbClr val="13243A"/>
                </a:solidFill>
                <a:latin typeface="Arial"/>
              </a:rPr>
              <a:t>Coverage and duplicate-damage evaluation</a:t>
            </a:r>
            <a:endParaRPr lang="en-SG" sz="970"/>
          </a:p>
        </p:txBody>
      </p:sp>
      <p:sp>
        <p:nvSpPr>
          <p:cNvPr id="21" name="Caveat 3"/>
          <p:cNvSpPr/>
          <p:nvPr/>
        </p:nvSpPr>
        <p:spPr>
          <a:xfrm>
            <a:off x="8055864" y="3346704"/>
            <a:ext cx="3630168" cy="832104"/>
          </a:xfrm>
          <a:prstGeom prst="rect">
            <a:avLst/>
          </a:prstGeom>
          <a:solidFill>
            <a:srgbClr val="FFFFFF"/>
          </a:solidFill>
          <a:ln w="8255">
            <a:solidFill>
              <a:srgbClr val="86B9E2"/>
            </a:solidFill>
          </a:ln>
        </p:spPr>
        <p:txBody>
          <a:bodyPr wrap="square" lIns="109728" rIns="109728" tIns="45720" bIns="45720" anchor="ctr"/>
          <a:lstStyle/>
          <a:p>
            <a:pPr algn="l" marL="0" indent="0" lnSpc="993">
              <a:buNone/>
            </a:pPr>
            <a:r>
              <a:rPr lang="en-SG" sz="955" b="0" dirty="0">
                <a:solidFill>
                  <a:srgbClr val="13243A"/>
                </a:solidFill>
                <a:latin typeface="Arial"/>
              </a:rPr>
              <a:t>No suitable public claim-level photo groups identified.</a:t>
            </a:r>
            <a:endParaRPr lang="en-SG" sz="955"/>
          </a:p>
          <a:p>
            <a:pPr algn="l" marL="0" indent="0" lnSpc="993">
              <a:buNone/>
            </a:pPr>
            <a:r>
              <a:rPr lang="en-SG" sz="955" b="0" dirty="0">
                <a:solidFill>
                  <a:srgbClr val="13243A"/>
                </a:solidFill>
                <a:latin typeface="Arial"/>
              </a:rPr>
              <a:t>Report synthetic and real results separately.</a:t>
            </a:r>
            <a:endParaRPr lang="en-SG" sz="955"/>
          </a:p>
        </p:txBody>
      </p:sp>
      <p:sp>
        <p:nvSpPr>
          <p:cNvPr id="22" name="Workstream 4"/>
          <p:cNvSpPr/>
          <p:nvPr/>
        </p:nvSpPr>
        <p:spPr>
          <a:xfrm>
            <a:off x="502920" y="4178808"/>
            <a:ext cx="1435608" cy="832104"/>
          </a:xfrm>
          <a:prstGeom prst="rect">
            <a:avLst/>
          </a:prstGeom>
          <a:solidFill>
            <a:srgbClr val="FFF2DE"/>
          </a:solidFill>
          <a:ln w="8255">
            <a:solidFill>
              <a:srgbClr val="86B9E2"/>
            </a:solidFill>
          </a:ln>
        </p:spPr>
        <p:txBody>
          <a:bodyPr wrap="square" lIns="118872" rIns="118872" tIns="45720" bIns="45720" anchor="ctr"/>
          <a:lstStyle/>
          <a:p>
            <a:pPr algn="l" marL="0" indent="0" lnSpc="1230">
              <a:buNone/>
            </a:pPr>
            <a:r>
              <a:rPr lang="en-SG" sz="1230" b="1" dirty="0">
                <a:solidFill>
                  <a:srgbClr val="17324D"/>
                </a:solidFill>
                <a:latin typeface="Arial"/>
              </a:rPr>
              <a:t>Report</a:t>
            </a:r>
            <a:endParaRPr lang="en-SG" sz="1230"/>
          </a:p>
          <a:p>
            <a:pPr algn="l" marL="0" indent="0" lnSpc="1230">
              <a:buNone/>
            </a:pPr>
            <a:r>
              <a:rPr lang="en-SG" sz="1230" b="1" dirty="0">
                <a:solidFill>
                  <a:srgbClr val="17324D"/>
                </a:solidFill>
                <a:latin typeface="Arial"/>
              </a:rPr>
              <a:t>understanding</a:t>
            </a:r>
            <a:endParaRPr lang="en-SG" sz="1230"/>
          </a:p>
        </p:txBody>
      </p:sp>
      <p:sp>
        <p:nvSpPr>
          <p:cNvPr id="23" name="Datasets 4"/>
          <p:cNvSpPr/>
          <p:nvPr/>
        </p:nvSpPr>
        <p:spPr>
          <a:xfrm>
            <a:off x="1938528" y="4178808"/>
            <a:ext cx="3355848" cy="832104"/>
          </a:xfrm>
          <a:prstGeom prst="rect">
            <a:avLst/>
          </a:prstGeom>
          <a:solidFill>
            <a:srgbClr val="F4F8FC"/>
          </a:solidFill>
          <a:ln w="8255">
            <a:solidFill>
              <a:srgbClr val="86B9E2"/>
            </a:solidFill>
          </a:ln>
        </p:spPr>
        <p:txBody>
          <a:bodyPr wrap="square" lIns="109728" rIns="109728" tIns="45720" bIns="45720" anchor="ctr"/>
          <a:lstStyle/>
          <a:p>
            <a:pPr algn="l" marL="0" indent="0" lnSpc="989">
              <a:buNone/>
            </a:pPr>
            <a:r>
              <a:rPr lang="en-SG" sz="960" b="0" dirty="0">
                <a:solidFill>
                  <a:srgbClr val="13243A"/>
                </a:solidFill>
                <a:latin typeface="Arial"/>
              </a:rPr>
              <a:t>• DocILE — primary</a:t>
            </a:r>
            <a:endParaRPr lang="en-SG" sz="960"/>
          </a:p>
          <a:p>
            <a:pPr algn="l" marL="0" indent="0" lnSpc="989">
              <a:buNone/>
            </a:pPr>
            <a:r>
              <a:rPr lang="en-SG" sz="960" b="0" dirty="0">
                <a:solidFill>
                  <a:srgbClr val="13243A"/>
                </a:solidFill>
                <a:latin typeface="Arial"/>
              </a:rPr>
              <a:t>• CORD · SROIE · FUNSD — benchmarks</a:t>
            </a:r>
            <a:endParaRPr lang="en-SG" sz="960"/>
          </a:p>
          <a:p>
            <a:pPr algn="l" marL="0" indent="0" lnSpc="989">
              <a:buNone/>
            </a:pPr>
            <a:r>
              <a:rPr lang="en-SG" sz="960" b="0" dirty="0">
                <a:solidFill>
                  <a:srgbClr val="13243A"/>
                </a:solidFill>
                <a:latin typeface="Arial"/>
              </a:rPr>
              <a:t>• Synthetic motor survey reports — adaptation</a:t>
            </a:r>
            <a:endParaRPr lang="en-SG" sz="960"/>
          </a:p>
        </p:txBody>
      </p:sp>
      <p:sp>
        <p:nvSpPr>
          <p:cNvPr id="24" name="Use 4"/>
          <p:cNvSpPr/>
          <p:nvPr/>
        </p:nvSpPr>
        <p:spPr>
          <a:xfrm>
            <a:off x="5294376" y="4178808"/>
            <a:ext cx="2761488" cy="832104"/>
          </a:xfrm>
          <a:prstGeom prst="rect">
            <a:avLst/>
          </a:prstGeom>
          <a:solidFill>
            <a:srgbClr val="F4F8FC"/>
          </a:solidFill>
          <a:ln w="8255">
            <a:solidFill>
              <a:srgbClr val="86B9E2"/>
            </a:solidFill>
          </a:ln>
        </p:spPr>
        <p:txBody>
          <a:bodyPr wrap="square" lIns="109728" rIns="109728" tIns="45720" bIns="45720" anchor="ctr"/>
          <a:lstStyle/>
          <a:p>
            <a:pPr algn="l" marL="0" indent="0" lnSpc="1009">
              <a:buNone/>
            </a:pPr>
            <a:r>
              <a:rPr lang="en-SG" sz="970" b="0" dirty="0">
                <a:solidFill>
                  <a:srgbClr val="13243A"/>
                </a:solidFill>
                <a:latin typeface="Arial"/>
              </a:rPr>
              <a:t>OCR and layout; field and line-item extraction</a:t>
            </a:r>
            <a:endParaRPr lang="en-SG" sz="970"/>
          </a:p>
          <a:p>
            <a:pPr algn="l" marL="0" indent="0" lnSpc="1009">
              <a:buNone/>
            </a:pPr>
            <a:r>
              <a:rPr lang="en-SG" sz="970" b="0" dirty="0">
                <a:solidFill>
                  <a:srgbClr val="13243A"/>
                </a:solidFill>
                <a:latin typeface="Arial"/>
              </a:rPr>
              <a:t>Source localisation back to the report</a:t>
            </a:r>
            <a:endParaRPr lang="en-SG" sz="970"/>
          </a:p>
        </p:txBody>
      </p:sp>
      <p:sp>
        <p:nvSpPr>
          <p:cNvPr id="25" name="Caveat 4"/>
          <p:cNvSpPr/>
          <p:nvPr/>
        </p:nvSpPr>
        <p:spPr>
          <a:xfrm>
            <a:off x="8055864" y="4178808"/>
            <a:ext cx="3630168" cy="832104"/>
          </a:xfrm>
          <a:prstGeom prst="rect">
            <a:avLst/>
          </a:prstGeom>
          <a:solidFill>
            <a:srgbClr val="F4F8FC"/>
          </a:solidFill>
          <a:ln w="8255">
            <a:solidFill>
              <a:srgbClr val="86B9E2"/>
            </a:solidFill>
          </a:ln>
        </p:spPr>
        <p:txBody>
          <a:bodyPr wrap="square" lIns="109728" rIns="109728" tIns="45720" bIns="45720" anchor="ctr"/>
          <a:lstStyle/>
          <a:p>
            <a:pPr algn="l" marL="0" indent="0" lnSpc="993">
              <a:buNone/>
            </a:pPr>
            <a:r>
              <a:rPr lang="en-SG" sz="955" b="0" dirty="0">
                <a:solidFill>
                  <a:srgbClr val="13243A"/>
                </a:solidFill>
                <a:latin typeface="Arial"/>
              </a:rPr>
              <a:t>Public sets are not Singapore motor reports.</a:t>
            </a:r>
            <a:endParaRPr lang="en-SG" sz="955"/>
          </a:p>
          <a:p>
            <a:pPr algn="l" marL="0" indent="0" lnSpc="993">
              <a:buNone/>
            </a:pPr>
            <a:r>
              <a:rPr lang="en-SG" sz="955" b="0" dirty="0">
                <a:solidFill>
                  <a:srgbClr val="13243A"/>
                </a:solidFill>
                <a:latin typeface="Arial"/>
              </a:rPr>
              <a:t>Control template leakage; test real reports separately.</a:t>
            </a:r>
            <a:endParaRPr lang="en-SG" sz="955"/>
          </a:p>
        </p:txBody>
      </p:sp>
      <p:sp>
        <p:nvSpPr>
          <p:cNvPr id="26" name="Workstream 5"/>
          <p:cNvSpPr/>
          <p:nvPr/>
        </p:nvSpPr>
        <p:spPr>
          <a:xfrm>
            <a:off x="502920" y="5010912"/>
            <a:ext cx="1435608" cy="832104"/>
          </a:xfrm>
          <a:prstGeom prst="rect">
            <a:avLst/>
          </a:prstGeom>
          <a:solidFill>
            <a:srgbClr val="FDEBEC"/>
          </a:solidFill>
          <a:ln w="8255">
            <a:solidFill>
              <a:srgbClr val="86B9E2"/>
            </a:solidFill>
          </a:ln>
        </p:spPr>
        <p:txBody>
          <a:bodyPr wrap="square" lIns="118872" rIns="118872" tIns="45720" bIns="45720" anchor="ctr"/>
          <a:lstStyle/>
          <a:p>
            <a:pPr algn="l" marL="0" indent="0" lnSpc="1230">
              <a:buNone/>
            </a:pPr>
            <a:r>
              <a:rPr lang="en-SG" sz="1230" b="1" dirty="0">
                <a:solidFill>
                  <a:srgbClr val="17324D"/>
                </a:solidFill>
                <a:latin typeface="Arial"/>
              </a:rPr>
              <a:t>Repair</a:t>
            </a:r>
            <a:endParaRPr lang="en-SG" sz="1230"/>
          </a:p>
          <a:p>
            <a:pPr algn="l" marL="0" indent="0" lnSpc="1230">
              <a:buNone/>
            </a:pPr>
            <a:r>
              <a:rPr lang="en-SG" sz="1230" b="1" dirty="0">
                <a:solidFill>
                  <a:srgbClr val="17324D"/>
                </a:solidFill>
                <a:latin typeface="Arial"/>
              </a:rPr>
              <a:t>costs</a:t>
            </a:r>
            <a:endParaRPr lang="en-SG" sz="1230"/>
          </a:p>
        </p:txBody>
      </p:sp>
      <p:sp>
        <p:nvSpPr>
          <p:cNvPr id="27" name="Datasets 5"/>
          <p:cNvSpPr/>
          <p:nvPr/>
        </p:nvSpPr>
        <p:spPr>
          <a:xfrm>
            <a:off x="1938528" y="5010912"/>
            <a:ext cx="3355848" cy="832104"/>
          </a:xfrm>
          <a:prstGeom prst="rect">
            <a:avLst/>
          </a:prstGeom>
          <a:solidFill>
            <a:srgbClr val="FFFFFF"/>
          </a:solidFill>
          <a:ln w="8255">
            <a:solidFill>
              <a:srgbClr val="86B9E2"/>
            </a:solidFill>
          </a:ln>
        </p:spPr>
        <p:txBody>
          <a:bodyPr wrap="square" lIns="109728" rIns="109728" tIns="45720" bIns="45720" anchor="ctr"/>
          <a:lstStyle/>
          <a:p>
            <a:pPr algn="l" marL="0" indent="0" lnSpc="989">
              <a:buNone/>
            </a:pPr>
            <a:r>
              <a:rPr lang="en-SG" sz="960" b="0" dirty="0">
                <a:solidFill>
                  <a:srgbClr val="13243A"/>
                </a:solidFill>
                <a:latin typeface="Arial"/>
              </a:rPr>
              <a:t>• Synthetic prices_dataset.csv</a:t>
            </a:r>
            <a:endParaRPr lang="en-SG" sz="960"/>
          </a:p>
          <a:p>
            <a:pPr algn="l" marL="0" indent="0" lnSpc="989">
              <a:buNone/>
            </a:pPr>
            <a:r>
              <a:rPr lang="en-SG" sz="960" b="0" dirty="0">
                <a:solidFill>
                  <a:srgbClr val="13243A"/>
                </a:solidFill>
                <a:latin typeface="Arial"/>
              </a:rPr>
              <a:t>• Future approved insurer line items — assumption</a:t>
            </a:r>
            <a:endParaRPr lang="en-SG" sz="960"/>
          </a:p>
        </p:txBody>
      </p:sp>
      <p:sp>
        <p:nvSpPr>
          <p:cNvPr id="28" name="Use 5"/>
          <p:cNvSpPr/>
          <p:nvPr/>
        </p:nvSpPr>
        <p:spPr>
          <a:xfrm>
            <a:off x="5294376" y="5010912"/>
            <a:ext cx="2761488" cy="832104"/>
          </a:xfrm>
          <a:prstGeom prst="rect">
            <a:avLst/>
          </a:prstGeom>
          <a:solidFill>
            <a:srgbClr val="FFFFFF"/>
          </a:solidFill>
          <a:ln w="8255">
            <a:solidFill>
              <a:srgbClr val="86B9E2"/>
            </a:solidFill>
          </a:ln>
        </p:spPr>
        <p:txBody>
          <a:bodyPr wrap="square" lIns="109728" rIns="109728" tIns="45720" bIns="45720" anchor="ctr"/>
          <a:lstStyle/>
          <a:p>
            <a:pPr algn="l" marL="0" indent="0" lnSpc="1009">
              <a:buNone/>
            </a:pPr>
            <a:r>
              <a:rPr lang="en-SG" sz="970" b="0" dirty="0">
                <a:solidFill>
                  <a:srgbClr val="13243A"/>
                </a:solidFill>
                <a:latin typeface="Arial"/>
              </a:rPr>
              <a:t>Reference intervals and outlier/weak-support logic</a:t>
            </a:r>
            <a:endParaRPr lang="en-SG" sz="970"/>
          </a:p>
          <a:p>
            <a:pPr algn="l" marL="0" indent="0" lnSpc="1009">
              <a:buNone/>
            </a:pPr>
            <a:r>
              <a:rPr lang="en-SG" sz="970" b="0" dirty="0">
                <a:solidFill>
                  <a:srgbClr val="13243A"/>
                </a:solidFill>
                <a:latin typeface="Arial"/>
              </a:rPr>
              <a:t>Controlled cost-table refresh</a:t>
            </a:r>
            <a:endParaRPr lang="en-SG" sz="970"/>
          </a:p>
        </p:txBody>
      </p:sp>
      <p:sp>
        <p:nvSpPr>
          <p:cNvPr id="29" name="Caveat 5"/>
          <p:cNvSpPr/>
          <p:nvPr/>
        </p:nvSpPr>
        <p:spPr>
          <a:xfrm>
            <a:off x="8055864" y="5010912"/>
            <a:ext cx="3630168" cy="832104"/>
          </a:xfrm>
          <a:prstGeom prst="rect">
            <a:avLst/>
          </a:prstGeom>
          <a:solidFill>
            <a:srgbClr val="FFFFFF"/>
          </a:solidFill>
          <a:ln w="8255">
            <a:solidFill>
              <a:srgbClr val="86B9E2"/>
            </a:solidFill>
          </a:ln>
        </p:spPr>
        <p:txBody>
          <a:bodyPr wrap="square" lIns="109728" rIns="109728" tIns="45720" bIns="45720" anchor="ctr"/>
          <a:lstStyle/>
          <a:p>
            <a:pPr algn="l" marL="0" indent="0" lnSpc="993">
              <a:buNone/>
            </a:pPr>
            <a:r>
              <a:rPr lang="en-SG" sz="955" b="0" dirty="0">
                <a:solidFill>
                  <a:srgbClr val="13243A"/>
                </a:solidFill>
                <a:latin typeface="Arial"/>
              </a:rPr>
              <a:t>630-row structure still to confirm.</a:t>
            </a:r>
            <a:endParaRPr lang="en-SG" sz="955"/>
          </a:p>
          <a:p>
            <a:pPr algn="l" marL="0" indent="0" lnSpc="993">
              <a:buNone/>
            </a:pPr>
            <a:r>
              <a:rPr lang="en-SG" sz="955" b="0" dirty="0">
                <a:solidFill>
                  <a:srgbClr val="13243A"/>
                </a:solidFill>
                <a:latin typeface="Arial"/>
              </a:rPr>
              <a:t>Synthetic data ≠ real price, savings or fraud validity.</a:t>
            </a:r>
            <a:endParaRPr lang="en-SG" sz="955"/>
          </a:p>
        </p:txBody>
      </p:sp>
      <p:sp>
        <p:nvSpPr>
          <p:cNvPr id="30" name="Limitation banner"/>
          <p:cNvSpPr/>
          <p:nvPr/>
        </p:nvSpPr>
        <p:spPr>
          <a:xfrm>
            <a:off x="502920" y="5971032"/>
            <a:ext cx="11183112" cy="548640"/>
          </a:xfrm>
          <a:prstGeom prst="roundRect">
            <a:avLst/>
          </a:prstGeom>
          <a:solidFill>
            <a:srgbClr val="FFF1F1"/>
          </a:solidFill>
          <a:ln w="10160">
            <a:solidFill>
              <a:srgbClr val="EF9A9A"/>
            </a:solidFill>
          </a:ln>
        </p:spPr>
      </p:sp>
      <p:sp>
        <p:nvSpPr>
          <p:cNvPr id="31" name="Limitation label"/>
          <p:cNvSpPr/>
          <p:nvPr/>
        </p:nvSpPr>
        <p:spPr>
          <a:xfrm>
            <a:off x="658368" y="6062472"/>
            <a:ext cx="1170432" cy="356616"/>
          </a:xfrm>
          <a:prstGeom prst="rect">
            <a:avLst/>
          </a:prstGeom>
          <a:solidFill>
            <a:srgbClr val="FFF1F1"/>
          </a:solidFill>
          <a:ln>
            <a:noFill/>
          </a:ln>
        </p:spPr>
        <p:txBody>
          <a:bodyPr wrap="square" lIns="27432" rIns="27432" tIns="45720" bIns="45720" anchor="ctr"/>
          <a:lstStyle/>
          <a:p>
            <a:pPr algn="ctr" marL="0" indent="0" lnSpc="1020">
              <a:buNone/>
            </a:pPr>
            <a:r>
              <a:rPr lang="en-SG" sz="1020" b="1" dirty="0">
                <a:solidFill>
                  <a:srgbClr val="D63E3E"/>
                </a:solidFill>
                <a:latin typeface="Arial"/>
              </a:rPr>
              <a:t>CRITICAL LIMITATION</a:t>
            </a:r>
            <a:endParaRPr lang="en-SG" sz="1020"/>
          </a:p>
        </p:txBody>
      </p:sp>
      <p:sp>
        <p:nvSpPr>
          <p:cNvPr id="32" name="Limitation divider"/>
          <p:cNvSpPr/>
          <p:nvPr/>
        </p:nvSpPr>
        <p:spPr>
          <a:xfrm>
            <a:off x="1920240" y="6062472"/>
            <a:ext cx="27432" cy="356616"/>
          </a:xfrm>
          <a:prstGeom prst="rect">
            <a:avLst/>
          </a:prstGeom>
          <a:solidFill>
            <a:srgbClr val="E65353"/>
          </a:solidFill>
          <a:ln>
            <a:noFill/>
          </a:ln>
        </p:spPr>
      </p:sp>
      <p:sp>
        <p:nvSpPr>
          <p:cNvPr id="33" name="Limitation text"/>
          <p:cNvSpPr/>
          <p:nvPr/>
        </p:nvSpPr>
        <p:spPr>
          <a:xfrm>
            <a:off x="2066544" y="6035040"/>
            <a:ext cx="9308592" cy="420624"/>
          </a:xfrm>
          <a:prstGeom prst="rect">
            <a:avLst/>
          </a:prstGeom>
          <a:solidFill>
            <a:srgbClr val="FFF1F1"/>
          </a:solidFill>
          <a:ln>
            <a:noFill/>
          </a:ln>
        </p:spPr>
        <p:txBody>
          <a:bodyPr wrap="square" lIns="18288" rIns="18288" tIns="45720" bIns="45720" anchor="ctr"/>
          <a:lstStyle/>
          <a:p>
            <a:pPr algn="l" marL="0" indent="0" lnSpc="1180">
              <a:buNone/>
            </a:pPr>
            <a:r>
              <a:rPr lang="en-SG" sz="1180" b="1" dirty="0">
                <a:solidFill>
                  <a:srgbClr val="172338"/>
                </a:solidFill>
                <a:latin typeface="Arial"/>
              </a:rPr>
              <a:t>No verified public dataset jointly links grouped damage photos, survey-report line items and final approved repair costs.</a:t>
            </a:r>
            <a:endParaRPr lang="en-SG" sz="1180"/>
          </a:p>
        </p:txBody>
      </p:sp>
      <p:sp>
        <p:nvSpPr>
          <p:cNvPr id="34" name="Source"/>
          <p:cNvSpPr/>
          <p:nvPr/>
        </p:nvSpPr>
        <p:spPr>
          <a:xfrm>
            <a:off x="521208" y="6583680"/>
            <a:ext cx="10607040" cy="164592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wrap="square" lIns="0" rIns="0" tIns="0" bIns="0" anchor="ctr"/>
          <a:lstStyle/>
          <a:p>
            <a:pPr algn="l" marL="0" indent="0" lnSpc="770">
              <a:buNone/>
            </a:pPr>
            <a:r>
              <a:rPr lang="en-SG" sz="770" b="0" dirty="0">
                <a:solidFill>
                  <a:srgbClr val="6D7887"/>
                </a:solidFill>
                <a:latin typeface="Arial"/>
              </a:rPr>
              <a:t>Source: CLAIM-CMEV project proposal v1, §12.  *Before access, filtering, deduplication and annotation-compatibility checks; recorded terms remain to be verified.</a:t>
            </a:r>
            <a:endParaRPr lang="en-SG" sz="770"/>
          </a:p>
        </p:txBody>
      </p:sp>
      <p:sp>
        <p:nvSpPr>
          <p:cNvPr id="35" name="Slide number"/>
          <p:cNvSpPr/>
          <p:nvPr/>
        </p:nvSpPr>
        <p:spPr>
          <a:xfrm>
            <a:off x="11430000" y="6565392"/>
            <a:ext cx="256032" cy="18288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wrap="square" lIns="0" rIns="0" tIns="45720" bIns="45720" anchor="ctr"/>
          <a:lstStyle/>
          <a:p>
            <a:pPr algn="r" marL="0" indent="0" lnSpc="820">
              <a:buNone/>
            </a:pPr>
            <a:r>
              <a:rPr lang="en-SG" sz="820" b="0" dirty="0">
                <a:solidFill>
                  <a:srgbClr val="748195"/>
                </a:solidFill>
                <a:latin typeface="Arial"/>
              </a:rPr>
              <a:t>1</a:t>
            </a:r>
            <a:endParaRPr lang="en-SG" sz="82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LAIM-CMEV">
  <a:themeElements>
    <a:clrScheme name="CLAIM-CMEV">
      <a:dk1>
        <a:srgbClr val="0C1B33"/>
      </a:dk1>
      <a:lt1>
        <a:srgbClr val="FFFFFF"/>
      </a:lt1>
      <a:dk2>
        <a:srgbClr val="17324D"/>
      </a:dk2>
      <a:lt2>
        <a:srgbClr val="F7F9FC"/>
      </a:lt2>
      <a:accent1>
        <a:srgbClr val="4E97D1"/>
      </a:accent1>
      <a:accent2>
        <a:srgbClr val="2D9C7A"/>
      </a:accent2>
      <a:accent3>
        <a:srgbClr val="8567C6"/>
      </a:accent3>
      <a:accent4>
        <a:srgbClr val="E9A23B"/>
      </a:accent4>
      <a:accent5>
        <a:srgbClr val="D65353"/>
      </a:accent5>
      <a:accent6>
        <a:srgbClr val="6D788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LAIM-CMEV">
      <a:fillStyleLst>
        <a:solidFill>
          <a:schemeClr val="phClr"/>
        </a:solidFill>
        <a:gradFill rotWithShape="1">
          <a:gsLst>
            <a:gs pos="0">
              <a:schemeClr val="phClr"/>
            </a:gs>
            <a:gs pos="100000">
              <a:schemeClr val="phClr"/>
            </a:gs>
          </a:gsLst>
          <a:lin ang="5400000" scaled="0"/>
        </a:gra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1</Slides>
  <Notes>0</Notes>
  <HiddenSlides>0</HiddenSlides>
  <MMClips>0</MMClips>
  <ScaleCrop>false</ScaleCrop>
  <Company>National University of Singapore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CLAIM-CMEV planned datasets</dc:title>
  <dc:subject>Single-slide dataset plan from project proposal v1 §12</dc:subject>
  <dc:creator>CLAIM-CMEV team</dc:creator>
  <cp:lastModifiedBy>Codex</cp:lastModifiedBy>
  <dcterms:created xsi:type="dcterms:W3CDTF">2026-09-12T08:37:46+00:00</dcterms:created>
  <dcterms:modified xsi:type="dcterms:W3CDTF">2026-09-12T08:37:46+00:00</dcterms:modified>
</cp:coreProperties>
</file>