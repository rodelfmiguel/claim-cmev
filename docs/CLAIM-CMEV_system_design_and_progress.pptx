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6" r:id="rId2"/>
    <p:sldId id="257" r:id="rId3"/>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070" autoAdjust="0"/>
  </p:normalViewPr>
  <p:slideViewPr>
    <p:cSldViewPr snapToGrid="0">
      <p:cViewPr varScale="1">
        <p:scale>
          <a:sx n="90" d="100"/>
          <a:sy n="90" d="100"/>
        </p:scale>
        <p:origin x="151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724A3D-78AB-4E3E-9671-B846989EB955}" type="datetimeFigureOut">
              <a:rPr lang="en-SG" smtClean="0"/>
              <a:t>27/9/2026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53A4AB-64CF-498D-97A7-0FBE2A6B724B}" type="slidenum">
              <a:rPr lang="en-SG" smtClean="0"/>
              <a:t>‹#›</a:t>
            </a:fld>
            <a:endParaRPr lang="en-SG"/>
          </a:p>
        </p:txBody>
      </p:sp>
    </p:spTree>
    <p:extLst>
      <p:ext uri="{BB962C8B-B14F-4D97-AF65-F5344CB8AC3E}">
        <p14:creationId xmlns:p14="http://schemas.microsoft.com/office/powerpoint/2010/main" val="1218847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infra/compose/docker-compose.yml (current service definitions and lean/full profiles), docs/specs/technical_specification.md sections 3-4, docs/specs/integration_contracts.md, CONTEXT.md status correction dated 2026-09-27.
The left drawing shows the containers created for the full Compose profile: eight long-running services plus the one-shot cmev-cost-bootstrap job. All six evidence stages currently run as fixture producers in one cmev-worker-producers container (amber). The dashed workers on the right are the target architecture, not existing per-module deployments. In the lean profile, cmev-worker-combined replaces the orchestrator, producer and consolidator containers.
Browser requests reach the web/API. API outbox events and worker commands/completions travel via Kafka. The orchestrator controls readiness, retries and joins. M8 produces deterministic findings and reads a pinned M7 synthetic cost table. API and workers share PostgreSQL and object storage; shared persistence access is grouped rather than drawing every connection. The cost volume is implemented; model training/registry delivery and derived model artifacts are planned.
Target image dependency: M1 parts, then M2 damage/part assignment, then M3 summary. Document dependency: M4 OCR, then M5 rows, then M6 linked marks (mark detection itself may run earlier). Human review is required for marks and uncertain identities. Final claim approval remains separate. The API does not load neural weights.
Background image: the project's own generated decorative image (src/workbench/public/images/damaged-car.png), cropped and tinted.</a:t>
            </a:r>
            <a:endParaRPr lang="en-SG"/>
          </a:p>
        </p:txBody>
      </p:sp>
      <p:sp>
        <p:nvSpPr>
          <p:cNvPr id="4" name="Slide Number Placeholder 3"/>
          <p:cNvSpPr>
            <a:spLocks noGrp="1"/>
          </p:cNvSpPr>
          <p:nvPr>
            <p:ph type="sldNum" sz="quarter" idx="5"/>
          </p:nvPr>
        </p:nvSpPr>
        <p:spPr/>
        <p:txBody>
          <a:bodyPr/>
          <a:lstStyle/>
          <a:p>
            <a:fld id="{6553A4AB-64CF-498D-97A7-0FBE2A6B724B}" type="slidenum">
              <a:rPr lang="en-SG" smtClean="0"/>
              <a:t>1</a:t>
            </a:fld>
            <a:endParaRPr lang="en-SG"/>
          </a:p>
        </p:txBody>
      </p:sp>
    </p:spTree>
    <p:extLst>
      <p:ext uri="{BB962C8B-B14F-4D97-AF65-F5344CB8AC3E}">
        <p14:creationId xmlns:p14="http://schemas.microsoft.com/office/powerpoint/2010/main" val="9547333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user's presentation request (SegFormer-B2 trained and desired progress points); CONTEXT.md current status and 2026-09-27 correction, including the combined validation of 1413 passed and 1 skipped Python tests on fixture/synthetic data; infra/compose/docker-compose.yml (nine full-profile containers, eight long-running); docs/specs/model_training_specification.md section 3; docs/specs/data_contracts.md; docs/specs/integration_contracts.md; docs/specs/ui_specification.md.
Completed UI/backend means the implemented fixture-backed application and system harness, not completion of every requirement or model integration. The test count is fixture and synthetic validation, not model accuracy or real-price accuracy. Actual image overlays, real-model worker integration, runtime acceptance and remaining defects still require work.
The training milestone is a fresh team update supplied by the user: the first car defects model, SegFormer-B2, has been trained. Older repository notes say no model exists and propose SegFormer-B0. The slide reflects the user's newer training update without claiming that checkpoint, dataset, evaluation results or model integration have been verified in this repository.
Datasets are identified, which does not imply all files/permissions/labels are ready. HITL is the planned parts source; CarDD is the planned core damage source with access pending in repository records. Model plan: SegFormer for vision, pretrained PaddleOCR, deterministic parser for 2-3 layouts, Faster R-CNN ResNet-50 FPN for pen marks, and offline empirical/LightGBM cost ranges. LayoutLMv3 and TrOCR remain stretch goals.
The right column contains intentionally editable placeholders for the next team sync: model dataset/checkpoint and measured metrics; completed modules and integration blockers; next owners and dates.
Background photo: "Rear End Tesla Model X Collision Damage Repair" by Scientificranking, Wikimedia Commons, licensed CC BY 4.0 (https://creativecommons.org/licenses/by/4.0/). Source: https://commons.wikimedia.org/wiki/File:Rear_End_Tesla_Model_X_Collision_Damage_Repair.jpg. Changes: cropped to 16:9, converted to greyscale, darkened and tinted.</a:t>
            </a:r>
            <a:endParaRPr lang="en-SG"/>
          </a:p>
        </p:txBody>
      </p:sp>
      <p:sp>
        <p:nvSpPr>
          <p:cNvPr id="4" name="Slide Number Placeholder 3"/>
          <p:cNvSpPr>
            <a:spLocks noGrp="1"/>
          </p:cNvSpPr>
          <p:nvPr>
            <p:ph type="sldNum" sz="quarter" idx="5"/>
          </p:nvPr>
        </p:nvSpPr>
        <p:spPr/>
        <p:txBody>
          <a:bodyPr/>
          <a:lstStyle/>
          <a:p>
            <a:fld id="{6553A4AB-64CF-498D-97A7-0FBE2A6B724B}" type="slidenum">
              <a:rPr lang="en-SG" smtClean="0"/>
              <a:t>2</a:t>
            </a:fld>
            <a:endParaRPr lang="en-SG"/>
          </a:p>
        </p:txBody>
      </p:sp>
    </p:spTree>
    <p:extLst>
      <p:ext uri="{BB962C8B-B14F-4D97-AF65-F5344CB8AC3E}">
        <p14:creationId xmlns:p14="http://schemas.microsoft.com/office/powerpoint/2010/main" val="3308172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08BDA-CC69-FB5D-D858-41E2DF780EC3}"/>
              </a:ext>
            </a:extLst>
          </p:cNvPr>
          <p:cNvSpPr>
            <a:spLocks noGrp="1"/>
          </p:cNvSpPr>
          <p:nvPr>
            <p:ph type="ctrTitle"/>
          </p:nvPr>
        </p:nvSpPr>
        <p:spPr>
          <a:xfrm>
            <a:off x="2032000" y="1496484"/>
            <a:ext cx="12192000" cy="3183467"/>
          </a:xfrm>
        </p:spPr>
        <p:txBody>
          <a:bodyPr anchor="b"/>
          <a:lstStyle>
            <a:lvl1pPr algn="ctr">
              <a:defRPr sz="6000"/>
            </a:lvl1pPr>
          </a:lstStyle>
          <a:p>
            <a:r>
              <a:rPr lang="en-GB"/>
              <a:t>Click to edit Master title style</a:t>
            </a:r>
            <a:endParaRPr lang="en-SG"/>
          </a:p>
        </p:txBody>
      </p:sp>
      <p:sp>
        <p:nvSpPr>
          <p:cNvPr id="3" name="Subtitle 2">
            <a:extLst>
              <a:ext uri="{FF2B5EF4-FFF2-40B4-BE49-F238E27FC236}">
                <a16:creationId xmlns:a16="http://schemas.microsoft.com/office/drawing/2014/main" id="{F5201D0C-79F7-F960-64E8-694ACEDC9CF0}"/>
              </a:ext>
            </a:extLst>
          </p:cNvPr>
          <p:cNvSpPr>
            <a:spLocks noGrp="1"/>
          </p:cNvSpPr>
          <p:nvPr>
            <p:ph type="subTitle" idx="1"/>
          </p:nvPr>
        </p:nvSpPr>
        <p:spPr>
          <a:xfrm>
            <a:off x="2032000" y="4802717"/>
            <a:ext cx="12192000" cy="220768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SG"/>
          </a:p>
        </p:txBody>
      </p:sp>
      <p:sp>
        <p:nvSpPr>
          <p:cNvPr id="4" name="Date Placeholder 3">
            <a:extLst>
              <a:ext uri="{FF2B5EF4-FFF2-40B4-BE49-F238E27FC236}">
                <a16:creationId xmlns:a16="http://schemas.microsoft.com/office/drawing/2014/main" id="{3BDA5885-EE13-F1C1-3EA2-E02132F69FD6}"/>
              </a:ext>
            </a:extLst>
          </p:cNvPr>
          <p:cNvSpPr>
            <a:spLocks noGrp="1"/>
          </p:cNvSpPr>
          <p:nvPr>
            <p:ph type="dt" sz="half" idx="10"/>
          </p:nvPr>
        </p:nvSpPr>
        <p:spPr/>
        <p:txBody>
          <a:bodyPr/>
          <a:lstStyle/>
          <a:p>
            <a:fld id="{33D6ACD8-DDD6-41B8-A8F7-64F385A183F2}" type="datetimeFigureOut">
              <a:rPr lang="en-SG" smtClean="0"/>
              <a:t>27/9/2026</a:t>
            </a:fld>
            <a:endParaRPr lang="en-SG"/>
          </a:p>
        </p:txBody>
      </p:sp>
      <p:sp>
        <p:nvSpPr>
          <p:cNvPr id="5" name="Footer Placeholder 4">
            <a:extLst>
              <a:ext uri="{FF2B5EF4-FFF2-40B4-BE49-F238E27FC236}">
                <a16:creationId xmlns:a16="http://schemas.microsoft.com/office/drawing/2014/main" id="{0ABD2584-345D-DBB4-CB15-5DE9DA94FD41}"/>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9C17192-EDA6-282B-F119-6D0B0F7C4D90}"/>
              </a:ext>
            </a:extLst>
          </p:cNvPr>
          <p:cNvSpPr>
            <a:spLocks noGrp="1"/>
          </p:cNvSpPr>
          <p:nvPr>
            <p:ph type="sldNum" sz="quarter" idx="12"/>
          </p:nvPr>
        </p:nvSpPr>
        <p:spPr/>
        <p:txBody>
          <a:bodyPr/>
          <a:lstStyle/>
          <a:p>
            <a:fld id="{DB5C91DF-5342-4466-8EF8-5ED5E726F8AF}" type="slidenum">
              <a:rPr lang="en-SG" smtClean="0"/>
              <a:t>‹#›</a:t>
            </a:fld>
            <a:endParaRPr lang="en-SG"/>
          </a:p>
        </p:txBody>
      </p:sp>
    </p:spTree>
    <p:extLst>
      <p:ext uri="{BB962C8B-B14F-4D97-AF65-F5344CB8AC3E}">
        <p14:creationId xmlns:p14="http://schemas.microsoft.com/office/powerpoint/2010/main" val="37284935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BB517-1674-A396-4E3A-875B6070C72E}"/>
              </a:ext>
            </a:extLst>
          </p:cNvPr>
          <p:cNvSpPr>
            <a:spLocks noGrp="1"/>
          </p:cNvSpPr>
          <p:nvPr>
            <p:ph type="title"/>
          </p:nvPr>
        </p:nvSpPr>
        <p:spPr/>
        <p:txBody>
          <a:bodyPr/>
          <a:lstStyle/>
          <a:p>
            <a:r>
              <a:rPr lang="en-GB"/>
              <a:t>Click to edit Master title style</a:t>
            </a:r>
            <a:endParaRPr lang="en-SG"/>
          </a:p>
        </p:txBody>
      </p:sp>
      <p:sp>
        <p:nvSpPr>
          <p:cNvPr id="3" name="Content Placeholder 2">
            <a:extLst>
              <a:ext uri="{FF2B5EF4-FFF2-40B4-BE49-F238E27FC236}">
                <a16:creationId xmlns:a16="http://schemas.microsoft.com/office/drawing/2014/main" id="{BCCA368C-EF4B-F834-1A0D-9222368BB78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Date Placeholder 3">
            <a:extLst>
              <a:ext uri="{FF2B5EF4-FFF2-40B4-BE49-F238E27FC236}">
                <a16:creationId xmlns:a16="http://schemas.microsoft.com/office/drawing/2014/main" id="{445F4600-2DDB-6E99-2534-D478A3707DD0}"/>
              </a:ext>
            </a:extLst>
          </p:cNvPr>
          <p:cNvSpPr>
            <a:spLocks noGrp="1"/>
          </p:cNvSpPr>
          <p:nvPr>
            <p:ph type="dt" sz="half" idx="10"/>
          </p:nvPr>
        </p:nvSpPr>
        <p:spPr/>
        <p:txBody>
          <a:bodyPr/>
          <a:lstStyle/>
          <a:p>
            <a:fld id="{33D6ACD8-DDD6-41B8-A8F7-64F385A183F2}" type="datetimeFigureOut">
              <a:rPr lang="en-SG" smtClean="0"/>
              <a:t>27/9/2026</a:t>
            </a:fld>
            <a:endParaRPr lang="en-SG"/>
          </a:p>
        </p:txBody>
      </p:sp>
      <p:sp>
        <p:nvSpPr>
          <p:cNvPr id="5" name="Footer Placeholder 4">
            <a:extLst>
              <a:ext uri="{FF2B5EF4-FFF2-40B4-BE49-F238E27FC236}">
                <a16:creationId xmlns:a16="http://schemas.microsoft.com/office/drawing/2014/main" id="{D3DE4813-D331-1961-7411-17F0BC63CB5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77FCBE1F-A93B-7DCD-BCD5-791FFD44E07E}"/>
              </a:ext>
            </a:extLst>
          </p:cNvPr>
          <p:cNvSpPr>
            <a:spLocks noGrp="1"/>
          </p:cNvSpPr>
          <p:nvPr>
            <p:ph type="sldNum" sz="quarter" idx="12"/>
          </p:nvPr>
        </p:nvSpPr>
        <p:spPr/>
        <p:txBody>
          <a:bodyPr/>
          <a:lstStyle/>
          <a:p>
            <a:fld id="{DB5C91DF-5342-4466-8EF8-5ED5E726F8AF}" type="slidenum">
              <a:rPr lang="en-SG" smtClean="0"/>
              <a:t>‹#›</a:t>
            </a:fld>
            <a:endParaRPr lang="en-SG"/>
          </a:p>
        </p:txBody>
      </p:sp>
    </p:spTree>
    <p:extLst>
      <p:ext uri="{BB962C8B-B14F-4D97-AF65-F5344CB8AC3E}">
        <p14:creationId xmlns:p14="http://schemas.microsoft.com/office/powerpoint/2010/main" val="2724822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8D64-BDF7-ECB8-D270-C36676DAFBC6}"/>
              </a:ext>
            </a:extLst>
          </p:cNvPr>
          <p:cNvSpPr>
            <a:spLocks noGrp="1"/>
          </p:cNvSpPr>
          <p:nvPr>
            <p:ph type="title"/>
          </p:nvPr>
        </p:nvSpPr>
        <p:spPr>
          <a:xfrm>
            <a:off x="1109133" y="2279653"/>
            <a:ext cx="14020800" cy="3803649"/>
          </a:xfrm>
        </p:spPr>
        <p:txBody>
          <a:bodyPr anchor="b"/>
          <a:lstStyle>
            <a:lvl1pPr>
              <a:defRPr sz="6000"/>
            </a:lvl1pPr>
          </a:lstStyle>
          <a:p>
            <a:r>
              <a:rPr lang="en-GB"/>
              <a:t>Click to edit Master title style</a:t>
            </a:r>
            <a:endParaRPr lang="en-SG"/>
          </a:p>
        </p:txBody>
      </p:sp>
      <p:sp>
        <p:nvSpPr>
          <p:cNvPr id="3" name="Text Placeholder 2">
            <a:extLst>
              <a:ext uri="{FF2B5EF4-FFF2-40B4-BE49-F238E27FC236}">
                <a16:creationId xmlns:a16="http://schemas.microsoft.com/office/drawing/2014/main" id="{A9C3B136-89F8-2EB3-E719-94FB8B54D1B0}"/>
              </a:ext>
            </a:extLst>
          </p:cNvPr>
          <p:cNvSpPr>
            <a:spLocks noGrp="1"/>
          </p:cNvSpPr>
          <p:nvPr>
            <p:ph type="body" idx="1"/>
          </p:nvPr>
        </p:nvSpPr>
        <p:spPr>
          <a:xfrm>
            <a:off x="1109133" y="6119286"/>
            <a:ext cx="14020800" cy="2000249"/>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A20DD72-B74E-0D5E-AD48-BDF78A1D72E8}"/>
              </a:ext>
            </a:extLst>
          </p:cNvPr>
          <p:cNvSpPr>
            <a:spLocks noGrp="1"/>
          </p:cNvSpPr>
          <p:nvPr>
            <p:ph type="dt" sz="half" idx="10"/>
          </p:nvPr>
        </p:nvSpPr>
        <p:spPr/>
        <p:txBody>
          <a:bodyPr/>
          <a:lstStyle/>
          <a:p>
            <a:fld id="{33D6ACD8-DDD6-41B8-A8F7-64F385A183F2}" type="datetimeFigureOut">
              <a:rPr lang="en-SG" smtClean="0"/>
              <a:t>27/9/2026</a:t>
            </a:fld>
            <a:endParaRPr lang="en-SG"/>
          </a:p>
        </p:txBody>
      </p:sp>
      <p:sp>
        <p:nvSpPr>
          <p:cNvPr id="5" name="Footer Placeholder 4">
            <a:extLst>
              <a:ext uri="{FF2B5EF4-FFF2-40B4-BE49-F238E27FC236}">
                <a16:creationId xmlns:a16="http://schemas.microsoft.com/office/drawing/2014/main" id="{3BBA0510-016E-D6DC-E879-16146DD5DD5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D8EC0D7-AB39-2468-80BD-EFDBF3DC23D6}"/>
              </a:ext>
            </a:extLst>
          </p:cNvPr>
          <p:cNvSpPr>
            <a:spLocks noGrp="1"/>
          </p:cNvSpPr>
          <p:nvPr>
            <p:ph type="sldNum" sz="quarter" idx="12"/>
          </p:nvPr>
        </p:nvSpPr>
        <p:spPr/>
        <p:txBody>
          <a:bodyPr/>
          <a:lstStyle/>
          <a:p>
            <a:fld id="{DB5C91DF-5342-4466-8EF8-5ED5E726F8AF}" type="slidenum">
              <a:rPr lang="en-SG" smtClean="0"/>
              <a:t>‹#›</a:t>
            </a:fld>
            <a:endParaRPr lang="en-SG"/>
          </a:p>
        </p:txBody>
      </p:sp>
    </p:spTree>
    <p:extLst>
      <p:ext uri="{BB962C8B-B14F-4D97-AF65-F5344CB8AC3E}">
        <p14:creationId xmlns:p14="http://schemas.microsoft.com/office/powerpoint/2010/main" val="621722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092F9-9E04-B57F-EF2D-5A5874672058}"/>
              </a:ext>
            </a:extLst>
          </p:cNvPr>
          <p:cNvSpPr>
            <a:spLocks noGrp="1"/>
          </p:cNvSpPr>
          <p:nvPr>
            <p:ph type="title"/>
          </p:nvPr>
        </p:nvSpPr>
        <p:spPr/>
        <p:txBody>
          <a:bodyPr/>
          <a:lstStyle/>
          <a:p>
            <a:r>
              <a:rPr lang="en-GB"/>
              <a:t>Click to edit Master title style</a:t>
            </a:r>
            <a:endParaRPr lang="en-SG"/>
          </a:p>
        </p:txBody>
      </p:sp>
      <p:sp>
        <p:nvSpPr>
          <p:cNvPr id="3" name="Content Placeholder 2">
            <a:extLst>
              <a:ext uri="{FF2B5EF4-FFF2-40B4-BE49-F238E27FC236}">
                <a16:creationId xmlns:a16="http://schemas.microsoft.com/office/drawing/2014/main" id="{DE4042DD-B746-0E74-56F0-6DBC195D3ECF}"/>
              </a:ext>
            </a:extLst>
          </p:cNvPr>
          <p:cNvSpPr>
            <a:spLocks noGrp="1"/>
          </p:cNvSpPr>
          <p:nvPr>
            <p:ph sz="half" idx="1"/>
          </p:nvPr>
        </p:nvSpPr>
        <p:spPr>
          <a:xfrm>
            <a:off x="1117600" y="2434167"/>
            <a:ext cx="6908800" cy="580178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Content Placeholder 3">
            <a:extLst>
              <a:ext uri="{FF2B5EF4-FFF2-40B4-BE49-F238E27FC236}">
                <a16:creationId xmlns:a16="http://schemas.microsoft.com/office/drawing/2014/main" id="{F2261C1B-D15C-678E-E913-86C541BD7B26}"/>
              </a:ext>
            </a:extLst>
          </p:cNvPr>
          <p:cNvSpPr>
            <a:spLocks noGrp="1"/>
          </p:cNvSpPr>
          <p:nvPr>
            <p:ph sz="half" idx="2"/>
          </p:nvPr>
        </p:nvSpPr>
        <p:spPr>
          <a:xfrm>
            <a:off x="8229600" y="2434167"/>
            <a:ext cx="6908800" cy="580178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5" name="Date Placeholder 4">
            <a:extLst>
              <a:ext uri="{FF2B5EF4-FFF2-40B4-BE49-F238E27FC236}">
                <a16:creationId xmlns:a16="http://schemas.microsoft.com/office/drawing/2014/main" id="{725B6121-E028-25E2-A4C7-33440C4B3BCE}"/>
              </a:ext>
            </a:extLst>
          </p:cNvPr>
          <p:cNvSpPr>
            <a:spLocks noGrp="1"/>
          </p:cNvSpPr>
          <p:nvPr>
            <p:ph type="dt" sz="half" idx="10"/>
          </p:nvPr>
        </p:nvSpPr>
        <p:spPr/>
        <p:txBody>
          <a:bodyPr/>
          <a:lstStyle/>
          <a:p>
            <a:fld id="{33D6ACD8-DDD6-41B8-A8F7-64F385A183F2}" type="datetimeFigureOut">
              <a:rPr lang="en-SG" smtClean="0"/>
              <a:t>27/9/2026</a:t>
            </a:fld>
            <a:endParaRPr lang="en-SG"/>
          </a:p>
        </p:txBody>
      </p:sp>
      <p:sp>
        <p:nvSpPr>
          <p:cNvPr id="6" name="Footer Placeholder 5">
            <a:extLst>
              <a:ext uri="{FF2B5EF4-FFF2-40B4-BE49-F238E27FC236}">
                <a16:creationId xmlns:a16="http://schemas.microsoft.com/office/drawing/2014/main" id="{DDB00F51-0611-E077-C4A5-B5780A321136}"/>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B456891-5E8D-D2AE-671F-2BEEF01C2371}"/>
              </a:ext>
            </a:extLst>
          </p:cNvPr>
          <p:cNvSpPr>
            <a:spLocks noGrp="1"/>
          </p:cNvSpPr>
          <p:nvPr>
            <p:ph type="sldNum" sz="quarter" idx="12"/>
          </p:nvPr>
        </p:nvSpPr>
        <p:spPr/>
        <p:txBody>
          <a:bodyPr/>
          <a:lstStyle/>
          <a:p>
            <a:fld id="{DB5C91DF-5342-4466-8EF8-5ED5E726F8AF}" type="slidenum">
              <a:rPr lang="en-SG" smtClean="0"/>
              <a:t>‹#›</a:t>
            </a:fld>
            <a:endParaRPr lang="en-SG"/>
          </a:p>
        </p:txBody>
      </p:sp>
    </p:spTree>
    <p:extLst>
      <p:ext uri="{BB962C8B-B14F-4D97-AF65-F5344CB8AC3E}">
        <p14:creationId xmlns:p14="http://schemas.microsoft.com/office/powerpoint/2010/main" val="164083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3DD60-7E62-65DC-1995-E211AB4336B4}"/>
              </a:ext>
            </a:extLst>
          </p:cNvPr>
          <p:cNvSpPr>
            <a:spLocks noGrp="1"/>
          </p:cNvSpPr>
          <p:nvPr>
            <p:ph type="title"/>
          </p:nvPr>
        </p:nvSpPr>
        <p:spPr>
          <a:xfrm>
            <a:off x="1119717" y="486836"/>
            <a:ext cx="14020800" cy="1767417"/>
          </a:xfrm>
        </p:spPr>
        <p:txBody>
          <a:bodyPr/>
          <a:lstStyle/>
          <a:p>
            <a:r>
              <a:rPr lang="en-GB"/>
              <a:t>Click to edit Master title style</a:t>
            </a:r>
            <a:endParaRPr lang="en-SG"/>
          </a:p>
        </p:txBody>
      </p:sp>
      <p:sp>
        <p:nvSpPr>
          <p:cNvPr id="3" name="Text Placeholder 2">
            <a:extLst>
              <a:ext uri="{FF2B5EF4-FFF2-40B4-BE49-F238E27FC236}">
                <a16:creationId xmlns:a16="http://schemas.microsoft.com/office/drawing/2014/main" id="{CD18A9B9-8EBC-2817-173D-F90048A16DED}"/>
              </a:ext>
            </a:extLst>
          </p:cNvPr>
          <p:cNvSpPr>
            <a:spLocks noGrp="1"/>
          </p:cNvSpPr>
          <p:nvPr>
            <p:ph type="body" idx="1"/>
          </p:nvPr>
        </p:nvSpPr>
        <p:spPr>
          <a:xfrm>
            <a:off x="1119719" y="2241551"/>
            <a:ext cx="6877049"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D625071-BA18-D08E-1EE7-C5969DED6BE4}"/>
              </a:ext>
            </a:extLst>
          </p:cNvPr>
          <p:cNvSpPr>
            <a:spLocks noGrp="1"/>
          </p:cNvSpPr>
          <p:nvPr>
            <p:ph sz="half" idx="2"/>
          </p:nvPr>
        </p:nvSpPr>
        <p:spPr>
          <a:xfrm>
            <a:off x="1119719" y="3340100"/>
            <a:ext cx="6877049" cy="491278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5" name="Text Placeholder 4">
            <a:extLst>
              <a:ext uri="{FF2B5EF4-FFF2-40B4-BE49-F238E27FC236}">
                <a16:creationId xmlns:a16="http://schemas.microsoft.com/office/drawing/2014/main" id="{468033C9-E001-B05B-75AF-C811BBA94620}"/>
              </a:ext>
            </a:extLst>
          </p:cNvPr>
          <p:cNvSpPr>
            <a:spLocks noGrp="1"/>
          </p:cNvSpPr>
          <p:nvPr>
            <p:ph type="body" sz="quarter" idx="3"/>
          </p:nvPr>
        </p:nvSpPr>
        <p:spPr>
          <a:xfrm>
            <a:off x="8229601" y="2241551"/>
            <a:ext cx="6910917"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94F3615-A3C3-CBEF-23B8-B7351AF81CA2}"/>
              </a:ext>
            </a:extLst>
          </p:cNvPr>
          <p:cNvSpPr>
            <a:spLocks noGrp="1"/>
          </p:cNvSpPr>
          <p:nvPr>
            <p:ph sz="quarter" idx="4"/>
          </p:nvPr>
        </p:nvSpPr>
        <p:spPr>
          <a:xfrm>
            <a:off x="8229601" y="3340100"/>
            <a:ext cx="6910917" cy="491278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7" name="Date Placeholder 6">
            <a:extLst>
              <a:ext uri="{FF2B5EF4-FFF2-40B4-BE49-F238E27FC236}">
                <a16:creationId xmlns:a16="http://schemas.microsoft.com/office/drawing/2014/main" id="{01426162-CCA4-5075-ED9A-6E09E7BDAA92}"/>
              </a:ext>
            </a:extLst>
          </p:cNvPr>
          <p:cNvSpPr>
            <a:spLocks noGrp="1"/>
          </p:cNvSpPr>
          <p:nvPr>
            <p:ph type="dt" sz="half" idx="10"/>
          </p:nvPr>
        </p:nvSpPr>
        <p:spPr/>
        <p:txBody>
          <a:bodyPr/>
          <a:lstStyle/>
          <a:p>
            <a:fld id="{33D6ACD8-DDD6-41B8-A8F7-64F385A183F2}" type="datetimeFigureOut">
              <a:rPr lang="en-SG" smtClean="0"/>
              <a:t>27/9/2026</a:t>
            </a:fld>
            <a:endParaRPr lang="en-SG"/>
          </a:p>
        </p:txBody>
      </p:sp>
      <p:sp>
        <p:nvSpPr>
          <p:cNvPr id="8" name="Footer Placeholder 7">
            <a:extLst>
              <a:ext uri="{FF2B5EF4-FFF2-40B4-BE49-F238E27FC236}">
                <a16:creationId xmlns:a16="http://schemas.microsoft.com/office/drawing/2014/main" id="{42BB49D3-63EB-8029-FAD6-65A13130B417}"/>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8B5A5919-29EE-BC6D-9286-01D08D967D92}"/>
              </a:ext>
            </a:extLst>
          </p:cNvPr>
          <p:cNvSpPr>
            <a:spLocks noGrp="1"/>
          </p:cNvSpPr>
          <p:nvPr>
            <p:ph type="sldNum" sz="quarter" idx="12"/>
          </p:nvPr>
        </p:nvSpPr>
        <p:spPr/>
        <p:txBody>
          <a:bodyPr/>
          <a:lstStyle/>
          <a:p>
            <a:fld id="{DB5C91DF-5342-4466-8EF8-5ED5E726F8AF}" type="slidenum">
              <a:rPr lang="en-SG" smtClean="0"/>
              <a:t>‹#›</a:t>
            </a:fld>
            <a:endParaRPr lang="en-SG"/>
          </a:p>
        </p:txBody>
      </p:sp>
    </p:spTree>
    <p:extLst>
      <p:ext uri="{BB962C8B-B14F-4D97-AF65-F5344CB8AC3E}">
        <p14:creationId xmlns:p14="http://schemas.microsoft.com/office/powerpoint/2010/main" val="1085424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76636-994F-4CB9-0D79-EA6EE82AA3A3}"/>
              </a:ext>
            </a:extLst>
          </p:cNvPr>
          <p:cNvSpPr>
            <a:spLocks noGrp="1"/>
          </p:cNvSpPr>
          <p:nvPr>
            <p:ph type="title"/>
          </p:nvPr>
        </p:nvSpPr>
        <p:spPr/>
        <p:txBody>
          <a:bodyPr/>
          <a:lstStyle/>
          <a:p>
            <a:r>
              <a:rPr lang="en-GB"/>
              <a:t>Click to edit Master title style</a:t>
            </a:r>
            <a:endParaRPr lang="en-SG"/>
          </a:p>
        </p:txBody>
      </p:sp>
      <p:sp>
        <p:nvSpPr>
          <p:cNvPr id="3" name="Date Placeholder 2">
            <a:extLst>
              <a:ext uri="{FF2B5EF4-FFF2-40B4-BE49-F238E27FC236}">
                <a16:creationId xmlns:a16="http://schemas.microsoft.com/office/drawing/2014/main" id="{9F7C8DF7-B964-2426-0BD2-0304943A5196}"/>
              </a:ext>
            </a:extLst>
          </p:cNvPr>
          <p:cNvSpPr>
            <a:spLocks noGrp="1"/>
          </p:cNvSpPr>
          <p:nvPr>
            <p:ph type="dt" sz="half" idx="10"/>
          </p:nvPr>
        </p:nvSpPr>
        <p:spPr/>
        <p:txBody>
          <a:bodyPr/>
          <a:lstStyle/>
          <a:p>
            <a:fld id="{33D6ACD8-DDD6-41B8-A8F7-64F385A183F2}" type="datetimeFigureOut">
              <a:rPr lang="en-SG" smtClean="0"/>
              <a:t>27/9/2026</a:t>
            </a:fld>
            <a:endParaRPr lang="en-SG"/>
          </a:p>
        </p:txBody>
      </p:sp>
      <p:sp>
        <p:nvSpPr>
          <p:cNvPr id="4" name="Footer Placeholder 3">
            <a:extLst>
              <a:ext uri="{FF2B5EF4-FFF2-40B4-BE49-F238E27FC236}">
                <a16:creationId xmlns:a16="http://schemas.microsoft.com/office/drawing/2014/main" id="{35941148-FAFF-2DF4-F709-97D83F4766D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6674BFE5-4302-54F8-2FE7-228DB33877AB}"/>
              </a:ext>
            </a:extLst>
          </p:cNvPr>
          <p:cNvSpPr>
            <a:spLocks noGrp="1"/>
          </p:cNvSpPr>
          <p:nvPr>
            <p:ph type="sldNum" sz="quarter" idx="12"/>
          </p:nvPr>
        </p:nvSpPr>
        <p:spPr/>
        <p:txBody>
          <a:bodyPr/>
          <a:lstStyle/>
          <a:p>
            <a:fld id="{DB5C91DF-5342-4466-8EF8-5ED5E726F8AF}" type="slidenum">
              <a:rPr lang="en-SG" smtClean="0"/>
              <a:t>‹#›</a:t>
            </a:fld>
            <a:endParaRPr lang="en-SG"/>
          </a:p>
        </p:txBody>
      </p:sp>
    </p:spTree>
    <p:extLst>
      <p:ext uri="{BB962C8B-B14F-4D97-AF65-F5344CB8AC3E}">
        <p14:creationId xmlns:p14="http://schemas.microsoft.com/office/powerpoint/2010/main" val="2430034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42EF38-226E-D355-9075-F9808E389D44}"/>
              </a:ext>
            </a:extLst>
          </p:cNvPr>
          <p:cNvSpPr>
            <a:spLocks noGrp="1"/>
          </p:cNvSpPr>
          <p:nvPr>
            <p:ph type="dt" sz="half" idx="10"/>
          </p:nvPr>
        </p:nvSpPr>
        <p:spPr/>
        <p:txBody>
          <a:bodyPr/>
          <a:lstStyle/>
          <a:p>
            <a:fld id="{33D6ACD8-DDD6-41B8-A8F7-64F385A183F2}" type="datetimeFigureOut">
              <a:rPr lang="en-SG" smtClean="0"/>
              <a:t>27/9/2026</a:t>
            </a:fld>
            <a:endParaRPr lang="en-SG"/>
          </a:p>
        </p:txBody>
      </p:sp>
      <p:sp>
        <p:nvSpPr>
          <p:cNvPr id="3" name="Footer Placeholder 2">
            <a:extLst>
              <a:ext uri="{FF2B5EF4-FFF2-40B4-BE49-F238E27FC236}">
                <a16:creationId xmlns:a16="http://schemas.microsoft.com/office/drawing/2014/main" id="{225E1ADD-910B-DACF-2B14-4A7D76E45074}"/>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7C067104-CDC3-E534-AF76-2277C5D6B913}"/>
              </a:ext>
            </a:extLst>
          </p:cNvPr>
          <p:cNvSpPr>
            <a:spLocks noGrp="1"/>
          </p:cNvSpPr>
          <p:nvPr>
            <p:ph type="sldNum" sz="quarter" idx="12"/>
          </p:nvPr>
        </p:nvSpPr>
        <p:spPr/>
        <p:txBody>
          <a:bodyPr/>
          <a:lstStyle/>
          <a:p>
            <a:fld id="{DB5C91DF-5342-4466-8EF8-5ED5E726F8AF}" type="slidenum">
              <a:rPr lang="en-SG" smtClean="0"/>
              <a:t>‹#›</a:t>
            </a:fld>
            <a:endParaRPr lang="en-SG"/>
          </a:p>
        </p:txBody>
      </p:sp>
    </p:spTree>
    <p:extLst>
      <p:ext uri="{BB962C8B-B14F-4D97-AF65-F5344CB8AC3E}">
        <p14:creationId xmlns:p14="http://schemas.microsoft.com/office/powerpoint/2010/main" val="3805616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EA2B-5391-B901-340B-C43FEAB3C474}"/>
              </a:ext>
            </a:extLst>
          </p:cNvPr>
          <p:cNvSpPr>
            <a:spLocks noGrp="1"/>
          </p:cNvSpPr>
          <p:nvPr>
            <p:ph type="title"/>
          </p:nvPr>
        </p:nvSpPr>
        <p:spPr>
          <a:xfrm>
            <a:off x="1119719" y="609600"/>
            <a:ext cx="5242983" cy="2133600"/>
          </a:xfrm>
        </p:spPr>
        <p:txBody>
          <a:bodyPr anchor="b"/>
          <a:lstStyle>
            <a:lvl1pPr>
              <a:defRPr sz="3200"/>
            </a:lvl1pPr>
          </a:lstStyle>
          <a:p>
            <a:r>
              <a:rPr lang="en-GB"/>
              <a:t>Click to edit Master title style</a:t>
            </a:r>
            <a:endParaRPr lang="en-SG"/>
          </a:p>
        </p:txBody>
      </p:sp>
      <p:sp>
        <p:nvSpPr>
          <p:cNvPr id="3" name="Content Placeholder 2">
            <a:extLst>
              <a:ext uri="{FF2B5EF4-FFF2-40B4-BE49-F238E27FC236}">
                <a16:creationId xmlns:a16="http://schemas.microsoft.com/office/drawing/2014/main" id="{7643EBE0-EB63-5099-4509-8F4E4A3DA99B}"/>
              </a:ext>
            </a:extLst>
          </p:cNvPr>
          <p:cNvSpPr>
            <a:spLocks noGrp="1"/>
          </p:cNvSpPr>
          <p:nvPr>
            <p:ph idx="1"/>
          </p:nvPr>
        </p:nvSpPr>
        <p:spPr>
          <a:xfrm>
            <a:off x="6910917" y="1316569"/>
            <a:ext cx="8229600" cy="64981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Text Placeholder 3">
            <a:extLst>
              <a:ext uri="{FF2B5EF4-FFF2-40B4-BE49-F238E27FC236}">
                <a16:creationId xmlns:a16="http://schemas.microsoft.com/office/drawing/2014/main" id="{7B58D31C-9243-4BA4-9566-B359B276796B}"/>
              </a:ext>
            </a:extLst>
          </p:cNvPr>
          <p:cNvSpPr>
            <a:spLocks noGrp="1"/>
          </p:cNvSpPr>
          <p:nvPr>
            <p:ph type="body" sz="half" idx="2"/>
          </p:nvPr>
        </p:nvSpPr>
        <p:spPr>
          <a:xfrm>
            <a:off x="1119719" y="2743200"/>
            <a:ext cx="5242983"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26F6A36-B802-BE6A-2B19-8B3581D4F113}"/>
              </a:ext>
            </a:extLst>
          </p:cNvPr>
          <p:cNvSpPr>
            <a:spLocks noGrp="1"/>
          </p:cNvSpPr>
          <p:nvPr>
            <p:ph type="dt" sz="half" idx="10"/>
          </p:nvPr>
        </p:nvSpPr>
        <p:spPr/>
        <p:txBody>
          <a:bodyPr/>
          <a:lstStyle/>
          <a:p>
            <a:fld id="{33D6ACD8-DDD6-41B8-A8F7-64F385A183F2}" type="datetimeFigureOut">
              <a:rPr lang="en-SG" smtClean="0"/>
              <a:t>27/9/2026</a:t>
            </a:fld>
            <a:endParaRPr lang="en-SG"/>
          </a:p>
        </p:txBody>
      </p:sp>
      <p:sp>
        <p:nvSpPr>
          <p:cNvPr id="6" name="Footer Placeholder 5">
            <a:extLst>
              <a:ext uri="{FF2B5EF4-FFF2-40B4-BE49-F238E27FC236}">
                <a16:creationId xmlns:a16="http://schemas.microsoft.com/office/drawing/2014/main" id="{BC1DFC7E-51C2-964C-FA30-2DEA30334733}"/>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DC374F70-CD37-0AA3-AAAA-507E650F4797}"/>
              </a:ext>
            </a:extLst>
          </p:cNvPr>
          <p:cNvSpPr>
            <a:spLocks noGrp="1"/>
          </p:cNvSpPr>
          <p:nvPr>
            <p:ph type="sldNum" sz="quarter" idx="12"/>
          </p:nvPr>
        </p:nvSpPr>
        <p:spPr/>
        <p:txBody>
          <a:bodyPr/>
          <a:lstStyle/>
          <a:p>
            <a:fld id="{DB5C91DF-5342-4466-8EF8-5ED5E726F8AF}" type="slidenum">
              <a:rPr lang="en-SG" smtClean="0"/>
              <a:t>‹#›</a:t>
            </a:fld>
            <a:endParaRPr lang="en-SG"/>
          </a:p>
        </p:txBody>
      </p:sp>
    </p:spTree>
    <p:extLst>
      <p:ext uri="{BB962C8B-B14F-4D97-AF65-F5344CB8AC3E}">
        <p14:creationId xmlns:p14="http://schemas.microsoft.com/office/powerpoint/2010/main" val="2307368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675E7-BF42-2263-B77B-F26CE44B81EC}"/>
              </a:ext>
            </a:extLst>
          </p:cNvPr>
          <p:cNvSpPr>
            <a:spLocks noGrp="1"/>
          </p:cNvSpPr>
          <p:nvPr>
            <p:ph type="title"/>
          </p:nvPr>
        </p:nvSpPr>
        <p:spPr>
          <a:xfrm>
            <a:off x="1119719" y="609600"/>
            <a:ext cx="5242983" cy="2133600"/>
          </a:xfrm>
        </p:spPr>
        <p:txBody>
          <a:bodyPr anchor="b"/>
          <a:lstStyle>
            <a:lvl1pPr>
              <a:defRPr sz="3200"/>
            </a:lvl1pPr>
          </a:lstStyle>
          <a:p>
            <a:r>
              <a:rPr lang="en-GB"/>
              <a:t>Click to edit Master title style</a:t>
            </a:r>
            <a:endParaRPr lang="en-SG"/>
          </a:p>
        </p:txBody>
      </p:sp>
      <p:sp>
        <p:nvSpPr>
          <p:cNvPr id="3" name="Picture Placeholder 2">
            <a:extLst>
              <a:ext uri="{FF2B5EF4-FFF2-40B4-BE49-F238E27FC236}">
                <a16:creationId xmlns:a16="http://schemas.microsoft.com/office/drawing/2014/main" id="{22EC8579-E8ED-8205-037C-57DC3D07CB19}"/>
              </a:ext>
            </a:extLst>
          </p:cNvPr>
          <p:cNvSpPr>
            <a:spLocks noGrp="1"/>
          </p:cNvSpPr>
          <p:nvPr>
            <p:ph type="pic" idx="1"/>
          </p:nvPr>
        </p:nvSpPr>
        <p:spPr>
          <a:xfrm>
            <a:off x="6910917" y="1316569"/>
            <a:ext cx="8229600" cy="649816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31BC625A-3776-9E64-A7E7-48EFDFFDF676}"/>
              </a:ext>
            </a:extLst>
          </p:cNvPr>
          <p:cNvSpPr>
            <a:spLocks noGrp="1"/>
          </p:cNvSpPr>
          <p:nvPr>
            <p:ph type="body" sz="half" idx="2"/>
          </p:nvPr>
        </p:nvSpPr>
        <p:spPr>
          <a:xfrm>
            <a:off x="1119719" y="2743200"/>
            <a:ext cx="5242983"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E21598E-3AB4-9F07-5ABD-105247DA4633}"/>
              </a:ext>
            </a:extLst>
          </p:cNvPr>
          <p:cNvSpPr>
            <a:spLocks noGrp="1"/>
          </p:cNvSpPr>
          <p:nvPr>
            <p:ph type="dt" sz="half" idx="10"/>
          </p:nvPr>
        </p:nvSpPr>
        <p:spPr/>
        <p:txBody>
          <a:bodyPr/>
          <a:lstStyle/>
          <a:p>
            <a:fld id="{33D6ACD8-DDD6-41B8-A8F7-64F385A183F2}" type="datetimeFigureOut">
              <a:rPr lang="en-SG" smtClean="0"/>
              <a:t>27/9/2026</a:t>
            </a:fld>
            <a:endParaRPr lang="en-SG"/>
          </a:p>
        </p:txBody>
      </p:sp>
      <p:sp>
        <p:nvSpPr>
          <p:cNvPr id="6" name="Footer Placeholder 5">
            <a:extLst>
              <a:ext uri="{FF2B5EF4-FFF2-40B4-BE49-F238E27FC236}">
                <a16:creationId xmlns:a16="http://schemas.microsoft.com/office/drawing/2014/main" id="{634BA25B-E816-175F-79B7-EF5518462D0B}"/>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5F8C3994-0908-4BFA-56B1-60DF0A726CFD}"/>
              </a:ext>
            </a:extLst>
          </p:cNvPr>
          <p:cNvSpPr>
            <a:spLocks noGrp="1"/>
          </p:cNvSpPr>
          <p:nvPr>
            <p:ph type="sldNum" sz="quarter" idx="12"/>
          </p:nvPr>
        </p:nvSpPr>
        <p:spPr/>
        <p:txBody>
          <a:bodyPr/>
          <a:lstStyle/>
          <a:p>
            <a:fld id="{DB5C91DF-5342-4466-8EF8-5ED5E726F8AF}" type="slidenum">
              <a:rPr lang="en-SG" smtClean="0"/>
              <a:t>‹#›</a:t>
            </a:fld>
            <a:endParaRPr lang="en-SG"/>
          </a:p>
        </p:txBody>
      </p:sp>
    </p:spTree>
    <p:extLst>
      <p:ext uri="{BB962C8B-B14F-4D97-AF65-F5344CB8AC3E}">
        <p14:creationId xmlns:p14="http://schemas.microsoft.com/office/powerpoint/2010/main" val="2535397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89BFF-657E-E6B4-3149-4618FA0215B0}"/>
              </a:ext>
            </a:extLst>
          </p:cNvPr>
          <p:cNvSpPr>
            <a:spLocks noGrp="1"/>
          </p:cNvSpPr>
          <p:nvPr>
            <p:ph type="title"/>
          </p:nvPr>
        </p:nvSpPr>
        <p:spPr/>
        <p:txBody>
          <a:bodyPr/>
          <a:lstStyle/>
          <a:p>
            <a:r>
              <a:rPr lang="en-GB"/>
              <a:t>Click to edit Master title style</a:t>
            </a:r>
            <a:endParaRPr lang="en-SG"/>
          </a:p>
        </p:txBody>
      </p:sp>
      <p:sp>
        <p:nvSpPr>
          <p:cNvPr id="3" name="Vertical Text Placeholder 2">
            <a:extLst>
              <a:ext uri="{FF2B5EF4-FFF2-40B4-BE49-F238E27FC236}">
                <a16:creationId xmlns:a16="http://schemas.microsoft.com/office/drawing/2014/main" id="{2202B0C9-12B0-BAA2-CCD4-58359343975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Date Placeholder 3">
            <a:extLst>
              <a:ext uri="{FF2B5EF4-FFF2-40B4-BE49-F238E27FC236}">
                <a16:creationId xmlns:a16="http://schemas.microsoft.com/office/drawing/2014/main" id="{244362E0-80B7-8932-21F8-8D287641F071}"/>
              </a:ext>
            </a:extLst>
          </p:cNvPr>
          <p:cNvSpPr>
            <a:spLocks noGrp="1"/>
          </p:cNvSpPr>
          <p:nvPr>
            <p:ph type="dt" sz="half" idx="10"/>
          </p:nvPr>
        </p:nvSpPr>
        <p:spPr/>
        <p:txBody>
          <a:bodyPr/>
          <a:lstStyle/>
          <a:p>
            <a:fld id="{33D6ACD8-DDD6-41B8-A8F7-64F385A183F2}" type="datetimeFigureOut">
              <a:rPr lang="en-SG" smtClean="0"/>
              <a:t>27/9/2026</a:t>
            </a:fld>
            <a:endParaRPr lang="en-SG"/>
          </a:p>
        </p:txBody>
      </p:sp>
      <p:sp>
        <p:nvSpPr>
          <p:cNvPr id="5" name="Footer Placeholder 4">
            <a:extLst>
              <a:ext uri="{FF2B5EF4-FFF2-40B4-BE49-F238E27FC236}">
                <a16:creationId xmlns:a16="http://schemas.microsoft.com/office/drawing/2014/main" id="{AA4E4E47-A5A5-2101-D623-85589567435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D5375F1-8470-AF13-A92B-3BBCD83623C7}"/>
              </a:ext>
            </a:extLst>
          </p:cNvPr>
          <p:cNvSpPr>
            <a:spLocks noGrp="1"/>
          </p:cNvSpPr>
          <p:nvPr>
            <p:ph type="sldNum" sz="quarter" idx="12"/>
          </p:nvPr>
        </p:nvSpPr>
        <p:spPr/>
        <p:txBody>
          <a:bodyPr/>
          <a:lstStyle/>
          <a:p>
            <a:fld id="{DB5C91DF-5342-4466-8EF8-5ED5E726F8AF}" type="slidenum">
              <a:rPr lang="en-SG" smtClean="0"/>
              <a:t>‹#›</a:t>
            </a:fld>
            <a:endParaRPr lang="en-SG"/>
          </a:p>
        </p:txBody>
      </p:sp>
    </p:spTree>
    <p:extLst>
      <p:ext uri="{BB962C8B-B14F-4D97-AF65-F5344CB8AC3E}">
        <p14:creationId xmlns:p14="http://schemas.microsoft.com/office/powerpoint/2010/main" val="2847126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5496A2-2FC2-06F2-A247-3C3BFB77332C}"/>
              </a:ext>
            </a:extLst>
          </p:cNvPr>
          <p:cNvSpPr>
            <a:spLocks noGrp="1"/>
          </p:cNvSpPr>
          <p:nvPr>
            <p:ph type="title" orient="vert"/>
          </p:nvPr>
        </p:nvSpPr>
        <p:spPr>
          <a:xfrm>
            <a:off x="11633200" y="486834"/>
            <a:ext cx="3505200" cy="7749117"/>
          </a:xfrm>
        </p:spPr>
        <p:txBody>
          <a:bodyPr vert="eaVert"/>
          <a:lstStyle/>
          <a:p>
            <a:r>
              <a:rPr lang="en-GB"/>
              <a:t>Click to edit Master title style</a:t>
            </a:r>
            <a:endParaRPr lang="en-SG"/>
          </a:p>
        </p:txBody>
      </p:sp>
      <p:sp>
        <p:nvSpPr>
          <p:cNvPr id="3" name="Vertical Text Placeholder 2">
            <a:extLst>
              <a:ext uri="{FF2B5EF4-FFF2-40B4-BE49-F238E27FC236}">
                <a16:creationId xmlns:a16="http://schemas.microsoft.com/office/drawing/2014/main" id="{DD431028-076A-7F9F-CC3C-14C9EBA5E134}"/>
              </a:ext>
            </a:extLst>
          </p:cNvPr>
          <p:cNvSpPr>
            <a:spLocks noGrp="1"/>
          </p:cNvSpPr>
          <p:nvPr>
            <p:ph type="body" orient="vert" idx="1"/>
          </p:nvPr>
        </p:nvSpPr>
        <p:spPr>
          <a:xfrm>
            <a:off x="1117600" y="486834"/>
            <a:ext cx="10312400" cy="77491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Date Placeholder 3">
            <a:extLst>
              <a:ext uri="{FF2B5EF4-FFF2-40B4-BE49-F238E27FC236}">
                <a16:creationId xmlns:a16="http://schemas.microsoft.com/office/drawing/2014/main" id="{480C0BA7-88F2-7AE8-1E64-F37A9B8DADE1}"/>
              </a:ext>
            </a:extLst>
          </p:cNvPr>
          <p:cNvSpPr>
            <a:spLocks noGrp="1"/>
          </p:cNvSpPr>
          <p:nvPr>
            <p:ph type="dt" sz="half" idx="10"/>
          </p:nvPr>
        </p:nvSpPr>
        <p:spPr/>
        <p:txBody>
          <a:bodyPr/>
          <a:lstStyle/>
          <a:p>
            <a:fld id="{33D6ACD8-DDD6-41B8-A8F7-64F385A183F2}" type="datetimeFigureOut">
              <a:rPr lang="en-SG" smtClean="0"/>
              <a:t>27/9/2026</a:t>
            </a:fld>
            <a:endParaRPr lang="en-SG"/>
          </a:p>
        </p:txBody>
      </p:sp>
      <p:sp>
        <p:nvSpPr>
          <p:cNvPr id="5" name="Footer Placeholder 4">
            <a:extLst>
              <a:ext uri="{FF2B5EF4-FFF2-40B4-BE49-F238E27FC236}">
                <a16:creationId xmlns:a16="http://schemas.microsoft.com/office/drawing/2014/main" id="{9E2C54B9-B396-AD08-A2F8-9D3B938C401A}"/>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1278EF7B-424D-F539-1B0B-FED12E88DA68}"/>
              </a:ext>
            </a:extLst>
          </p:cNvPr>
          <p:cNvSpPr>
            <a:spLocks noGrp="1"/>
          </p:cNvSpPr>
          <p:nvPr>
            <p:ph type="sldNum" sz="quarter" idx="12"/>
          </p:nvPr>
        </p:nvSpPr>
        <p:spPr/>
        <p:txBody>
          <a:bodyPr/>
          <a:lstStyle/>
          <a:p>
            <a:fld id="{DB5C91DF-5342-4466-8EF8-5ED5E726F8AF}" type="slidenum">
              <a:rPr lang="en-SG" smtClean="0"/>
              <a:t>‹#›</a:t>
            </a:fld>
            <a:endParaRPr lang="en-SG"/>
          </a:p>
        </p:txBody>
      </p:sp>
    </p:spTree>
    <p:extLst>
      <p:ext uri="{BB962C8B-B14F-4D97-AF65-F5344CB8AC3E}">
        <p14:creationId xmlns:p14="http://schemas.microsoft.com/office/powerpoint/2010/main" val="2001199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A60B12-35A5-84DF-B2BA-824050579C8E}"/>
              </a:ext>
            </a:extLst>
          </p:cNvPr>
          <p:cNvSpPr>
            <a:spLocks noGrp="1"/>
          </p:cNvSpPr>
          <p:nvPr>
            <p:ph type="title"/>
          </p:nvPr>
        </p:nvSpPr>
        <p:spPr>
          <a:xfrm>
            <a:off x="1117600" y="486836"/>
            <a:ext cx="14020800" cy="1767417"/>
          </a:xfrm>
          <a:prstGeom prst="rect">
            <a:avLst/>
          </a:prstGeom>
        </p:spPr>
        <p:txBody>
          <a:bodyPr vert="horz" lIns="91440" tIns="45720" rIns="91440" bIns="45720" rtlCol="0" anchor="ctr">
            <a:normAutofit/>
          </a:bodyPr>
          <a:lstStyle/>
          <a:p>
            <a:r>
              <a:rPr lang="en-GB"/>
              <a:t>Click to edit Master title style</a:t>
            </a:r>
            <a:endParaRPr lang="en-SG"/>
          </a:p>
        </p:txBody>
      </p:sp>
      <p:sp>
        <p:nvSpPr>
          <p:cNvPr id="3" name="Text Placeholder 2">
            <a:extLst>
              <a:ext uri="{FF2B5EF4-FFF2-40B4-BE49-F238E27FC236}">
                <a16:creationId xmlns:a16="http://schemas.microsoft.com/office/drawing/2014/main" id="{6A8EEA0D-D6A2-2E32-B31B-0B7D21DD811A}"/>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G"/>
          </a:p>
        </p:txBody>
      </p:sp>
      <p:sp>
        <p:nvSpPr>
          <p:cNvPr id="4" name="Date Placeholder 3">
            <a:extLst>
              <a:ext uri="{FF2B5EF4-FFF2-40B4-BE49-F238E27FC236}">
                <a16:creationId xmlns:a16="http://schemas.microsoft.com/office/drawing/2014/main" id="{6ABA7524-F947-80E6-193F-07E939F7E69F}"/>
              </a:ext>
            </a:extLst>
          </p:cNvPr>
          <p:cNvSpPr>
            <a:spLocks noGrp="1"/>
          </p:cNvSpPr>
          <p:nvPr>
            <p:ph type="dt" sz="half" idx="2"/>
          </p:nvPr>
        </p:nvSpPr>
        <p:spPr>
          <a:xfrm>
            <a:off x="1117600" y="8475136"/>
            <a:ext cx="3657600" cy="486833"/>
          </a:xfrm>
          <a:prstGeom prst="rect">
            <a:avLst/>
          </a:prstGeom>
        </p:spPr>
        <p:txBody>
          <a:bodyPr vert="horz" lIns="91440" tIns="45720" rIns="91440" bIns="45720" rtlCol="0" anchor="ctr"/>
          <a:lstStyle>
            <a:lvl1pPr algn="l">
              <a:defRPr sz="1200">
                <a:solidFill>
                  <a:schemeClr val="tx1">
                    <a:tint val="82000"/>
                  </a:schemeClr>
                </a:solidFill>
              </a:defRPr>
            </a:lvl1pPr>
          </a:lstStyle>
          <a:p>
            <a:fld id="{33D6ACD8-DDD6-41B8-A8F7-64F385A183F2}" type="datetimeFigureOut">
              <a:rPr lang="en-SG" smtClean="0"/>
              <a:t>27/9/2026</a:t>
            </a:fld>
            <a:endParaRPr lang="en-SG"/>
          </a:p>
        </p:txBody>
      </p:sp>
      <p:sp>
        <p:nvSpPr>
          <p:cNvPr id="5" name="Footer Placeholder 4">
            <a:extLst>
              <a:ext uri="{FF2B5EF4-FFF2-40B4-BE49-F238E27FC236}">
                <a16:creationId xmlns:a16="http://schemas.microsoft.com/office/drawing/2014/main" id="{0BF9833F-AAFE-2856-2F9B-20690DB718B2}"/>
              </a:ext>
            </a:extLst>
          </p:cNvPr>
          <p:cNvSpPr>
            <a:spLocks noGrp="1"/>
          </p:cNvSpPr>
          <p:nvPr>
            <p:ph type="ftr" sz="quarter" idx="3"/>
          </p:nvPr>
        </p:nvSpPr>
        <p:spPr>
          <a:xfrm>
            <a:off x="5384800" y="8475136"/>
            <a:ext cx="5486400" cy="486833"/>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52E91201-E74B-0FD6-0798-56318CB5A413}"/>
              </a:ext>
            </a:extLst>
          </p:cNvPr>
          <p:cNvSpPr>
            <a:spLocks noGrp="1"/>
          </p:cNvSpPr>
          <p:nvPr>
            <p:ph type="sldNum" sz="quarter" idx="4"/>
          </p:nvPr>
        </p:nvSpPr>
        <p:spPr>
          <a:xfrm>
            <a:off x="11480800" y="8475136"/>
            <a:ext cx="3657600" cy="486833"/>
          </a:xfrm>
          <a:prstGeom prst="rect">
            <a:avLst/>
          </a:prstGeom>
        </p:spPr>
        <p:txBody>
          <a:bodyPr vert="horz" lIns="91440" tIns="45720" rIns="91440" bIns="45720" rtlCol="0" anchor="ctr"/>
          <a:lstStyle>
            <a:lvl1pPr algn="r">
              <a:defRPr sz="1200">
                <a:solidFill>
                  <a:schemeClr val="tx1">
                    <a:tint val="82000"/>
                  </a:schemeClr>
                </a:solidFill>
              </a:defRPr>
            </a:lvl1pPr>
          </a:lstStyle>
          <a:p>
            <a:fld id="{DB5C91DF-5342-4466-8EF8-5ED5E726F8AF}" type="slidenum">
              <a:rPr lang="en-SG" smtClean="0"/>
              <a:t>‹#›</a:t>
            </a:fld>
            <a:endParaRPr lang="en-SG"/>
          </a:p>
        </p:txBody>
      </p:sp>
    </p:spTree>
    <p:extLst>
      <p:ext uri="{BB962C8B-B14F-4D97-AF65-F5344CB8AC3E}">
        <p14:creationId xmlns:p14="http://schemas.microsoft.com/office/powerpoint/2010/main" val="2154630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520"/>
        </a:solidFill>
        <a:effectLst/>
      </p:bgPr>
    </p:bg>
    <p:spTree>
      <p:nvGrpSpPr>
        <p:cNvPr id="1" name=""/>
        <p:cNvGrpSpPr/>
        <p:nvPr/>
      </p:nvGrpSpPr>
      <p:grpSpPr>
        <a:xfrm>
          <a:off x="0" y="0"/>
          <a:ext cx="0" cy="0"/>
          <a:chOff x="0" y="0"/>
          <a:chExt cx="0" cy="0"/>
        </a:xfrm>
      </p:grpSpPr>
      <p:pic>
        <p:nvPicPr>
          <p:cNvPr id="3" name="Background photo">
            <a:extLst>
              <a:ext uri="{FF2B5EF4-FFF2-40B4-BE49-F238E27FC236}">
                <a16:creationId xmlns:a16="http://schemas.microsoft.com/office/drawing/2014/main" id="{A10DC60B-EC62-40AF-8662-29CAE1B39ABD}"/>
              </a:ext>
            </a:extLst>
          </p:cNvPr>
          <p:cNvPicPr>
            <a:picLocks/>
          </p:cNvPicPr>
          <p:nvPr/>
        </p:nvPicPr>
        <p:blipFill>
          <a:blip r:embed="rId3">
            <a:lum bright="-16000"/>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4" name="Background tint">
            <a:extLst>
              <a:ext uri="{FF2B5EF4-FFF2-40B4-BE49-F238E27FC236}">
                <a16:creationId xmlns:a16="http://schemas.microsoft.com/office/drawing/2014/main" id="{8E67EAD5-F3D9-DAF2-F433-86E38A58B23E}"/>
              </a:ext>
            </a:extLst>
          </p:cNvPr>
          <p:cNvSpPr/>
          <p:nvPr/>
        </p:nvSpPr>
        <p:spPr>
          <a:xfrm>
            <a:off x="0" y="0"/>
            <a:ext cx="16256000" cy="9144000"/>
          </a:xfrm>
          <a:prstGeom prst="rect">
            <a:avLst/>
          </a:prstGeom>
          <a:gradFill flip="none" rotWithShape="1">
            <a:gsLst>
              <a:gs pos="0">
                <a:srgbClr val="0A1520">
                  <a:alpha val="94000"/>
                </a:srgbClr>
              </a:gs>
              <a:gs pos="100000">
                <a:srgbClr val="0A1520">
                  <a:alpha val="60000"/>
                </a:srgbClr>
              </a:gs>
              <a:gs pos="55000">
                <a:srgbClr val="0A1520">
                  <a:alpha val="80000"/>
                </a:srgbClr>
              </a:gs>
            </a:gsLst>
            <a:lin ang="0" scaled="1"/>
            <a:tileRect/>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itle shade">
            <a:extLst>
              <a:ext uri="{FF2B5EF4-FFF2-40B4-BE49-F238E27FC236}">
                <a16:creationId xmlns:a16="http://schemas.microsoft.com/office/drawing/2014/main" id="{AE129F69-5C5A-0CF8-72F9-729E5B24B7C6}"/>
              </a:ext>
            </a:extLst>
          </p:cNvPr>
          <p:cNvSpPr/>
          <p:nvPr/>
        </p:nvSpPr>
        <p:spPr>
          <a:xfrm>
            <a:off x="0" y="0"/>
            <a:ext cx="16256000" cy="1905000"/>
          </a:xfrm>
          <a:prstGeom prst="rect">
            <a:avLst/>
          </a:prstGeom>
          <a:gradFill flip="none" rotWithShape="1">
            <a:gsLst>
              <a:gs pos="0">
                <a:srgbClr val="0A1520">
                  <a:alpha val="75000"/>
                </a:srgbClr>
              </a:gs>
              <a:gs pos="100000">
                <a:srgbClr val="0A1520">
                  <a:alpha val="0"/>
                </a:srgbClr>
              </a:gs>
            </a:gsLst>
            <a:lin ang="5400000" scaled="1"/>
            <a:tileRect/>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Title">
            <a:extLst>
              <a:ext uri="{FF2B5EF4-FFF2-40B4-BE49-F238E27FC236}">
                <a16:creationId xmlns:a16="http://schemas.microsoft.com/office/drawing/2014/main" id="{FA4FD8EA-E0D0-9ADF-049C-6109D9CE4397}"/>
              </a:ext>
            </a:extLst>
          </p:cNvPr>
          <p:cNvSpPr txBox="1"/>
          <p:nvPr/>
        </p:nvSpPr>
        <p:spPr>
          <a:xfrm>
            <a:off x="609600" y="380999"/>
            <a:ext cx="11430000" cy="635000"/>
          </a:xfrm>
          <a:prstGeom prst="rect">
            <a:avLst/>
          </a:prstGeom>
          <a:noFill/>
        </p:spPr>
        <p:txBody>
          <a:bodyPr vert="horz" wrap="square" lIns="0" tIns="0" rIns="0" bIns="0" rtlCol="0">
            <a:noAutofit/>
          </a:bodyPr>
          <a:lstStyle/>
          <a:p>
            <a:r>
              <a:rPr lang="en-SG" sz="3800" b="1" dirty="0">
                <a:solidFill>
                  <a:srgbClr val="F3F6F8"/>
                </a:solidFill>
                <a:latin typeface="Calibri" panose="020F0502020204030204" pitchFamily="34" charset="0"/>
              </a:rPr>
              <a:t>Technical system design</a:t>
            </a:r>
          </a:p>
        </p:txBody>
      </p:sp>
      <p:sp>
        <p:nvSpPr>
          <p:cNvPr id="7" name="Subtitle">
            <a:extLst>
              <a:ext uri="{FF2B5EF4-FFF2-40B4-BE49-F238E27FC236}">
                <a16:creationId xmlns:a16="http://schemas.microsoft.com/office/drawing/2014/main" id="{1BE793E9-0BDA-961D-0B23-0CCE02C987D9}"/>
              </a:ext>
            </a:extLst>
          </p:cNvPr>
          <p:cNvSpPr txBox="1"/>
          <p:nvPr/>
        </p:nvSpPr>
        <p:spPr>
          <a:xfrm>
            <a:off x="609600" y="1066799"/>
            <a:ext cx="12700000" cy="330200"/>
          </a:xfrm>
          <a:prstGeom prst="rect">
            <a:avLst/>
          </a:prstGeom>
          <a:noFill/>
        </p:spPr>
        <p:txBody>
          <a:bodyPr vert="horz" wrap="square" lIns="0" tIns="0" rIns="0" bIns="0" rtlCol="0">
            <a:noAutofit/>
          </a:bodyPr>
          <a:lstStyle/>
          <a:p>
            <a:r>
              <a:rPr lang="en-US" dirty="0" err="1">
                <a:solidFill>
                  <a:srgbClr val="B3C3CE"/>
                </a:solidFill>
                <a:latin typeface="Calibri" panose="020F0502020204030204" pitchFamily="34" charset="0"/>
              </a:rPr>
              <a:t>Containerised</a:t>
            </a:r>
            <a:r>
              <a:rPr lang="en-US" dirty="0">
                <a:solidFill>
                  <a:srgbClr val="B3C3CE"/>
                </a:solidFill>
                <a:latin typeface="Calibri" panose="020F0502020204030204" pitchFamily="34" charset="0"/>
              </a:rPr>
              <a:t> event runtime with separate image and document processing branches</a:t>
            </a:r>
            <a:endParaRPr lang="en-SG" dirty="0">
              <a:solidFill>
                <a:srgbClr val="B3C3CE"/>
              </a:solidFill>
              <a:latin typeface="Calibri" panose="020F0502020204030204" pitchFamily="34" charset="0"/>
            </a:endParaRPr>
          </a:p>
        </p:txBody>
      </p:sp>
      <p:sp>
        <p:nvSpPr>
          <p:cNvPr id="8" name="Project">
            <a:extLst>
              <a:ext uri="{FF2B5EF4-FFF2-40B4-BE49-F238E27FC236}">
                <a16:creationId xmlns:a16="http://schemas.microsoft.com/office/drawing/2014/main" id="{CEAD5E36-E065-9005-58B5-31E066250F88}"/>
              </a:ext>
            </a:extLst>
          </p:cNvPr>
          <p:cNvSpPr txBox="1"/>
          <p:nvPr/>
        </p:nvSpPr>
        <p:spPr>
          <a:xfrm>
            <a:off x="609600" y="8686800"/>
            <a:ext cx="3810000" cy="228600"/>
          </a:xfrm>
          <a:prstGeom prst="rect">
            <a:avLst/>
          </a:prstGeom>
          <a:noFill/>
        </p:spPr>
        <p:txBody>
          <a:bodyPr vert="horz" wrap="square" lIns="0" tIns="0" rIns="0" bIns="0" rtlCol="0">
            <a:noAutofit/>
          </a:bodyPr>
          <a:lstStyle/>
          <a:p>
            <a:r>
              <a:rPr lang="en-SG" sz="1100" b="1" spc="150">
                <a:solidFill>
                  <a:srgbClr val="8397A5"/>
                </a:solidFill>
                <a:latin typeface="Calibri" panose="020F0502020204030204" pitchFamily="34" charset="0"/>
              </a:rPr>
              <a:t>CLAIM-CMEV</a:t>
            </a:r>
          </a:p>
        </p:txBody>
      </p:sp>
      <p:sp>
        <p:nvSpPr>
          <p:cNvPr id="9" name="Slide number">
            <a:extLst>
              <a:ext uri="{FF2B5EF4-FFF2-40B4-BE49-F238E27FC236}">
                <a16:creationId xmlns:a16="http://schemas.microsoft.com/office/drawing/2014/main" id="{65C6D3A6-D9B4-0FB8-8C07-E3E6667BCA6A}"/>
              </a:ext>
            </a:extLst>
          </p:cNvPr>
          <p:cNvSpPr txBox="1"/>
          <p:nvPr/>
        </p:nvSpPr>
        <p:spPr>
          <a:xfrm>
            <a:off x="15113000" y="8661400"/>
            <a:ext cx="533400" cy="254000"/>
          </a:xfrm>
          <a:prstGeom prst="rect">
            <a:avLst/>
          </a:prstGeom>
          <a:noFill/>
        </p:spPr>
        <p:txBody>
          <a:bodyPr vert="horz" wrap="square" lIns="0" tIns="0" rIns="0" bIns="0" rtlCol="0">
            <a:noAutofit/>
          </a:bodyPr>
          <a:lstStyle/>
          <a:p>
            <a:pPr algn="r"/>
            <a:r>
              <a:rPr lang="en-SG" sz="1300">
                <a:solidFill>
                  <a:srgbClr val="8397A5"/>
                </a:solidFill>
                <a:latin typeface="Calibri" panose="020F0502020204030204" pitchFamily="34" charset="0"/>
              </a:rPr>
              <a:t>01</a:t>
            </a:r>
          </a:p>
        </p:txBody>
      </p:sp>
      <p:sp>
        <p:nvSpPr>
          <p:cNvPr id="10" name="Edge label">
            <a:extLst>
              <a:ext uri="{FF2B5EF4-FFF2-40B4-BE49-F238E27FC236}">
                <a16:creationId xmlns:a16="http://schemas.microsoft.com/office/drawing/2014/main" id="{1E84F7FB-8D73-DAC7-CEA3-552B7F16CA71}"/>
              </a:ext>
            </a:extLst>
          </p:cNvPr>
          <p:cNvSpPr txBox="1"/>
          <p:nvPr/>
        </p:nvSpPr>
        <p:spPr>
          <a:xfrm>
            <a:off x="609600" y="1752600"/>
            <a:ext cx="5080000" cy="203200"/>
          </a:xfrm>
          <a:prstGeom prst="rect">
            <a:avLst/>
          </a:prstGeom>
          <a:noFill/>
        </p:spPr>
        <p:txBody>
          <a:bodyPr vert="horz" wrap="square" lIns="0" tIns="0" rIns="0" bIns="0" rtlCol="0">
            <a:noAutofit/>
          </a:bodyPr>
          <a:lstStyle/>
          <a:p>
            <a:r>
              <a:rPr lang="en-SG" sz="1100" b="1" spc="150">
                <a:solidFill>
                  <a:srgbClr val="4FD1C0"/>
                </a:solidFill>
                <a:latin typeface="Calibri" panose="020F0502020204030204" pitchFamily="34" charset="0"/>
              </a:rPr>
              <a:t>EDGE AND API</a:t>
            </a:r>
          </a:p>
        </p:txBody>
      </p:sp>
      <p:sp>
        <p:nvSpPr>
          <p:cNvPr id="11" name="Web container">
            <a:extLst>
              <a:ext uri="{FF2B5EF4-FFF2-40B4-BE49-F238E27FC236}">
                <a16:creationId xmlns:a16="http://schemas.microsoft.com/office/drawing/2014/main" id="{ED3F4F7F-894B-6972-397B-32374B96ED5E}"/>
              </a:ext>
            </a:extLst>
          </p:cNvPr>
          <p:cNvSpPr/>
          <p:nvPr/>
        </p:nvSpPr>
        <p:spPr>
          <a:xfrm>
            <a:off x="609600" y="2032000"/>
            <a:ext cx="3251200" cy="939800"/>
          </a:xfrm>
          <a:prstGeom prst="roundRect">
            <a:avLst>
              <a:gd name="adj" fmla="val 10811"/>
            </a:avLst>
          </a:prstGeom>
          <a:solidFill>
            <a:srgbClr val="0F2231">
              <a:alpha val="82000"/>
            </a:srgbClr>
          </a:solidFill>
          <a:ln w="15875">
            <a:solidFill>
              <a:srgbClr val="4FD1C0"/>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 name="Web container title">
            <a:extLst>
              <a:ext uri="{FF2B5EF4-FFF2-40B4-BE49-F238E27FC236}">
                <a16:creationId xmlns:a16="http://schemas.microsoft.com/office/drawing/2014/main" id="{C8BC41CE-7602-213F-33D8-BDD55A8A0CF5}"/>
              </a:ext>
            </a:extLst>
          </p:cNvPr>
          <p:cNvSpPr txBox="1"/>
          <p:nvPr/>
        </p:nvSpPr>
        <p:spPr>
          <a:xfrm>
            <a:off x="787400" y="2158999"/>
            <a:ext cx="2819400" cy="279400"/>
          </a:xfrm>
          <a:prstGeom prst="rect">
            <a:avLst/>
          </a:prstGeom>
          <a:noFill/>
        </p:spPr>
        <p:txBody>
          <a:bodyPr vert="horz" wrap="square" lIns="0" tIns="0" rIns="0" bIns="0" rtlCol="0">
            <a:noAutofit/>
          </a:bodyPr>
          <a:lstStyle/>
          <a:p>
            <a:r>
              <a:rPr lang="en-SG" sz="1550" b="1">
                <a:solidFill>
                  <a:srgbClr val="F3F6F8"/>
                </a:solidFill>
                <a:latin typeface="Calibri" panose="020F0502020204030204" pitchFamily="34" charset="0"/>
              </a:rPr>
              <a:t>cmev-web</a:t>
            </a:r>
          </a:p>
        </p:txBody>
      </p:sp>
      <p:sp>
        <p:nvSpPr>
          <p:cNvPr id="13" name="Web container detail">
            <a:extLst>
              <a:ext uri="{FF2B5EF4-FFF2-40B4-BE49-F238E27FC236}">
                <a16:creationId xmlns:a16="http://schemas.microsoft.com/office/drawing/2014/main" id="{A5782A78-EA9E-D10F-F6C0-3757034B21ED}"/>
              </a:ext>
            </a:extLst>
          </p:cNvPr>
          <p:cNvSpPr txBox="1"/>
          <p:nvPr/>
        </p:nvSpPr>
        <p:spPr>
          <a:xfrm>
            <a:off x="787400" y="2489199"/>
            <a:ext cx="2895600" cy="406400"/>
          </a:xfrm>
          <a:prstGeom prst="rect">
            <a:avLst/>
          </a:prstGeom>
          <a:noFill/>
        </p:spPr>
        <p:txBody>
          <a:bodyPr vert="horz" wrap="square" lIns="0" tIns="0" rIns="0" bIns="0" rtlCol="0">
            <a:noAutofit/>
          </a:bodyPr>
          <a:lstStyle/>
          <a:p>
            <a:r>
              <a:rPr lang="en-SG" sz="1250">
                <a:solidFill>
                  <a:srgbClr val="B3C3CE"/>
                </a:solidFill>
                <a:latin typeface="Calibri" panose="020F0502020204030204" pitchFamily="34" charset="0"/>
              </a:rPr>
              <a:t>React / TypeScript / nginx</a:t>
            </a:r>
          </a:p>
        </p:txBody>
      </p:sp>
      <p:sp>
        <p:nvSpPr>
          <p:cNvPr id="14" name="API container">
            <a:extLst>
              <a:ext uri="{FF2B5EF4-FFF2-40B4-BE49-F238E27FC236}">
                <a16:creationId xmlns:a16="http://schemas.microsoft.com/office/drawing/2014/main" id="{2CBF629C-5006-C2C4-A90B-D16A3A1C517C}"/>
              </a:ext>
            </a:extLst>
          </p:cNvPr>
          <p:cNvSpPr/>
          <p:nvPr/>
        </p:nvSpPr>
        <p:spPr>
          <a:xfrm>
            <a:off x="4216400" y="2032000"/>
            <a:ext cx="3251200" cy="939800"/>
          </a:xfrm>
          <a:prstGeom prst="roundRect">
            <a:avLst>
              <a:gd name="adj" fmla="val 10811"/>
            </a:avLst>
          </a:prstGeom>
          <a:solidFill>
            <a:srgbClr val="0F2231">
              <a:alpha val="82000"/>
            </a:srgbClr>
          </a:solidFill>
          <a:ln w="15875">
            <a:solidFill>
              <a:srgbClr val="4FD1C0"/>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API container chip">
            <a:extLst>
              <a:ext uri="{FF2B5EF4-FFF2-40B4-BE49-F238E27FC236}">
                <a16:creationId xmlns:a16="http://schemas.microsoft.com/office/drawing/2014/main" id="{9EAC4040-81CE-7748-1917-EF51D9B5A969}"/>
              </a:ext>
            </a:extLst>
          </p:cNvPr>
          <p:cNvSpPr/>
          <p:nvPr/>
        </p:nvSpPr>
        <p:spPr>
          <a:xfrm>
            <a:off x="6985000" y="2171700"/>
            <a:ext cx="330200" cy="228600"/>
          </a:xfrm>
          <a:prstGeom prst="roundRect">
            <a:avLst>
              <a:gd name="adj" fmla="val 50000"/>
            </a:avLst>
          </a:prstGeom>
          <a:solidFill>
            <a:srgbClr val="0A1520">
              <a:alpha val="60000"/>
            </a:srgbClr>
          </a:solidFill>
          <a:ln w="12700">
            <a:solidFill>
              <a:srgbClr val="4FD1C0"/>
            </a:solidFill>
          </a:ln>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SG" sz="950" b="1" spc="60">
                <a:solidFill>
                  <a:srgbClr val="4FD1C0"/>
                </a:solidFill>
                <a:latin typeface="Calibri" panose="020F0502020204030204" pitchFamily="34" charset="0"/>
              </a:rPr>
              <a:t>M9</a:t>
            </a:r>
          </a:p>
        </p:txBody>
      </p:sp>
      <p:sp>
        <p:nvSpPr>
          <p:cNvPr id="16" name="API container title">
            <a:extLst>
              <a:ext uri="{FF2B5EF4-FFF2-40B4-BE49-F238E27FC236}">
                <a16:creationId xmlns:a16="http://schemas.microsoft.com/office/drawing/2014/main" id="{6AA90A5C-C062-0BCB-17BC-4B2508272864}"/>
              </a:ext>
            </a:extLst>
          </p:cNvPr>
          <p:cNvSpPr txBox="1"/>
          <p:nvPr/>
        </p:nvSpPr>
        <p:spPr>
          <a:xfrm>
            <a:off x="4394200" y="2158999"/>
            <a:ext cx="2489200" cy="279400"/>
          </a:xfrm>
          <a:prstGeom prst="rect">
            <a:avLst/>
          </a:prstGeom>
          <a:noFill/>
        </p:spPr>
        <p:txBody>
          <a:bodyPr vert="horz" wrap="square" lIns="0" tIns="0" rIns="0" bIns="0" rtlCol="0">
            <a:noAutofit/>
          </a:bodyPr>
          <a:lstStyle/>
          <a:p>
            <a:r>
              <a:rPr lang="en-SG" sz="1550" b="1">
                <a:solidFill>
                  <a:srgbClr val="F3F6F8"/>
                </a:solidFill>
                <a:latin typeface="Calibri" panose="020F0502020204030204" pitchFamily="34" charset="0"/>
              </a:rPr>
              <a:t>cmev-api</a:t>
            </a:r>
          </a:p>
        </p:txBody>
      </p:sp>
      <p:sp>
        <p:nvSpPr>
          <p:cNvPr id="17" name="API container detail">
            <a:extLst>
              <a:ext uri="{FF2B5EF4-FFF2-40B4-BE49-F238E27FC236}">
                <a16:creationId xmlns:a16="http://schemas.microsoft.com/office/drawing/2014/main" id="{B5487D56-11D0-684E-6B99-5FE0B1571571}"/>
              </a:ext>
            </a:extLst>
          </p:cNvPr>
          <p:cNvSpPr txBox="1"/>
          <p:nvPr/>
        </p:nvSpPr>
        <p:spPr>
          <a:xfrm>
            <a:off x="4394200" y="2489199"/>
            <a:ext cx="2895600" cy="406400"/>
          </a:xfrm>
          <a:prstGeom prst="rect">
            <a:avLst/>
          </a:prstGeom>
          <a:noFill/>
        </p:spPr>
        <p:txBody>
          <a:bodyPr vert="horz" wrap="square" lIns="0" tIns="0" rIns="0" bIns="0" rtlCol="0">
            <a:noAutofit/>
          </a:bodyPr>
          <a:lstStyle/>
          <a:p>
            <a:r>
              <a:rPr lang="en-SG" sz="1250">
                <a:solidFill>
                  <a:srgbClr val="B3C3CE"/>
                </a:solidFill>
                <a:latin typeface="Calibri" panose="020F0502020204030204" pitchFamily="34" charset="0"/>
              </a:rPr>
              <a:t>FastAPI, review actions, print</a:t>
            </a:r>
          </a:p>
        </p:txBody>
      </p:sp>
      <p:sp>
        <p:nvSpPr>
          <p:cNvPr id="18" name="Broker container">
            <a:extLst>
              <a:ext uri="{FF2B5EF4-FFF2-40B4-BE49-F238E27FC236}">
                <a16:creationId xmlns:a16="http://schemas.microsoft.com/office/drawing/2014/main" id="{ED087674-4F6C-7083-8BEC-8DF6F784843A}"/>
              </a:ext>
            </a:extLst>
          </p:cNvPr>
          <p:cNvSpPr/>
          <p:nvPr/>
        </p:nvSpPr>
        <p:spPr>
          <a:xfrm>
            <a:off x="7823200" y="2032000"/>
            <a:ext cx="3251200" cy="939800"/>
          </a:xfrm>
          <a:prstGeom prst="roundRect">
            <a:avLst>
              <a:gd name="adj" fmla="val 10811"/>
            </a:avLst>
          </a:prstGeom>
          <a:solidFill>
            <a:srgbClr val="0F2231">
              <a:alpha val="82000"/>
            </a:srgbClr>
          </a:solidFill>
          <a:ln w="15875">
            <a:solidFill>
              <a:srgbClr val="4FD1C0"/>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Broker container title">
            <a:extLst>
              <a:ext uri="{FF2B5EF4-FFF2-40B4-BE49-F238E27FC236}">
                <a16:creationId xmlns:a16="http://schemas.microsoft.com/office/drawing/2014/main" id="{9EFE98CA-3E99-0232-6085-F6621D4FE76F}"/>
              </a:ext>
            </a:extLst>
          </p:cNvPr>
          <p:cNvSpPr txBox="1"/>
          <p:nvPr/>
        </p:nvSpPr>
        <p:spPr>
          <a:xfrm>
            <a:off x="8001000" y="2158999"/>
            <a:ext cx="2819400" cy="279400"/>
          </a:xfrm>
          <a:prstGeom prst="rect">
            <a:avLst/>
          </a:prstGeom>
          <a:noFill/>
        </p:spPr>
        <p:txBody>
          <a:bodyPr vert="horz" wrap="square" lIns="0" tIns="0" rIns="0" bIns="0" rtlCol="0">
            <a:noAutofit/>
          </a:bodyPr>
          <a:lstStyle/>
          <a:p>
            <a:r>
              <a:rPr lang="en-SG" sz="1550" b="1">
                <a:solidFill>
                  <a:srgbClr val="F3F6F8"/>
                </a:solidFill>
                <a:latin typeface="Calibri" panose="020F0502020204030204" pitchFamily="34" charset="0"/>
              </a:rPr>
              <a:t>cmev-kafka</a:t>
            </a:r>
          </a:p>
        </p:txBody>
      </p:sp>
      <p:sp>
        <p:nvSpPr>
          <p:cNvPr id="20" name="Broker container detail">
            <a:extLst>
              <a:ext uri="{FF2B5EF4-FFF2-40B4-BE49-F238E27FC236}">
                <a16:creationId xmlns:a16="http://schemas.microsoft.com/office/drawing/2014/main" id="{C4D4333B-D053-20CB-8051-686EA45CC195}"/>
              </a:ext>
            </a:extLst>
          </p:cNvPr>
          <p:cNvSpPr txBox="1"/>
          <p:nvPr/>
        </p:nvSpPr>
        <p:spPr>
          <a:xfrm>
            <a:off x="8001000" y="2489199"/>
            <a:ext cx="2895600" cy="406400"/>
          </a:xfrm>
          <a:prstGeom prst="rect">
            <a:avLst/>
          </a:prstGeom>
          <a:noFill/>
        </p:spPr>
        <p:txBody>
          <a:bodyPr vert="horz" wrap="square" lIns="0" tIns="0" rIns="0" bIns="0" rtlCol="0">
            <a:noAutofit/>
          </a:bodyPr>
          <a:lstStyle/>
          <a:p>
            <a:r>
              <a:rPr lang="en-SG" sz="1250">
                <a:solidFill>
                  <a:srgbClr val="B3C3CE"/>
                </a:solidFill>
                <a:latin typeface="Calibri" panose="020F0502020204030204" pitchFamily="34" charset="0"/>
              </a:rPr>
              <a:t>Redpanda / Kafka event bus</a:t>
            </a:r>
          </a:p>
        </p:txBody>
      </p:sp>
      <p:cxnSp>
        <p:nvCxnSpPr>
          <p:cNvPr id="21" name="Web to API">
            <a:extLst>
              <a:ext uri="{FF2B5EF4-FFF2-40B4-BE49-F238E27FC236}">
                <a16:creationId xmlns:a16="http://schemas.microsoft.com/office/drawing/2014/main" id="{AAF59FAF-6564-CF97-5EB5-0616F062A6E5}"/>
              </a:ext>
            </a:extLst>
          </p:cNvPr>
          <p:cNvCxnSpPr/>
          <p:nvPr/>
        </p:nvCxnSpPr>
        <p:spPr>
          <a:xfrm>
            <a:off x="3860800" y="2501900"/>
            <a:ext cx="355600" cy="0"/>
          </a:xfrm>
          <a:prstGeom prst="straightConnector1">
            <a:avLst/>
          </a:prstGeom>
          <a:ln w="20320">
            <a:solidFill>
              <a:srgbClr val="4FD1C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API to Kafka">
            <a:extLst>
              <a:ext uri="{FF2B5EF4-FFF2-40B4-BE49-F238E27FC236}">
                <a16:creationId xmlns:a16="http://schemas.microsoft.com/office/drawing/2014/main" id="{D2A681E8-317B-06C4-E6E1-EDAF21F1F59A}"/>
              </a:ext>
            </a:extLst>
          </p:cNvPr>
          <p:cNvCxnSpPr/>
          <p:nvPr/>
        </p:nvCxnSpPr>
        <p:spPr>
          <a:xfrm>
            <a:off x="7467600" y="2501900"/>
            <a:ext cx="355600" cy="0"/>
          </a:xfrm>
          <a:prstGeom prst="straightConnector1">
            <a:avLst/>
          </a:prstGeom>
          <a:ln w="20320">
            <a:solidFill>
              <a:srgbClr val="4FD1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Event label">
            <a:extLst>
              <a:ext uri="{FF2B5EF4-FFF2-40B4-BE49-F238E27FC236}">
                <a16:creationId xmlns:a16="http://schemas.microsoft.com/office/drawing/2014/main" id="{CACF6C37-C08C-3694-7814-40D22C7FD34F}"/>
              </a:ext>
            </a:extLst>
          </p:cNvPr>
          <p:cNvSpPr txBox="1"/>
          <p:nvPr/>
        </p:nvSpPr>
        <p:spPr>
          <a:xfrm>
            <a:off x="609600" y="3225800"/>
            <a:ext cx="7112000" cy="203200"/>
          </a:xfrm>
          <a:prstGeom prst="rect">
            <a:avLst/>
          </a:prstGeom>
          <a:noFill/>
        </p:spPr>
        <p:txBody>
          <a:bodyPr vert="horz" wrap="square" lIns="0" tIns="0" rIns="0" bIns="0" rtlCol="0">
            <a:noAutofit/>
          </a:bodyPr>
          <a:lstStyle/>
          <a:p>
            <a:r>
              <a:rPr lang="en-US" sz="1100" b="1" spc="150">
                <a:solidFill>
                  <a:srgbClr val="4FD1C0"/>
                </a:solidFill>
                <a:latin typeface="Calibri" panose="020F0502020204030204" pitchFamily="34" charset="0"/>
              </a:rPr>
              <a:t>EVENT PROCESSING  ·  COMMANDS AND COMPLETION EVENTS</a:t>
            </a:r>
            <a:endParaRPr lang="en-SG" sz="1100" b="1" spc="150">
              <a:solidFill>
                <a:srgbClr val="4FD1C0"/>
              </a:solidFill>
              <a:latin typeface="Calibri" panose="020F0502020204030204" pitchFamily="34" charset="0"/>
            </a:endParaRPr>
          </a:p>
        </p:txBody>
      </p:sp>
      <p:cxnSp>
        <p:nvCxnSpPr>
          <p:cNvPr id="24" name="Broker to bus">
            <a:extLst>
              <a:ext uri="{FF2B5EF4-FFF2-40B4-BE49-F238E27FC236}">
                <a16:creationId xmlns:a16="http://schemas.microsoft.com/office/drawing/2014/main" id="{7214FE29-797A-5457-969A-6D02759E53AA}"/>
              </a:ext>
            </a:extLst>
          </p:cNvPr>
          <p:cNvCxnSpPr/>
          <p:nvPr/>
        </p:nvCxnSpPr>
        <p:spPr>
          <a:xfrm>
            <a:off x="9448800" y="2971800"/>
            <a:ext cx="0" cy="609600"/>
          </a:xfrm>
          <a:prstGeom prst="straightConnector1">
            <a:avLst/>
          </a:prstGeom>
          <a:ln w="20320">
            <a:solidFill>
              <a:srgbClr val="4FD1C0"/>
            </a:solidFill>
          </a:ln>
        </p:spPr>
        <p:style>
          <a:lnRef idx="2">
            <a:schemeClr val="accent1"/>
          </a:lnRef>
          <a:fillRef idx="0">
            <a:schemeClr val="accent1"/>
          </a:fillRef>
          <a:effectRef idx="1">
            <a:schemeClr val="accent1"/>
          </a:effectRef>
          <a:fontRef idx="minor">
            <a:schemeClr val="tx1"/>
          </a:fontRef>
        </p:style>
      </p:cxnSp>
      <p:cxnSp>
        <p:nvCxnSpPr>
          <p:cNvPr id="25" name="Event bus">
            <a:extLst>
              <a:ext uri="{FF2B5EF4-FFF2-40B4-BE49-F238E27FC236}">
                <a16:creationId xmlns:a16="http://schemas.microsoft.com/office/drawing/2014/main" id="{DB9A451C-41E4-7BEA-5986-3E5BB05273DE}"/>
              </a:ext>
            </a:extLst>
          </p:cNvPr>
          <p:cNvCxnSpPr/>
          <p:nvPr/>
        </p:nvCxnSpPr>
        <p:spPr>
          <a:xfrm>
            <a:off x="2235200" y="3581400"/>
            <a:ext cx="7213600" cy="0"/>
          </a:xfrm>
          <a:prstGeom prst="straightConnector1">
            <a:avLst/>
          </a:prstGeom>
          <a:ln w="20320">
            <a:solidFill>
              <a:srgbClr val="4FD1C0"/>
            </a:solidFill>
          </a:ln>
        </p:spPr>
        <p:style>
          <a:lnRef idx="2">
            <a:schemeClr val="accent1"/>
          </a:lnRef>
          <a:fillRef idx="0">
            <a:schemeClr val="accent1"/>
          </a:fillRef>
          <a:effectRef idx="1">
            <a:schemeClr val="accent1"/>
          </a:effectRef>
          <a:fontRef idx="minor">
            <a:schemeClr val="tx1"/>
          </a:fontRef>
        </p:style>
      </p:cxnSp>
      <p:cxnSp>
        <p:nvCxnSpPr>
          <p:cNvPr id="26" name="Bus drop 176">
            <a:extLst>
              <a:ext uri="{FF2B5EF4-FFF2-40B4-BE49-F238E27FC236}">
                <a16:creationId xmlns:a16="http://schemas.microsoft.com/office/drawing/2014/main" id="{A637FE63-B3DD-F8EE-D42E-FF6C8B7EB08A}"/>
              </a:ext>
            </a:extLst>
          </p:cNvPr>
          <p:cNvCxnSpPr/>
          <p:nvPr/>
        </p:nvCxnSpPr>
        <p:spPr>
          <a:xfrm>
            <a:off x="2235200" y="3581400"/>
            <a:ext cx="0" cy="381000"/>
          </a:xfrm>
          <a:prstGeom prst="straightConnector1">
            <a:avLst/>
          </a:prstGeom>
          <a:ln w="20320">
            <a:solidFill>
              <a:srgbClr val="4FD1C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Bus drop 460">
            <a:extLst>
              <a:ext uri="{FF2B5EF4-FFF2-40B4-BE49-F238E27FC236}">
                <a16:creationId xmlns:a16="http://schemas.microsoft.com/office/drawing/2014/main" id="{CADB4366-27D1-5C63-0209-156AECA12119}"/>
              </a:ext>
            </a:extLst>
          </p:cNvPr>
          <p:cNvCxnSpPr/>
          <p:nvPr/>
        </p:nvCxnSpPr>
        <p:spPr>
          <a:xfrm>
            <a:off x="5842000" y="3581400"/>
            <a:ext cx="0" cy="381000"/>
          </a:xfrm>
          <a:prstGeom prst="straightConnector1">
            <a:avLst/>
          </a:prstGeom>
          <a:ln w="20320">
            <a:solidFill>
              <a:srgbClr val="4FD1C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Bus drop 744">
            <a:extLst>
              <a:ext uri="{FF2B5EF4-FFF2-40B4-BE49-F238E27FC236}">
                <a16:creationId xmlns:a16="http://schemas.microsoft.com/office/drawing/2014/main" id="{8DA657EF-2FBD-F522-1552-2385F703E7DF}"/>
              </a:ext>
            </a:extLst>
          </p:cNvPr>
          <p:cNvCxnSpPr/>
          <p:nvPr/>
        </p:nvCxnSpPr>
        <p:spPr>
          <a:xfrm>
            <a:off x="9448800" y="3581400"/>
            <a:ext cx="0" cy="381000"/>
          </a:xfrm>
          <a:prstGeom prst="straightConnector1">
            <a:avLst/>
          </a:prstGeom>
          <a:ln w="20320">
            <a:solidFill>
              <a:srgbClr val="4FD1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Orchestrator container">
            <a:extLst>
              <a:ext uri="{FF2B5EF4-FFF2-40B4-BE49-F238E27FC236}">
                <a16:creationId xmlns:a16="http://schemas.microsoft.com/office/drawing/2014/main" id="{DE51B1F0-63BB-FCA3-60B8-4122D657D864}"/>
              </a:ext>
            </a:extLst>
          </p:cNvPr>
          <p:cNvSpPr/>
          <p:nvPr/>
        </p:nvSpPr>
        <p:spPr>
          <a:xfrm>
            <a:off x="609600" y="3962400"/>
            <a:ext cx="3251200" cy="1143000"/>
          </a:xfrm>
          <a:prstGeom prst="roundRect">
            <a:avLst>
              <a:gd name="adj" fmla="val 8889"/>
            </a:avLst>
          </a:prstGeom>
          <a:solidFill>
            <a:srgbClr val="0F2231">
              <a:alpha val="82000"/>
            </a:srgbClr>
          </a:solidFill>
          <a:ln w="15875">
            <a:solidFill>
              <a:srgbClr val="4FD1C0"/>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0" name="Orchestrator container title">
            <a:extLst>
              <a:ext uri="{FF2B5EF4-FFF2-40B4-BE49-F238E27FC236}">
                <a16:creationId xmlns:a16="http://schemas.microsoft.com/office/drawing/2014/main" id="{D1D2F731-13BA-C471-6915-95E92D628FA0}"/>
              </a:ext>
            </a:extLst>
          </p:cNvPr>
          <p:cNvSpPr txBox="1"/>
          <p:nvPr/>
        </p:nvSpPr>
        <p:spPr>
          <a:xfrm>
            <a:off x="787400" y="4089399"/>
            <a:ext cx="2819400" cy="279400"/>
          </a:xfrm>
          <a:prstGeom prst="rect">
            <a:avLst/>
          </a:prstGeom>
          <a:noFill/>
        </p:spPr>
        <p:txBody>
          <a:bodyPr vert="horz" wrap="square" lIns="0" tIns="0" rIns="0" bIns="0" rtlCol="0">
            <a:noAutofit/>
          </a:bodyPr>
          <a:lstStyle/>
          <a:p>
            <a:r>
              <a:rPr lang="en-SG" sz="1550" b="1">
                <a:solidFill>
                  <a:srgbClr val="F3F6F8"/>
                </a:solidFill>
                <a:latin typeface="Calibri" panose="020F0502020204030204" pitchFamily="34" charset="0"/>
              </a:rPr>
              <a:t>cmev-orchestrator</a:t>
            </a:r>
          </a:p>
        </p:txBody>
      </p:sp>
      <p:sp>
        <p:nvSpPr>
          <p:cNvPr id="31" name="Orchestrator container detail">
            <a:extLst>
              <a:ext uri="{FF2B5EF4-FFF2-40B4-BE49-F238E27FC236}">
                <a16:creationId xmlns:a16="http://schemas.microsoft.com/office/drawing/2014/main" id="{13824C84-B697-333A-A120-8C082D5D0AD9}"/>
              </a:ext>
            </a:extLst>
          </p:cNvPr>
          <p:cNvSpPr txBox="1"/>
          <p:nvPr/>
        </p:nvSpPr>
        <p:spPr>
          <a:xfrm>
            <a:off x="787400" y="4419599"/>
            <a:ext cx="2895600" cy="609600"/>
          </a:xfrm>
          <a:prstGeom prst="rect">
            <a:avLst/>
          </a:prstGeom>
          <a:noFill/>
        </p:spPr>
        <p:txBody>
          <a:bodyPr vert="horz" wrap="square" lIns="0" tIns="0" rIns="0" bIns="0" rtlCol="0">
            <a:noAutofit/>
          </a:bodyPr>
          <a:lstStyle/>
          <a:p>
            <a:r>
              <a:rPr lang="en-US" sz="1250">
                <a:solidFill>
                  <a:srgbClr val="B3C3CE"/>
                </a:solidFill>
                <a:latin typeface="Calibri" panose="020F0502020204030204" pitchFamily="34" charset="0"/>
              </a:rPr>
              <a:t>Stage dispatch and joins
Retries and dead letters</a:t>
            </a:r>
            <a:endParaRPr lang="en-SG" sz="1250">
              <a:solidFill>
                <a:srgbClr val="B3C3CE"/>
              </a:solidFill>
              <a:latin typeface="Calibri" panose="020F0502020204030204" pitchFamily="34" charset="0"/>
            </a:endParaRPr>
          </a:p>
        </p:txBody>
      </p:sp>
      <p:sp>
        <p:nvSpPr>
          <p:cNvPr id="32" name="Producer container">
            <a:extLst>
              <a:ext uri="{FF2B5EF4-FFF2-40B4-BE49-F238E27FC236}">
                <a16:creationId xmlns:a16="http://schemas.microsoft.com/office/drawing/2014/main" id="{0FCD06E1-28C1-4433-F4B0-A50A05CC5F94}"/>
              </a:ext>
            </a:extLst>
          </p:cNvPr>
          <p:cNvSpPr/>
          <p:nvPr/>
        </p:nvSpPr>
        <p:spPr>
          <a:xfrm>
            <a:off x="4216400" y="3962400"/>
            <a:ext cx="3251200" cy="1143000"/>
          </a:xfrm>
          <a:prstGeom prst="roundRect">
            <a:avLst>
              <a:gd name="adj" fmla="val 8889"/>
            </a:avLst>
          </a:prstGeom>
          <a:solidFill>
            <a:srgbClr val="0F2231">
              <a:alpha val="82000"/>
            </a:srgbClr>
          </a:solidFill>
          <a:ln w="15875">
            <a:solidFill>
              <a:srgbClr val="F0C46E"/>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3" name="Producer container chip">
            <a:extLst>
              <a:ext uri="{FF2B5EF4-FFF2-40B4-BE49-F238E27FC236}">
                <a16:creationId xmlns:a16="http://schemas.microsoft.com/office/drawing/2014/main" id="{668E7A0F-B3E7-C0C2-6E45-63B9F6669301}"/>
              </a:ext>
            </a:extLst>
          </p:cNvPr>
          <p:cNvSpPr/>
          <p:nvPr/>
        </p:nvSpPr>
        <p:spPr>
          <a:xfrm>
            <a:off x="6718300" y="4102100"/>
            <a:ext cx="596900" cy="228600"/>
          </a:xfrm>
          <a:prstGeom prst="roundRect">
            <a:avLst>
              <a:gd name="adj" fmla="val 50000"/>
            </a:avLst>
          </a:prstGeom>
          <a:solidFill>
            <a:srgbClr val="0A1520">
              <a:alpha val="60000"/>
            </a:srgbClr>
          </a:solidFill>
          <a:ln w="12700">
            <a:solidFill>
              <a:srgbClr val="F0C46E"/>
            </a:solidFill>
          </a:ln>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SG" sz="950" b="1" spc="60">
                <a:solidFill>
                  <a:srgbClr val="F0C46E"/>
                </a:solidFill>
                <a:latin typeface="Calibri" panose="020F0502020204030204" pitchFamily="34" charset="0"/>
              </a:rPr>
              <a:t>M1–M6</a:t>
            </a:r>
          </a:p>
        </p:txBody>
      </p:sp>
      <p:sp>
        <p:nvSpPr>
          <p:cNvPr id="34" name="Producer container title">
            <a:extLst>
              <a:ext uri="{FF2B5EF4-FFF2-40B4-BE49-F238E27FC236}">
                <a16:creationId xmlns:a16="http://schemas.microsoft.com/office/drawing/2014/main" id="{6AF98BEA-C74B-F36F-CF1E-3499C1F1CAA7}"/>
              </a:ext>
            </a:extLst>
          </p:cNvPr>
          <p:cNvSpPr txBox="1"/>
          <p:nvPr/>
        </p:nvSpPr>
        <p:spPr>
          <a:xfrm>
            <a:off x="4394200" y="4089399"/>
            <a:ext cx="2222500" cy="279400"/>
          </a:xfrm>
          <a:prstGeom prst="rect">
            <a:avLst/>
          </a:prstGeom>
          <a:noFill/>
        </p:spPr>
        <p:txBody>
          <a:bodyPr vert="horz" wrap="square" lIns="0" tIns="0" rIns="0" bIns="0" rtlCol="0">
            <a:noAutofit/>
          </a:bodyPr>
          <a:lstStyle/>
          <a:p>
            <a:r>
              <a:rPr lang="en-SG" sz="1550" b="1">
                <a:solidFill>
                  <a:srgbClr val="F3F6F8"/>
                </a:solidFill>
                <a:latin typeface="Calibri" panose="020F0502020204030204" pitchFamily="34" charset="0"/>
              </a:rPr>
              <a:t>cmev-worker-producers</a:t>
            </a:r>
          </a:p>
        </p:txBody>
      </p:sp>
      <p:sp>
        <p:nvSpPr>
          <p:cNvPr id="35" name="Producer container detail">
            <a:extLst>
              <a:ext uri="{FF2B5EF4-FFF2-40B4-BE49-F238E27FC236}">
                <a16:creationId xmlns:a16="http://schemas.microsoft.com/office/drawing/2014/main" id="{1CFFD278-D9ED-C3B5-46DB-2EBA6C1375FF}"/>
              </a:ext>
            </a:extLst>
          </p:cNvPr>
          <p:cNvSpPr txBox="1"/>
          <p:nvPr/>
        </p:nvSpPr>
        <p:spPr>
          <a:xfrm>
            <a:off x="4394200" y="4419599"/>
            <a:ext cx="2895600" cy="609600"/>
          </a:xfrm>
          <a:prstGeom prst="rect">
            <a:avLst/>
          </a:prstGeom>
          <a:noFill/>
        </p:spPr>
        <p:txBody>
          <a:bodyPr vert="horz" wrap="square" lIns="0" tIns="0" rIns="0" bIns="0" rtlCol="0">
            <a:noAutofit/>
          </a:bodyPr>
          <a:lstStyle/>
          <a:p>
            <a:r>
              <a:rPr lang="en-US" sz="1250">
                <a:solidFill>
                  <a:srgbClr val="B3C3CE"/>
                </a:solidFill>
                <a:latin typeface="Calibri" panose="020F0502020204030204" pitchFamily="34" charset="0"/>
              </a:rPr>
              <a:t>Fixture outputs for all six stages
Image and document branches</a:t>
            </a:r>
            <a:endParaRPr lang="en-SG" sz="1250">
              <a:solidFill>
                <a:srgbClr val="B3C3CE"/>
              </a:solidFill>
              <a:latin typeface="Calibri" panose="020F0502020204030204" pitchFamily="34" charset="0"/>
            </a:endParaRPr>
          </a:p>
        </p:txBody>
      </p:sp>
      <p:sp>
        <p:nvSpPr>
          <p:cNvPr id="36" name="Consolidator container">
            <a:extLst>
              <a:ext uri="{FF2B5EF4-FFF2-40B4-BE49-F238E27FC236}">
                <a16:creationId xmlns:a16="http://schemas.microsoft.com/office/drawing/2014/main" id="{E9305E0F-251F-FF28-78BC-2DA110307072}"/>
              </a:ext>
            </a:extLst>
          </p:cNvPr>
          <p:cNvSpPr/>
          <p:nvPr/>
        </p:nvSpPr>
        <p:spPr>
          <a:xfrm>
            <a:off x="7823200" y="3962400"/>
            <a:ext cx="3251200" cy="1143000"/>
          </a:xfrm>
          <a:prstGeom prst="roundRect">
            <a:avLst>
              <a:gd name="adj" fmla="val 8889"/>
            </a:avLst>
          </a:prstGeom>
          <a:solidFill>
            <a:srgbClr val="0F2231">
              <a:alpha val="82000"/>
            </a:srgbClr>
          </a:solidFill>
          <a:ln w="15875">
            <a:solidFill>
              <a:srgbClr val="4FD1C0"/>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7" name="Consolidator container chip">
            <a:extLst>
              <a:ext uri="{FF2B5EF4-FFF2-40B4-BE49-F238E27FC236}">
                <a16:creationId xmlns:a16="http://schemas.microsoft.com/office/drawing/2014/main" id="{7DF7AA12-7DBB-2E65-AAF5-C27039E5B3B8}"/>
              </a:ext>
            </a:extLst>
          </p:cNvPr>
          <p:cNvSpPr/>
          <p:nvPr/>
        </p:nvSpPr>
        <p:spPr>
          <a:xfrm>
            <a:off x="10591800" y="4102100"/>
            <a:ext cx="330200" cy="228600"/>
          </a:xfrm>
          <a:prstGeom prst="roundRect">
            <a:avLst>
              <a:gd name="adj" fmla="val 50000"/>
            </a:avLst>
          </a:prstGeom>
          <a:solidFill>
            <a:srgbClr val="0A1520">
              <a:alpha val="60000"/>
            </a:srgbClr>
          </a:solidFill>
          <a:ln w="12700">
            <a:solidFill>
              <a:srgbClr val="4FD1C0"/>
            </a:solidFill>
          </a:ln>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SG" sz="950" b="1" spc="60">
                <a:solidFill>
                  <a:srgbClr val="4FD1C0"/>
                </a:solidFill>
                <a:latin typeface="Calibri" panose="020F0502020204030204" pitchFamily="34" charset="0"/>
              </a:rPr>
              <a:t>M8</a:t>
            </a:r>
          </a:p>
        </p:txBody>
      </p:sp>
      <p:sp>
        <p:nvSpPr>
          <p:cNvPr id="38" name="Consolidator container title">
            <a:extLst>
              <a:ext uri="{FF2B5EF4-FFF2-40B4-BE49-F238E27FC236}">
                <a16:creationId xmlns:a16="http://schemas.microsoft.com/office/drawing/2014/main" id="{DCBFD882-EBFD-664A-6BE7-0FE9B45C3D5E}"/>
              </a:ext>
            </a:extLst>
          </p:cNvPr>
          <p:cNvSpPr txBox="1"/>
          <p:nvPr/>
        </p:nvSpPr>
        <p:spPr>
          <a:xfrm>
            <a:off x="8001000" y="4089399"/>
            <a:ext cx="2489200" cy="279400"/>
          </a:xfrm>
          <a:prstGeom prst="rect">
            <a:avLst/>
          </a:prstGeom>
          <a:noFill/>
        </p:spPr>
        <p:txBody>
          <a:bodyPr vert="horz" wrap="square" lIns="0" tIns="0" rIns="0" bIns="0" rtlCol="0">
            <a:noAutofit/>
          </a:bodyPr>
          <a:lstStyle/>
          <a:p>
            <a:r>
              <a:rPr lang="en-SG" sz="1550" b="1">
                <a:solidFill>
                  <a:srgbClr val="F3F6F8"/>
                </a:solidFill>
                <a:latin typeface="Calibri" panose="020F0502020204030204" pitchFamily="34" charset="0"/>
              </a:rPr>
              <a:t>cmev-consolidator</a:t>
            </a:r>
          </a:p>
        </p:txBody>
      </p:sp>
      <p:sp>
        <p:nvSpPr>
          <p:cNvPr id="39" name="Consolidator container detail">
            <a:extLst>
              <a:ext uri="{FF2B5EF4-FFF2-40B4-BE49-F238E27FC236}">
                <a16:creationId xmlns:a16="http://schemas.microsoft.com/office/drawing/2014/main" id="{0C485847-3FE5-076A-3DEB-F1604704D264}"/>
              </a:ext>
            </a:extLst>
          </p:cNvPr>
          <p:cNvSpPr txBox="1"/>
          <p:nvPr/>
        </p:nvSpPr>
        <p:spPr>
          <a:xfrm>
            <a:off x="8001000" y="4419599"/>
            <a:ext cx="2895600" cy="609600"/>
          </a:xfrm>
          <a:prstGeom prst="rect">
            <a:avLst/>
          </a:prstGeom>
          <a:noFill/>
        </p:spPr>
        <p:txBody>
          <a:bodyPr vert="horz" wrap="square" lIns="0" tIns="0" rIns="0" bIns="0" rtlCol="0">
            <a:noAutofit/>
          </a:bodyPr>
          <a:lstStyle/>
          <a:p>
            <a:r>
              <a:rPr lang="en-US" sz="1250">
                <a:solidFill>
                  <a:srgbClr val="B3C3CE"/>
                </a:solidFill>
                <a:latin typeface="Calibri" panose="020F0502020204030204" pitchFamily="34" charset="0"/>
              </a:rPr>
              <a:t>Deterministic findings
Pinned cost-table lookup</a:t>
            </a:r>
            <a:endParaRPr lang="en-SG" sz="1250">
              <a:solidFill>
                <a:srgbClr val="B3C3CE"/>
              </a:solidFill>
              <a:latin typeface="Calibri" panose="020F0502020204030204" pitchFamily="34" charset="0"/>
            </a:endParaRPr>
          </a:p>
        </p:txBody>
      </p:sp>
      <p:sp>
        <p:nvSpPr>
          <p:cNvPr id="40" name="State label">
            <a:extLst>
              <a:ext uri="{FF2B5EF4-FFF2-40B4-BE49-F238E27FC236}">
                <a16:creationId xmlns:a16="http://schemas.microsoft.com/office/drawing/2014/main" id="{78F5FFA2-03E1-916A-761E-0EFB0E995A56}"/>
              </a:ext>
            </a:extLst>
          </p:cNvPr>
          <p:cNvSpPr txBox="1"/>
          <p:nvPr/>
        </p:nvSpPr>
        <p:spPr>
          <a:xfrm>
            <a:off x="609600" y="5410200"/>
            <a:ext cx="7112000" cy="203200"/>
          </a:xfrm>
          <a:prstGeom prst="rect">
            <a:avLst/>
          </a:prstGeom>
          <a:noFill/>
        </p:spPr>
        <p:txBody>
          <a:bodyPr vert="horz" wrap="square" lIns="0" tIns="0" rIns="0" bIns="0" rtlCol="0">
            <a:noAutofit/>
          </a:bodyPr>
          <a:lstStyle/>
          <a:p>
            <a:r>
              <a:rPr lang="en-US" sz="1100" b="1" spc="150">
                <a:solidFill>
                  <a:srgbClr val="7AB6EA"/>
                </a:solidFill>
                <a:latin typeface="Calibri" panose="020F0502020204030204" pitchFamily="34" charset="0"/>
              </a:rPr>
              <a:t>SHARED STATE  ·  USED BY THE API AND EVERY WORKER</a:t>
            </a:r>
            <a:endParaRPr lang="en-SG" sz="1100" b="1" spc="150">
              <a:solidFill>
                <a:srgbClr val="7AB6EA"/>
              </a:solidFill>
              <a:latin typeface="Calibri" panose="020F0502020204030204" pitchFamily="34" charset="0"/>
            </a:endParaRPr>
          </a:p>
        </p:txBody>
      </p:sp>
      <p:sp>
        <p:nvSpPr>
          <p:cNvPr id="41" name="Database container">
            <a:extLst>
              <a:ext uri="{FF2B5EF4-FFF2-40B4-BE49-F238E27FC236}">
                <a16:creationId xmlns:a16="http://schemas.microsoft.com/office/drawing/2014/main" id="{292AEB6D-DE7C-174D-4D42-F2DDB10C5F8B}"/>
              </a:ext>
            </a:extLst>
          </p:cNvPr>
          <p:cNvSpPr/>
          <p:nvPr/>
        </p:nvSpPr>
        <p:spPr>
          <a:xfrm>
            <a:off x="609600" y="5664200"/>
            <a:ext cx="3251200" cy="1143000"/>
          </a:xfrm>
          <a:prstGeom prst="roundRect">
            <a:avLst>
              <a:gd name="adj" fmla="val 8889"/>
            </a:avLst>
          </a:prstGeom>
          <a:solidFill>
            <a:srgbClr val="0F2231">
              <a:alpha val="82000"/>
            </a:srgbClr>
          </a:solidFill>
          <a:ln w="15875">
            <a:solidFill>
              <a:srgbClr val="7AB6EA"/>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2" name="Database container title">
            <a:extLst>
              <a:ext uri="{FF2B5EF4-FFF2-40B4-BE49-F238E27FC236}">
                <a16:creationId xmlns:a16="http://schemas.microsoft.com/office/drawing/2014/main" id="{C0A83466-2B51-680E-C17F-3B25B0777FFB}"/>
              </a:ext>
            </a:extLst>
          </p:cNvPr>
          <p:cNvSpPr txBox="1"/>
          <p:nvPr/>
        </p:nvSpPr>
        <p:spPr>
          <a:xfrm>
            <a:off x="787400" y="5791199"/>
            <a:ext cx="2819400" cy="279400"/>
          </a:xfrm>
          <a:prstGeom prst="rect">
            <a:avLst/>
          </a:prstGeom>
          <a:noFill/>
        </p:spPr>
        <p:txBody>
          <a:bodyPr vert="horz" wrap="square" lIns="0" tIns="0" rIns="0" bIns="0" rtlCol="0">
            <a:noAutofit/>
          </a:bodyPr>
          <a:lstStyle/>
          <a:p>
            <a:r>
              <a:rPr lang="en-SG" sz="1550" b="1">
                <a:solidFill>
                  <a:srgbClr val="F3F6F8"/>
                </a:solidFill>
                <a:latin typeface="Calibri" panose="020F0502020204030204" pitchFamily="34" charset="0"/>
              </a:rPr>
              <a:t>cmev-db</a:t>
            </a:r>
          </a:p>
        </p:txBody>
      </p:sp>
      <p:sp>
        <p:nvSpPr>
          <p:cNvPr id="43" name="Database container detail">
            <a:extLst>
              <a:ext uri="{FF2B5EF4-FFF2-40B4-BE49-F238E27FC236}">
                <a16:creationId xmlns:a16="http://schemas.microsoft.com/office/drawing/2014/main" id="{3B2D9B3B-835C-1D0F-8461-7E1DDE354B68}"/>
              </a:ext>
            </a:extLst>
          </p:cNvPr>
          <p:cNvSpPr txBox="1"/>
          <p:nvPr/>
        </p:nvSpPr>
        <p:spPr>
          <a:xfrm>
            <a:off x="787400" y="6121399"/>
            <a:ext cx="2895600" cy="609600"/>
          </a:xfrm>
          <a:prstGeom prst="rect">
            <a:avLst/>
          </a:prstGeom>
          <a:noFill/>
        </p:spPr>
        <p:txBody>
          <a:bodyPr vert="horz" wrap="square" lIns="0" tIns="0" rIns="0" bIns="0" rtlCol="0">
            <a:noAutofit/>
          </a:bodyPr>
          <a:lstStyle/>
          <a:p>
            <a:r>
              <a:rPr lang="en-SG" sz="1250">
                <a:solidFill>
                  <a:srgbClr val="B3C3CE"/>
                </a:solidFill>
                <a:latin typeface="Calibri" panose="020F0502020204030204" pitchFamily="34" charset="0"/>
              </a:rPr>
              <a:t>PostgreSQL 16
Claims, revisions, results</a:t>
            </a:r>
          </a:p>
        </p:txBody>
      </p:sp>
      <p:sp>
        <p:nvSpPr>
          <p:cNvPr id="44" name="Object store container">
            <a:extLst>
              <a:ext uri="{FF2B5EF4-FFF2-40B4-BE49-F238E27FC236}">
                <a16:creationId xmlns:a16="http://schemas.microsoft.com/office/drawing/2014/main" id="{7B4DFECC-E2F8-4923-67C0-2CBAA4FC5A7F}"/>
              </a:ext>
            </a:extLst>
          </p:cNvPr>
          <p:cNvSpPr/>
          <p:nvPr/>
        </p:nvSpPr>
        <p:spPr>
          <a:xfrm>
            <a:off x="4216400" y="5664200"/>
            <a:ext cx="3251200" cy="1143000"/>
          </a:xfrm>
          <a:prstGeom prst="roundRect">
            <a:avLst>
              <a:gd name="adj" fmla="val 8889"/>
            </a:avLst>
          </a:prstGeom>
          <a:solidFill>
            <a:srgbClr val="0F2231">
              <a:alpha val="82000"/>
            </a:srgbClr>
          </a:solidFill>
          <a:ln w="15875">
            <a:solidFill>
              <a:srgbClr val="7AB6EA"/>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5" name="Object store container title">
            <a:extLst>
              <a:ext uri="{FF2B5EF4-FFF2-40B4-BE49-F238E27FC236}">
                <a16:creationId xmlns:a16="http://schemas.microsoft.com/office/drawing/2014/main" id="{0F8BC08C-3AA3-2546-A5CA-4D560C082D63}"/>
              </a:ext>
            </a:extLst>
          </p:cNvPr>
          <p:cNvSpPr txBox="1"/>
          <p:nvPr/>
        </p:nvSpPr>
        <p:spPr>
          <a:xfrm>
            <a:off x="4394200" y="5791199"/>
            <a:ext cx="2819400" cy="279400"/>
          </a:xfrm>
          <a:prstGeom prst="rect">
            <a:avLst/>
          </a:prstGeom>
          <a:noFill/>
        </p:spPr>
        <p:txBody>
          <a:bodyPr vert="horz" wrap="square" lIns="0" tIns="0" rIns="0" bIns="0" rtlCol="0">
            <a:noAutofit/>
          </a:bodyPr>
          <a:lstStyle/>
          <a:p>
            <a:r>
              <a:rPr lang="en-SG" sz="1550" b="1">
                <a:solidFill>
                  <a:srgbClr val="F3F6F8"/>
                </a:solidFill>
                <a:latin typeface="Calibri" panose="020F0502020204030204" pitchFamily="34" charset="0"/>
              </a:rPr>
              <a:t>cmev-objectstore</a:t>
            </a:r>
          </a:p>
        </p:txBody>
      </p:sp>
      <p:sp>
        <p:nvSpPr>
          <p:cNvPr id="46" name="Object store container detail">
            <a:extLst>
              <a:ext uri="{FF2B5EF4-FFF2-40B4-BE49-F238E27FC236}">
                <a16:creationId xmlns:a16="http://schemas.microsoft.com/office/drawing/2014/main" id="{BACE987C-5E60-752E-70C2-A797B01BD629}"/>
              </a:ext>
            </a:extLst>
          </p:cNvPr>
          <p:cNvSpPr txBox="1"/>
          <p:nvPr/>
        </p:nvSpPr>
        <p:spPr>
          <a:xfrm>
            <a:off x="4394200" y="6121399"/>
            <a:ext cx="2895600" cy="609600"/>
          </a:xfrm>
          <a:prstGeom prst="rect">
            <a:avLst/>
          </a:prstGeom>
          <a:noFill/>
        </p:spPr>
        <p:txBody>
          <a:bodyPr vert="horz" wrap="square" lIns="0" tIns="0" rIns="0" bIns="0" rtlCol="0">
            <a:noAutofit/>
          </a:bodyPr>
          <a:lstStyle/>
          <a:p>
            <a:r>
              <a:rPr lang="en-SG" sz="1250">
                <a:solidFill>
                  <a:srgbClr val="B3C3CE"/>
                </a:solidFill>
                <a:latin typeface="Calibri" panose="020F0502020204030204" pitchFamily="34" charset="0"/>
              </a:rPr>
              <a:t>MinIO (S3 API)
Original evidence files</a:t>
            </a:r>
          </a:p>
        </p:txBody>
      </p:sp>
      <p:sp>
        <p:nvSpPr>
          <p:cNvPr id="47" name="Cost bootstrap container">
            <a:extLst>
              <a:ext uri="{FF2B5EF4-FFF2-40B4-BE49-F238E27FC236}">
                <a16:creationId xmlns:a16="http://schemas.microsoft.com/office/drawing/2014/main" id="{D1E2B024-F648-6072-5AA6-D27D6415D126}"/>
              </a:ext>
            </a:extLst>
          </p:cNvPr>
          <p:cNvSpPr/>
          <p:nvPr/>
        </p:nvSpPr>
        <p:spPr>
          <a:xfrm>
            <a:off x="7823200" y="5664200"/>
            <a:ext cx="3251200" cy="1143000"/>
          </a:xfrm>
          <a:prstGeom prst="roundRect">
            <a:avLst>
              <a:gd name="adj" fmla="val 8889"/>
            </a:avLst>
          </a:prstGeom>
          <a:solidFill>
            <a:srgbClr val="0F2231">
              <a:alpha val="82000"/>
            </a:srgbClr>
          </a:solidFill>
          <a:ln w="15875">
            <a:solidFill>
              <a:srgbClr val="7AB6EA"/>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8" name="Cost bootstrap container chip">
            <a:extLst>
              <a:ext uri="{FF2B5EF4-FFF2-40B4-BE49-F238E27FC236}">
                <a16:creationId xmlns:a16="http://schemas.microsoft.com/office/drawing/2014/main" id="{580237A8-AAA6-FF62-7D32-E33AC952FD4F}"/>
              </a:ext>
            </a:extLst>
          </p:cNvPr>
          <p:cNvSpPr/>
          <p:nvPr/>
        </p:nvSpPr>
        <p:spPr>
          <a:xfrm>
            <a:off x="10591800" y="5803900"/>
            <a:ext cx="330200" cy="22860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SG" sz="950" b="1" spc="60">
                <a:solidFill>
                  <a:srgbClr val="7AB6EA"/>
                </a:solidFill>
                <a:latin typeface="Calibri" panose="020F0502020204030204" pitchFamily="34" charset="0"/>
              </a:rPr>
              <a:t>M7</a:t>
            </a:r>
          </a:p>
        </p:txBody>
      </p:sp>
      <p:sp>
        <p:nvSpPr>
          <p:cNvPr id="49" name="Cost bootstrap container title">
            <a:extLst>
              <a:ext uri="{FF2B5EF4-FFF2-40B4-BE49-F238E27FC236}">
                <a16:creationId xmlns:a16="http://schemas.microsoft.com/office/drawing/2014/main" id="{97050696-588F-02D2-3C4A-7D8F002EF4E7}"/>
              </a:ext>
            </a:extLst>
          </p:cNvPr>
          <p:cNvSpPr txBox="1"/>
          <p:nvPr/>
        </p:nvSpPr>
        <p:spPr>
          <a:xfrm>
            <a:off x="8001000" y="5791199"/>
            <a:ext cx="2489200" cy="279400"/>
          </a:xfrm>
          <a:prstGeom prst="rect">
            <a:avLst/>
          </a:prstGeom>
          <a:noFill/>
        </p:spPr>
        <p:txBody>
          <a:bodyPr vert="horz" wrap="square" lIns="0" tIns="0" rIns="0" bIns="0" rtlCol="0">
            <a:noAutofit/>
          </a:bodyPr>
          <a:lstStyle/>
          <a:p>
            <a:r>
              <a:rPr lang="en-SG" sz="1550" b="1">
                <a:solidFill>
                  <a:srgbClr val="F3F6F8"/>
                </a:solidFill>
                <a:latin typeface="Calibri" panose="020F0502020204030204" pitchFamily="34" charset="0"/>
              </a:rPr>
              <a:t>cmev-cost-bootstrap</a:t>
            </a:r>
          </a:p>
        </p:txBody>
      </p:sp>
      <p:sp>
        <p:nvSpPr>
          <p:cNvPr id="50" name="Cost bootstrap container detail">
            <a:extLst>
              <a:ext uri="{FF2B5EF4-FFF2-40B4-BE49-F238E27FC236}">
                <a16:creationId xmlns:a16="http://schemas.microsoft.com/office/drawing/2014/main" id="{5A45753F-FF7D-3887-BCB1-64E4DB1A13B4}"/>
              </a:ext>
            </a:extLst>
          </p:cNvPr>
          <p:cNvSpPr txBox="1"/>
          <p:nvPr/>
        </p:nvSpPr>
        <p:spPr>
          <a:xfrm>
            <a:off x="8001000" y="6121399"/>
            <a:ext cx="2895600" cy="609600"/>
          </a:xfrm>
          <a:prstGeom prst="rect">
            <a:avLst/>
          </a:prstGeom>
          <a:noFill/>
        </p:spPr>
        <p:txBody>
          <a:bodyPr vert="horz" wrap="square" lIns="0" tIns="0" rIns="0" bIns="0" rtlCol="0">
            <a:noAutofit/>
          </a:bodyPr>
          <a:lstStyle/>
          <a:p>
            <a:r>
              <a:rPr lang="en-US" sz="1250">
                <a:solidFill>
                  <a:srgbClr val="B3C3CE"/>
                </a:solidFill>
                <a:latin typeface="Calibri" panose="020F0502020204030204" pitchFamily="34" charset="0"/>
              </a:rPr>
              <a:t>One-shot offline synthetic build
Read-only cost-table volume</a:t>
            </a:r>
            <a:endParaRPr lang="en-SG" sz="1250">
              <a:solidFill>
                <a:srgbClr val="B3C3CE"/>
              </a:solidFill>
              <a:latin typeface="Calibri" panose="020F0502020204030204" pitchFamily="34" charset="0"/>
            </a:endParaRPr>
          </a:p>
        </p:txBody>
      </p:sp>
      <p:cxnSp>
        <p:nvCxnSpPr>
          <p:cNvPr id="51" name="Cost to consolidator">
            <a:extLst>
              <a:ext uri="{FF2B5EF4-FFF2-40B4-BE49-F238E27FC236}">
                <a16:creationId xmlns:a16="http://schemas.microsoft.com/office/drawing/2014/main" id="{EA863706-4BF9-D843-CD3B-C751C9F0B4F8}"/>
              </a:ext>
            </a:extLst>
          </p:cNvPr>
          <p:cNvCxnSpPr/>
          <p:nvPr/>
        </p:nvCxnSpPr>
        <p:spPr>
          <a:xfrm flipV="1">
            <a:off x="9448800" y="5105400"/>
            <a:ext cx="0" cy="558800"/>
          </a:xfrm>
          <a:prstGeom prst="straightConnector1">
            <a:avLst/>
          </a:prstGeom>
          <a:ln w="20320">
            <a:solidFill>
              <a:srgbClr val="7AB6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Lean profile card">
            <a:extLst>
              <a:ext uri="{FF2B5EF4-FFF2-40B4-BE49-F238E27FC236}">
                <a16:creationId xmlns:a16="http://schemas.microsoft.com/office/drawing/2014/main" id="{C9541357-898F-DDC0-AD4E-BE86301B2279}"/>
              </a:ext>
            </a:extLst>
          </p:cNvPr>
          <p:cNvSpPr/>
          <p:nvPr/>
        </p:nvSpPr>
        <p:spPr>
          <a:xfrm>
            <a:off x="609600" y="7086600"/>
            <a:ext cx="10464800" cy="508000"/>
          </a:xfrm>
          <a:prstGeom prst="roundRect">
            <a:avLst>
              <a:gd name="adj" fmla="val 50000"/>
            </a:avLst>
          </a:prstGeom>
          <a:solidFill>
            <a:srgbClr val="0F2231">
              <a:alpha val="75000"/>
            </a:srgbClr>
          </a:solidFill>
          <a:ln w="12700">
            <a:solidFill>
              <a:srgbClr val="3E55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3" name="Lean profile chip">
            <a:extLst>
              <a:ext uri="{FF2B5EF4-FFF2-40B4-BE49-F238E27FC236}">
                <a16:creationId xmlns:a16="http://schemas.microsoft.com/office/drawing/2014/main" id="{16893D20-66D5-0E61-63C5-618A7F7643E3}"/>
              </a:ext>
            </a:extLst>
          </p:cNvPr>
          <p:cNvSpPr/>
          <p:nvPr/>
        </p:nvSpPr>
        <p:spPr>
          <a:xfrm>
            <a:off x="762000" y="7226300"/>
            <a:ext cx="1320800" cy="228600"/>
          </a:xfrm>
          <a:prstGeom prst="roundRect">
            <a:avLst>
              <a:gd name="adj" fmla="val 50000"/>
            </a:avLst>
          </a:prstGeom>
          <a:solidFill>
            <a:srgbClr val="4FD1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SG" sz="1000" b="1" spc="60">
                <a:solidFill>
                  <a:srgbClr val="0A1520"/>
                </a:solidFill>
                <a:latin typeface="Calibri" panose="020F0502020204030204" pitchFamily="34" charset="0"/>
              </a:rPr>
              <a:t>LEAN PROFILE</a:t>
            </a:r>
          </a:p>
        </p:txBody>
      </p:sp>
      <p:sp>
        <p:nvSpPr>
          <p:cNvPr id="54" name="Lean profile text">
            <a:extLst>
              <a:ext uri="{FF2B5EF4-FFF2-40B4-BE49-F238E27FC236}">
                <a16:creationId xmlns:a16="http://schemas.microsoft.com/office/drawing/2014/main" id="{48E3618B-385F-9296-D1F3-50CCCF57C8DE}"/>
              </a:ext>
            </a:extLst>
          </p:cNvPr>
          <p:cNvSpPr txBox="1"/>
          <p:nvPr/>
        </p:nvSpPr>
        <p:spPr>
          <a:xfrm>
            <a:off x="2260600" y="7226300"/>
            <a:ext cx="8636000" cy="228600"/>
          </a:xfrm>
          <a:prstGeom prst="rect">
            <a:avLst/>
          </a:prstGeom>
          <a:noFill/>
        </p:spPr>
        <p:txBody>
          <a:bodyPr vert="horz" wrap="square" lIns="0" tIns="0" rIns="0" bIns="0" rtlCol="0">
            <a:noAutofit/>
          </a:bodyPr>
          <a:lstStyle/>
          <a:p>
            <a:r>
              <a:rPr lang="en-US" sz="1300">
                <a:solidFill>
                  <a:srgbClr val="F3F6F8"/>
                </a:solidFill>
                <a:latin typeface="Calibri" panose="020F0502020204030204" pitchFamily="34" charset="0"/>
              </a:rPr>
              <a:t>cmev-worker-combined runs the orchestrator, producer and consolidator roles in a single container.</a:t>
            </a:r>
            <a:endParaRPr lang="en-SG" sz="1300">
              <a:solidFill>
                <a:srgbClr val="F3F6F8"/>
              </a:solidFill>
              <a:latin typeface="Calibri" panose="020F0502020204030204" pitchFamily="34" charset="0"/>
            </a:endParaRPr>
          </a:p>
        </p:txBody>
      </p:sp>
      <p:sp>
        <p:nvSpPr>
          <p:cNvPr id="55" name="Legend running">
            <a:extLst>
              <a:ext uri="{FF2B5EF4-FFF2-40B4-BE49-F238E27FC236}">
                <a16:creationId xmlns:a16="http://schemas.microsoft.com/office/drawing/2014/main" id="{8DCAF6E9-8C98-46DB-F650-C4019EC70C7C}"/>
              </a:ext>
            </a:extLst>
          </p:cNvPr>
          <p:cNvSpPr/>
          <p:nvPr/>
        </p:nvSpPr>
        <p:spPr>
          <a:xfrm>
            <a:off x="609600" y="7924800"/>
            <a:ext cx="330200" cy="177800"/>
          </a:xfrm>
          <a:prstGeom prst="roundRect">
            <a:avLst>
              <a:gd name="adj" fmla="val 21429"/>
            </a:avLst>
          </a:prstGeom>
          <a:solidFill>
            <a:srgbClr val="0F2231">
              <a:alpha val="80000"/>
            </a:srgbClr>
          </a:solidFill>
          <a:ln w="15875">
            <a:solidFill>
              <a:srgbClr val="4FD1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6" name="Legend running text">
            <a:extLst>
              <a:ext uri="{FF2B5EF4-FFF2-40B4-BE49-F238E27FC236}">
                <a16:creationId xmlns:a16="http://schemas.microsoft.com/office/drawing/2014/main" id="{B930C089-3469-E711-75CE-D271A5875FAA}"/>
              </a:ext>
            </a:extLst>
          </p:cNvPr>
          <p:cNvSpPr txBox="1"/>
          <p:nvPr/>
        </p:nvSpPr>
        <p:spPr>
          <a:xfrm>
            <a:off x="1041400" y="7912100"/>
            <a:ext cx="1905000" cy="203200"/>
          </a:xfrm>
          <a:prstGeom prst="rect">
            <a:avLst/>
          </a:prstGeom>
          <a:noFill/>
        </p:spPr>
        <p:txBody>
          <a:bodyPr vert="horz" wrap="square" lIns="0" tIns="0" rIns="0" bIns="0" rtlCol="0">
            <a:noAutofit/>
          </a:bodyPr>
          <a:lstStyle/>
          <a:p>
            <a:r>
              <a:rPr lang="en-SG" sz="1150">
                <a:solidFill>
                  <a:srgbClr val="B3C3CE"/>
                </a:solidFill>
                <a:latin typeface="Calibri" panose="020F0502020204030204" pitchFamily="34" charset="0"/>
              </a:rPr>
              <a:t>Running container</a:t>
            </a:r>
          </a:p>
        </p:txBody>
      </p:sp>
      <p:sp>
        <p:nvSpPr>
          <p:cNvPr id="57" name="Legend fixture">
            <a:extLst>
              <a:ext uri="{FF2B5EF4-FFF2-40B4-BE49-F238E27FC236}">
                <a16:creationId xmlns:a16="http://schemas.microsoft.com/office/drawing/2014/main" id="{62E400DF-241B-00E9-245B-B8118161FE41}"/>
              </a:ext>
            </a:extLst>
          </p:cNvPr>
          <p:cNvSpPr/>
          <p:nvPr/>
        </p:nvSpPr>
        <p:spPr>
          <a:xfrm>
            <a:off x="2895600" y="7924800"/>
            <a:ext cx="330200" cy="177800"/>
          </a:xfrm>
          <a:prstGeom prst="roundRect">
            <a:avLst>
              <a:gd name="adj" fmla="val 21429"/>
            </a:avLst>
          </a:prstGeom>
          <a:solidFill>
            <a:srgbClr val="0F2231">
              <a:alpha val="80000"/>
            </a:srgbClr>
          </a:solidFill>
          <a:ln w="15875">
            <a:solidFill>
              <a:srgbClr val="F0C4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8" name="Legend fixture text">
            <a:extLst>
              <a:ext uri="{FF2B5EF4-FFF2-40B4-BE49-F238E27FC236}">
                <a16:creationId xmlns:a16="http://schemas.microsoft.com/office/drawing/2014/main" id="{827C72F0-F9B7-E6FC-1CB6-043C43C3264E}"/>
              </a:ext>
            </a:extLst>
          </p:cNvPr>
          <p:cNvSpPr txBox="1"/>
          <p:nvPr/>
        </p:nvSpPr>
        <p:spPr>
          <a:xfrm>
            <a:off x="3327400" y="7912100"/>
            <a:ext cx="2540000" cy="203200"/>
          </a:xfrm>
          <a:prstGeom prst="rect">
            <a:avLst/>
          </a:prstGeom>
          <a:noFill/>
        </p:spPr>
        <p:txBody>
          <a:bodyPr vert="horz" wrap="square" lIns="0" tIns="0" rIns="0" bIns="0" rtlCol="0">
            <a:noAutofit/>
          </a:bodyPr>
          <a:lstStyle/>
          <a:p>
            <a:r>
              <a:rPr lang="en-SG" sz="1150">
                <a:solidFill>
                  <a:srgbClr val="B3C3CE"/>
                </a:solidFill>
                <a:latin typeface="Calibri" panose="020F0502020204030204" pitchFamily="34" charset="0"/>
              </a:rPr>
              <a:t>Running with fixture outputs</a:t>
            </a:r>
          </a:p>
        </p:txBody>
      </p:sp>
      <p:sp>
        <p:nvSpPr>
          <p:cNvPr id="59" name="Legend planned">
            <a:extLst>
              <a:ext uri="{FF2B5EF4-FFF2-40B4-BE49-F238E27FC236}">
                <a16:creationId xmlns:a16="http://schemas.microsoft.com/office/drawing/2014/main" id="{7D845F81-169F-A6BC-132C-26AB3A9A1C65}"/>
              </a:ext>
            </a:extLst>
          </p:cNvPr>
          <p:cNvSpPr/>
          <p:nvPr/>
        </p:nvSpPr>
        <p:spPr>
          <a:xfrm>
            <a:off x="5816600" y="7924800"/>
            <a:ext cx="330200" cy="177800"/>
          </a:xfrm>
          <a:prstGeom prst="roundRect">
            <a:avLst>
              <a:gd name="adj" fmla="val 21429"/>
            </a:avLst>
          </a:prstGeom>
          <a:solidFill>
            <a:srgbClr val="0A1520">
              <a:alpha val="60000"/>
            </a:srgbClr>
          </a:solidFill>
          <a:ln w="12700">
            <a:solidFill>
              <a:srgbClr val="7AB6E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0" name="Legend planned text">
            <a:extLst>
              <a:ext uri="{FF2B5EF4-FFF2-40B4-BE49-F238E27FC236}">
                <a16:creationId xmlns:a16="http://schemas.microsoft.com/office/drawing/2014/main" id="{4323BAB5-576F-3FA3-0FAA-D0FAC7828D18}"/>
              </a:ext>
            </a:extLst>
          </p:cNvPr>
          <p:cNvSpPr txBox="1"/>
          <p:nvPr/>
        </p:nvSpPr>
        <p:spPr>
          <a:xfrm>
            <a:off x="6248400" y="7912100"/>
            <a:ext cx="1905000" cy="203200"/>
          </a:xfrm>
          <a:prstGeom prst="rect">
            <a:avLst/>
          </a:prstGeom>
          <a:noFill/>
        </p:spPr>
        <p:txBody>
          <a:bodyPr vert="horz" wrap="square" lIns="0" tIns="0" rIns="0" bIns="0" rtlCol="0">
            <a:noAutofit/>
          </a:bodyPr>
          <a:lstStyle/>
          <a:p>
            <a:r>
              <a:rPr lang="en-SG" sz="1150">
                <a:solidFill>
                  <a:srgbClr val="B3C3CE"/>
                </a:solidFill>
                <a:latin typeface="Calibri" panose="020F0502020204030204" pitchFamily="34" charset="0"/>
              </a:rPr>
              <a:t>Planned container</a:t>
            </a:r>
          </a:p>
        </p:txBody>
      </p:sp>
      <p:sp>
        <p:nvSpPr>
          <p:cNvPr id="61" name="Planned panel">
            <a:extLst>
              <a:ext uri="{FF2B5EF4-FFF2-40B4-BE49-F238E27FC236}">
                <a16:creationId xmlns:a16="http://schemas.microsoft.com/office/drawing/2014/main" id="{63EDD601-ED8A-4CA6-5111-5DF9A8DB0D29}"/>
              </a:ext>
            </a:extLst>
          </p:cNvPr>
          <p:cNvSpPr/>
          <p:nvPr/>
        </p:nvSpPr>
        <p:spPr>
          <a:xfrm>
            <a:off x="11480800" y="1752600"/>
            <a:ext cx="4165600" cy="6350000"/>
          </a:xfrm>
          <a:prstGeom prst="roundRect">
            <a:avLst>
              <a:gd name="adj" fmla="val 3659"/>
            </a:avLst>
          </a:prstGeom>
          <a:solidFill>
            <a:srgbClr val="0F2231">
              <a:alpha val="88000"/>
            </a:srgbClr>
          </a:solidFill>
          <a:ln w="12700">
            <a:solidFill>
              <a:srgbClr val="3E5566"/>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2" name="Planned label">
            <a:extLst>
              <a:ext uri="{FF2B5EF4-FFF2-40B4-BE49-F238E27FC236}">
                <a16:creationId xmlns:a16="http://schemas.microsoft.com/office/drawing/2014/main" id="{404681EA-D6B4-751D-C40D-B6439BEB3DDB}"/>
              </a:ext>
            </a:extLst>
          </p:cNvPr>
          <p:cNvSpPr txBox="1"/>
          <p:nvPr/>
        </p:nvSpPr>
        <p:spPr>
          <a:xfrm>
            <a:off x="11734800" y="2006600"/>
            <a:ext cx="3556000" cy="203200"/>
          </a:xfrm>
          <a:prstGeom prst="rect">
            <a:avLst/>
          </a:prstGeom>
          <a:noFill/>
        </p:spPr>
        <p:txBody>
          <a:bodyPr vert="horz" wrap="square" lIns="0" tIns="0" rIns="0" bIns="0" rtlCol="0">
            <a:noAutofit/>
          </a:bodyPr>
          <a:lstStyle/>
          <a:p>
            <a:r>
              <a:rPr lang="en-SG" sz="1100" b="1" spc="150">
                <a:solidFill>
                  <a:srgbClr val="F0C46E"/>
                </a:solidFill>
                <a:latin typeface="Calibri" panose="020F0502020204030204" pitchFamily="34" charset="0"/>
              </a:rPr>
              <a:t>PLANNED WORKER SPLIT</a:t>
            </a:r>
          </a:p>
        </p:txBody>
      </p:sp>
      <p:sp>
        <p:nvSpPr>
          <p:cNvPr id="63" name="Planned explanation">
            <a:extLst>
              <a:ext uri="{FF2B5EF4-FFF2-40B4-BE49-F238E27FC236}">
                <a16:creationId xmlns:a16="http://schemas.microsoft.com/office/drawing/2014/main" id="{A1BC413E-3B6F-29C2-1FAD-86A18D43D090}"/>
              </a:ext>
            </a:extLst>
          </p:cNvPr>
          <p:cNvSpPr txBox="1"/>
          <p:nvPr/>
        </p:nvSpPr>
        <p:spPr>
          <a:xfrm>
            <a:off x="11734800" y="2311399"/>
            <a:ext cx="3657600" cy="457200"/>
          </a:xfrm>
          <a:prstGeom prst="rect">
            <a:avLst/>
          </a:prstGeom>
          <a:noFill/>
        </p:spPr>
        <p:txBody>
          <a:bodyPr vert="horz" wrap="square" lIns="0" tIns="0" rIns="0" bIns="0" rtlCol="0">
            <a:noAutofit/>
          </a:bodyPr>
          <a:lstStyle/>
          <a:p>
            <a:r>
              <a:rPr lang="en-US" sz="1300">
                <a:solidFill>
                  <a:srgbClr val="F3F6F8"/>
                </a:solidFill>
                <a:latin typeface="Calibri" panose="020F0502020204030204" pitchFamily="34" charset="0"/>
              </a:rPr>
              <a:t>Dedicated module containers replace the shared fixture producers.</a:t>
            </a:r>
            <a:endParaRPr lang="en-SG" sz="1300">
              <a:solidFill>
                <a:srgbClr val="F3F6F8"/>
              </a:solidFill>
              <a:latin typeface="Calibri" panose="020F0502020204030204" pitchFamily="34" charset="0"/>
            </a:endParaRPr>
          </a:p>
        </p:txBody>
      </p:sp>
      <p:sp>
        <p:nvSpPr>
          <p:cNvPr id="64" name="Image branch label">
            <a:extLst>
              <a:ext uri="{FF2B5EF4-FFF2-40B4-BE49-F238E27FC236}">
                <a16:creationId xmlns:a16="http://schemas.microsoft.com/office/drawing/2014/main" id="{F8A852C7-6C2A-8424-6180-31A971DF3030}"/>
              </a:ext>
            </a:extLst>
          </p:cNvPr>
          <p:cNvSpPr txBox="1"/>
          <p:nvPr/>
        </p:nvSpPr>
        <p:spPr>
          <a:xfrm>
            <a:off x="11734800" y="2997200"/>
            <a:ext cx="3556000" cy="203200"/>
          </a:xfrm>
          <a:prstGeom prst="rect">
            <a:avLst/>
          </a:prstGeom>
          <a:noFill/>
        </p:spPr>
        <p:txBody>
          <a:bodyPr vert="horz" wrap="square" lIns="0" tIns="0" rIns="0" bIns="0" rtlCol="0">
            <a:noAutofit/>
          </a:bodyPr>
          <a:lstStyle/>
          <a:p>
            <a:r>
              <a:rPr lang="de-DE" sz="1100" b="1" spc="120">
                <a:solidFill>
                  <a:srgbClr val="7AB6EA"/>
                </a:solidFill>
                <a:latin typeface="Calibri" panose="020F0502020204030204" pitchFamily="34" charset="0"/>
              </a:rPr>
              <a:t>IMAGE BRANCH  ·  M1 → M2 → M3</a:t>
            </a:r>
            <a:endParaRPr lang="en-SG" sz="1100" b="1" spc="120">
              <a:solidFill>
                <a:srgbClr val="7AB6EA"/>
              </a:solidFill>
              <a:latin typeface="Calibri" panose="020F0502020204030204" pitchFamily="34" charset="0"/>
            </a:endParaRPr>
          </a:p>
        </p:txBody>
      </p:sp>
      <p:sp>
        <p:nvSpPr>
          <p:cNvPr id="65" name="Parts worker card">
            <a:extLst>
              <a:ext uri="{FF2B5EF4-FFF2-40B4-BE49-F238E27FC236}">
                <a16:creationId xmlns:a16="http://schemas.microsoft.com/office/drawing/2014/main" id="{898DA9F9-4F2D-8B15-9FDA-2159A861C116}"/>
              </a:ext>
            </a:extLst>
          </p:cNvPr>
          <p:cNvSpPr/>
          <p:nvPr/>
        </p:nvSpPr>
        <p:spPr>
          <a:xfrm>
            <a:off x="11734800" y="3276600"/>
            <a:ext cx="3657600" cy="381000"/>
          </a:xfrm>
          <a:prstGeom prst="roundRect">
            <a:avLst>
              <a:gd name="adj" fmla="val 20000"/>
            </a:avLst>
          </a:prstGeom>
          <a:solidFill>
            <a:srgbClr val="0A1520">
              <a:alpha val="60000"/>
            </a:srgbClr>
          </a:solidFill>
          <a:ln w="12700">
            <a:solidFill>
              <a:srgbClr val="7AB6E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6" name="Parts worker text">
            <a:extLst>
              <a:ext uri="{FF2B5EF4-FFF2-40B4-BE49-F238E27FC236}">
                <a16:creationId xmlns:a16="http://schemas.microsoft.com/office/drawing/2014/main" id="{71FAA928-1498-17A0-CB75-4C153CCEEFCF}"/>
              </a:ext>
            </a:extLst>
          </p:cNvPr>
          <p:cNvSpPr txBox="1"/>
          <p:nvPr/>
        </p:nvSpPr>
        <p:spPr>
          <a:xfrm>
            <a:off x="11887200" y="3365500"/>
            <a:ext cx="2540000" cy="228600"/>
          </a:xfrm>
          <a:prstGeom prst="rect">
            <a:avLst/>
          </a:prstGeom>
          <a:noFill/>
        </p:spPr>
        <p:txBody>
          <a:bodyPr vert="horz" wrap="square" lIns="0" tIns="0" rIns="0" bIns="0" rtlCol="0">
            <a:noAutofit/>
          </a:bodyPr>
          <a:lstStyle/>
          <a:p>
            <a:r>
              <a:rPr lang="en-SG" sz="1300">
                <a:solidFill>
                  <a:srgbClr val="F3F6F8"/>
                </a:solidFill>
                <a:latin typeface="Calibri" panose="020F0502020204030204" pitchFamily="34" charset="0"/>
              </a:rPr>
              <a:t>cmev-worker-parts</a:t>
            </a:r>
          </a:p>
        </p:txBody>
      </p:sp>
      <p:sp>
        <p:nvSpPr>
          <p:cNvPr id="67" name="Parts worker chip">
            <a:extLst>
              <a:ext uri="{FF2B5EF4-FFF2-40B4-BE49-F238E27FC236}">
                <a16:creationId xmlns:a16="http://schemas.microsoft.com/office/drawing/2014/main" id="{B96D42AE-1E9A-5103-82C0-6BDC9BA02D31}"/>
              </a:ext>
            </a:extLst>
          </p:cNvPr>
          <p:cNvSpPr/>
          <p:nvPr/>
        </p:nvSpPr>
        <p:spPr>
          <a:xfrm>
            <a:off x="14859000" y="3352800"/>
            <a:ext cx="381000" cy="22860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SG" sz="950" b="1" spc="60">
                <a:solidFill>
                  <a:srgbClr val="7AB6EA"/>
                </a:solidFill>
                <a:latin typeface="Calibri" panose="020F0502020204030204" pitchFamily="34" charset="0"/>
              </a:rPr>
              <a:t>M1</a:t>
            </a:r>
          </a:p>
        </p:txBody>
      </p:sp>
      <p:sp>
        <p:nvSpPr>
          <p:cNvPr id="68" name="Damage worker card">
            <a:extLst>
              <a:ext uri="{FF2B5EF4-FFF2-40B4-BE49-F238E27FC236}">
                <a16:creationId xmlns:a16="http://schemas.microsoft.com/office/drawing/2014/main" id="{889F32F7-F1E2-22C0-9125-A6156BAB61BD}"/>
              </a:ext>
            </a:extLst>
          </p:cNvPr>
          <p:cNvSpPr/>
          <p:nvPr/>
        </p:nvSpPr>
        <p:spPr>
          <a:xfrm>
            <a:off x="11734800" y="3759200"/>
            <a:ext cx="3657600" cy="381000"/>
          </a:xfrm>
          <a:prstGeom prst="roundRect">
            <a:avLst>
              <a:gd name="adj" fmla="val 20000"/>
            </a:avLst>
          </a:prstGeom>
          <a:solidFill>
            <a:srgbClr val="0A1520">
              <a:alpha val="60000"/>
            </a:srgbClr>
          </a:solidFill>
          <a:ln w="12700">
            <a:solidFill>
              <a:srgbClr val="7AB6E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9" name="Damage worker text">
            <a:extLst>
              <a:ext uri="{FF2B5EF4-FFF2-40B4-BE49-F238E27FC236}">
                <a16:creationId xmlns:a16="http://schemas.microsoft.com/office/drawing/2014/main" id="{B523F100-D2C2-218A-5383-D089F3749D77}"/>
              </a:ext>
            </a:extLst>
          </p:cNvPr>
          <p:cNvSpPr txBox="1"/>
          <p:nvPr/>
        </p:nvSpPr>
        <p:spPr>
          <a:xfrm>
            <a:off x="11887200" y="3848100"/>
            <a:ext cx="2540000" cy="228600"/>
          </a:xfrm>
          <a:prstGeom prst="rect">
            <a:avLst/>
          </a:prstGeom>
          <a:noFill/>
        </p:spPr>
        <p:txBody>
          <a:bodyPr vert="horz" wrap="square" lIns="0" tIns="0" rIns="0" bIns="0" rtlCol="0">
            <a:noAutofit/>
          </a:bodyPr>
          <a:lstStyle/>
          <a:p>
            <a:r>
              <a:rPr lang="en-SG" sz="1300">
                <a:solidFill>
                  <a:srgbClr val="F3F6F8"/>
                </a:solidFill>
                <a:latin typeface="Calibri" panose="020F0502020204030204" pitchFamily="34" charset="0"/>
              </a:rPr>
              <a:t>cmev-worker-damage</a:t>
            </a:r>
          </a:p>
        </p:txBody>
      </p:sp>
      <p:sp>
        <p:nvSpPr>
          <p:cNvPr id="70" name="Damage worker chip">
            <a:extLst>
              <a:ext uri="{FF2B5EF4-FFF2-40B4-BE49-F238E27FC236}">
                <a16:creationId xmlns:a16="http://schemas.microsoft.com/office/drawing/2014/main" id="{48F0C2E8-B0ED-1D71-1D9B-D7436E18670E}"/>
              </a:ext>
            </a:extLst>
          </p:cNvPr>
          <p:cNvSpPr/>
          <p:nvPr/>
        </p:nvSpPr>
        <p:spPr>
          <a:xfrm>
            <a:off x="14859000" y="3835400"/>
            <a:ext cx="381000" cy="22860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SG" sz="950" b="1" spc="60">
                <a:solidFill>
                  <a:srgbClr val="7AB6EA"/>
                </a:solidFill>
                <a:latin typeface="Calibri" panose="020F0502020204030204" pitchFamily="34" charset="0"/>
              </a:rPr>
              <a:t>M2</a:t>
            </a:r>
          </a:p>
        </p:txBody>
      </p:sp>
      <p:sp>
        <p:nvSpPr>
          <p:cNvPr id="71" name="Summary worker card">
            <a:extLst>
              <a:ext uri="{FF2B5EF4-FFF2-40B4-BE49-F238E27FC236}">
                <a16:creationId xmlns:a16="http://schemas.microsoft.com/office/drawing/2014/main" id="{25C93405-0628-B804-94AE-42B3BE4AEF45}"/>
              </a:ext>
            </a:extLst>
          </p:cNvPr>
          <p:cNvSpPr/>
          <p:nvPr/>
        </p:nvSpPr>
        <p:spPr>
          <a:xfrm>
            <a:off x="11734800" y="4241800"/>
            <a:ext cx="3657600" cy="381000"/>
          </a:xfrm>
          <a:prstGeom prst="roundRect">
            <a:avLst>
              <a:gd name="adj" fmla="val 20000"/>
            </a:avLst>
          </a:prstGeom>
          <a:solidFill>
            <a:srgbClr val="0A1520">
              <a:alpha val="60000"/>
            </a:srgbClr>
          </a:solidFill>
          <a:ln w="12700">
            <a:solidFill>
              <a:srgbClr val="7AB6E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2" name="Summary worker text">
            <a:extLst>
              <a:ext uri="{FF2B5EF4-FFF2-40B4-BE49-F238E27FC236}">
                <a16:creationId xmlns:a16="http://schemas.microsoft.com/office/drawing/2014/main" id="{91D9F4A0-0F03-0D86-645B-DE447A62F9DA}"/>
              </a:ext>
            </a:extLst>
          </p:cNvPr>
          <p:cNvSpPr txBox="1"/>
          <p:nvPr/>
        </p:nvSpPr>
        <p:spPr>
          <a:xfrm>
            <a:off x="11887200" y="4330700"/>
            <a:ext cx="2540000" cy="228600"/>
          </a:xfrm>
          <a:prstGeom prst="rect">
            <a:avLst/>
          </a:prstGeom>
          <a:noFill/>
        </p:spPr>
        <p:txBody>
          <a:bodyPr vert="horz" wrap="square" lIns="0" tIns="0" rIns="0" bIns="0" rtlCol="0">
            <a:noAutofit/>
          </a:bodyPr>
          <a:lstStyle/>
          <a:p>
            <a:r>
              <a:rPr lang="en-SG" sz="1300">
                <a:solidFill>
                  <a:srgbClr val="F3F6F8"/>
                </a:solidFill>
                <a:latin typeface="Calibri" panose="020F0502020204030204" pitchFamily="34" charset="0"/>
              </a:rPr>
              <a:t>cmev-worker-summary</a:t>
            </a:r>
          </a:p>
        </p:txBody>
      </p:sp>
      <p:sp>
        <p:nvSpPr>
          <p:cNvPr id="73" name="Summary worker chip">
            <a:extLst>
              <a:ext uri="{FF2B5EF4-FFF2-40B4-BE49-F238E27FC236}">
                <a16:creationId xmlns:a16="http://schemas.microsoft.com/office/drawing/2014/main" id="{99E1361F-0A9C-FE65-388F-9454528E2F88}"/>
              </a:ext>
            </a:extLst>
          </p:cNvPr>
          <p:cNvSpPr/>
          <p:nvPr/>
        </p:nvSpPr>
        <p:spPr>
          <a:xfrm>
            <a:off x="14859000" y="4318000"/>
            <a:ext cx="381000" cy="22860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SG" sz="950" b="1" spc="60">
                <a:solidFill>
                  <a:srgbClr val="7AB6EA"/>
                </a:solidFill>
                <a:latin typeface="Calibri" panose="020F0502020204030204" pitchFamily="34" charset="0"/>
              </a:rPr>
              <a:t>M3</a:t>
            </a:r>
          </a:p>
        </p:txBody>
      </p:sp>
      <p:sp>
        <p:nvSpPr>
          <p:cNvPr id="74" name="Document branch label">
            <a:extLst>
              <a:ext uri="{FF2B5EF4-FFF2-40B4-BE49-F238E27FC236}">
                <a16:creationId xmlns:a16="http://schemas.microsoft.com/office/drawing/2014/main" id="{29B2DB9D-2F18-DACF-A3DF-358EA5FC9F1F}"/>
              </a:ext>
            </a:extLst>
          </p:cNvPr>
          <p:cNvSpPr txBox="1"/>
          <p:nvPr/>
        </p:nvSpPr>
        <p:spPr>
          <a:xfrm>
            <a:off x="11734800" y="4902200"/>
            <a:ext cx="3556000" cy="203200"/>
          </a:xfrm>
          <a:prstGeom prst="rect">
            <a:avLst/>
          </a:prstGeom>
          <a:noFill/>
        </p:spPr>
        <p:txBody>
          <a:bodyPr vert="horz" wrap="square" lIns="0" tIns="0" rIns="0" bIns="0" rtlCol="0">
            <a:noAutofit/>
          </a:bodyPr>
          <a:lstStyle/>
          <a:p>
            <a:r>
              <a:rPr lang="fr-FR" sz="1100" b="1" spc="120">
                <a:solidFill>
                  <a:srgbClr val="7AB6EA"/>
                </a:solidFill>
                <a:latin typeface="Calibri" panose="020F0502020204030204" pitchFamily="34" charset="0"/>
              </a:rPr>
              <a:t>DOCUMENT BRANCH  ·  M4 → M5 → M6</a:t>
            </a:r>
            <a:endParaRPr lang="en-SG" sz="1100" b="1" spc="120">
              <a:solidFill>
                <a:srgbClr val="7AB6EA"/>
              </a:solidFill>
              <a:latin typeface="Calibri" panose="020F0502020204030204" pitchFamily="34" charset="0"/>
            </a:endParaRPr>
          </a:p>
        </p:txBody>
      </p:sp>
      <p:sp>
        <p:nvSpPr>
          <p:cNvPr id="75" name="OCR worker card">
            <a:extLst>
              <a:ext uri="{FF2B5EF4-FFF2-40B4-BE49-F238E27FC236}">
                <a16:creationId xmlns:a16="http://schemas.microsoft.com/office/drawing/2014/main" id="{AE603B57-21A5-9CBC-4B93-DE62ABA889EE}"/>
              </a:ext>
            </a:extLst>
          </p:cNvPr>
          <p:cNvSpPr/>
          <p:nvPr/>
        </p:nvSpPr>
        <p:spPr>
          <a:xfrm>
            <a:off x="11734800" y="5181600"/>
            <a:ext cx="3657600" cy="381000"/>
          </a:xfrm>
          <a:prstGeom prst="roundRect">
            <a:avLst>
              <a:gd name="adj" fmla="val 20000"/>
            </a:avLst>
          </a:prstGeom>
          <a:solidFill>
            <a:srgbClr val="0A1520">
              <a:alpha val="60000"/>
            </a:srgbClr>
          </a:solidFill>
          <a:ln w="12700">
            <a:solidFill>
              <a:srgbClr val="7AB6E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6" name="OCR worker text">
            <a:extLst>
              <a:ext uri="{FF2B5EF4-FFF2-40B4-BE49-F238E27FC236}">
                <a16:creationId xmlns:a16="http://schemas.microsoft.com/office/drawing/2014/main" id="{D61D68C0-DE35-21C8-4190-461A67C7F021}"/>
              </a:ext>
            </a:extLst>
          </p:cNvPr>
          <p:cNvSpPr txBox="1"/>
          <p:nvPr/>
        </p:nvSpPr>
        <p:spPr>
          <a:xfrm>
            <a:off x="11887200" y="5270500"/>
            <a:ext cx="2540000" cy="228600"/>
          </a:xfrm>
          <a:prstGeom prst="rect">
            <a:avLst/>
          </a:prstGeom>
          <a:noFill/>
        </p:spPr>
        <p:txBody>
          <a:bodyPr vert="horz" wrap="square" lIns="0" tIns="0" rIns="0" bIns="0" rtlCol="0">
            <a:noAutofit/>
          </a:bodyPr>
          <a:lstStyle/>
          <a:p>
            <a:r>
              <a:rPr lang="en-SG" sz="1300">
                <a:solidFill>
                  <a:srgbClr val="F3F6F8"/>
                </a:solidFill>
                <a:latin typeface="Calibri" panose="020F0502020204030204" pitchFamily="34" charset="0"/>
              </a:rPr>
              <a:t>cmev-worker-ocr</a:t>
            </a:r>
          </a:p>
        </p:txBody>
      </p:sp>
      <p:sp>
        <p:nvSpPr>
          <p:cNvPr id="77" name="OCR worker chip">
            <a:extLst>
              <a:ext uri="{FF2B5EF4-FFF2-40B4-BE49-F238E27FC236}">
                <a16:creationId xmlns:a16="http://schemas.microsoft.com/office/drawing/2014/main" id="{DFB52096-BC04-F33B-61A2-E444EE0D7B8C}"/>
              </a:ext>
            </a:extLst>
          </p:cNvPr>
          <p:cNvSpPr/>
          <p:nvPr/>
        </p:nvSpPr>
        <p:spPr>
          <a:xfrm>
            <a:off x="14859000" y="5257800"/>
            <a:ext cx="381000" cy="22860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SG" sz="950" b="1" spc="60">
                <a:solidFill>
                  <a:srgbClr val="7AB6EA"/>
                </a:solidFill>
                <a:latin typeface="Calibri" panose="020F0502020204030204" pitchFamily="34" charset="0"/>
              </a:rPr>
              <a:t>M4</a:t>
            </a:r>
          </a:p>
        </p:txBody>
      </p:sp>
      <p:sp>
        <p:nvSpPr>
          <p:cNvPr id="78" name="Line items worker card">
            <a:extLst>
              <a:ext uri="{FF2B5EF4-FFF2-40B4-BE49-F238E27FC236}">
                <a16:creationId xmlns:a16="http://schemas.microsoft.com/office/drawing/2014/main" id="{5D0F8C38-A6C8-AF32-FE5F-65E85C93A894}"/>
              </a:ext>
            </a:extLst>
          </p:cNvPr>
          <p:cNvSpPr/>
          <p:nvPr/>
        </p:nvSpPr>
        <p:spPr>
          <a:xfrm>
            <a:off x="11734800" y="5664200"/>
            <a:ext cx="3657600" cy="381000"/>
          </a:xfrm>
          <a:prstGeom prst="roundRect">
            <a:avLst>
              <a:gd name="adj" fmla="val 20000"/>
            </a:avLst>
          </a:prstGeom>
          <a:solidFill>
            <a:srgbClr val="0A1520">
              <a:alpha val="60000"/>
            </a:srgbClr>
          </a:solidFill>
          <a:ln w="12700">
            <a:solidFill>
              <a:srgbClr val="7AB6E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9" name="Line items worker text">
            <a:extLst>
              <a:ext uri="{FF2B5EF4-FFF2-40B4-BE49-F238E27FC236}">
                <a16:creationId xmlns:a16="http://schemas.microsoft.com/office/drawing/2014/main" id="{8956E38D-B8B0-6F11-5EB6-EB5FDD4E41E2}"/>
              </a:ext>
            </a:extLst>
          </p:cNvPr>
          <p:cNvSpPr txBox="1"/>
          <p:nvPr/>
        </p:nvSpPr>
        <p:spPr>
          <a:xfrm>
            <a:off x="11887200" y="5753100"/>
            <a:ext cx="2540000" cy="228600"/>
          </a:xfrm>
          <a:prstGeom prst="rect">
            <a:avLst/>
          </a:prstGeom>
          <a:noFill/>
        </p:spPr>
        <p:txBody>
          <a:bodyPr vert="horz" wrap="square" lIns="0" tIns="0" rIns="0" bIns="0" rtlCol="0">
            <a:noAutofit/>
          </a:bodyPr>
          <a:lstStyle/>
          <a:p>
            <a:r>
              <a:rPr lang="en-SG" sz="1300">
                <a:solidFill>
                  <a:srgbClr val="F3F6F8"/>
                </a:solidFill>
                <a:latin typeface="Calibri" panose="020F0502020204030204" pitchFamily="34" charset="0"/>
              </a:rPr>
              <a:t>cmev-worker-lineitems</a:t>
            </a:r>
          </a:p>
        </p:txBody>
      </p:sp>
      <p:sp>
        <p:nvSpPr>
          <p:cNvPr id="80" name="Line items worker chip">
            <a:extLst>
              <a:ext uri="{FF2B5EF4-FFF2-40B4-BE49-F238E27FC236}">
                <a16:creationId xmlns:a16="http://schemas.microsoft.com/office/drawing/2014/main" id="{02870DE5-8A3D-0009-4911-B9075B4CC2C3}"/>
              </a:ext>
            </a:extLst>
          </p:cNvPr>
          <p:cNvSpPr/>
          <p:nvPr/>
        </p:nvSpPr>
        <p:spPr>
          <a:xfrm>
            <a:off x="14859000" y="5740400"/>
            <a:ext cx="381000" cy="22860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SG" sz="950" b="1" spc="60">
                <a:solidFill>
                  <a:srgbClr val="7AB6EA"/>
                </a:solidFill>
                <a:latin typeface="Calibri" panose="020F0502020204030204" pitchFamily="34" charset="0"/>
              </a:rPr>
              <a:t>M5</a:t>
            </a:r>
          </a:p>
        </p:txBody>
      </p:sp>
      <p:sp>
        <p:nvSpPr>
          <p:cNvPr id="81" name="Pen marks worker card">
            <a:extLst>
              <a:ext uri="{FF2B5EF4-FFF2-40B4-BE49-F238E27FC236}">
                <a16:creationId xmlns:a16="http://schemas.microsoft.com/office/drawing/2014/main" id="{D934B913-4D9B-B5EC-EEA5-9179CA7D4F5C}"/>
              </a:ext>
            </a:extLst>
          </p:cNvPr>
          <p:cNvSpPr/>
          <p:nvPr/>
        </p:nvSpPr>
        <p:spPr>
          <a:xfrm>
            <a:off x="11734800" y="6146800"/>
            <a:ext cx="3657600" cy="381000"/>
          </a:xfrm>
          <a:prstGeom prst="roundRect">
            <a:avLst>
              <a:gd name="adj" fmla="val 20000"/>
            </a:avLst>
          </a:prstGeom>
          <a:solidFill>
            <a:srgbClr val="0A1520">
              <a:alpha val="60000"/>
            </a:srgbClr>
          </a:solidFill>
          <a:ln w="12700">
            <a:solidFill>
              <a:srgbClr val="7AB6EA"/>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2" name="Pen marks worker text">
            <a:extLst>
              <a:ext uri="{FF2B5EF4-FFF2-40B4-BE49-F238E27FC236}">
                <a16:creationId xmlns:a16="http://schemas.microsoft.com/office/drawing/2014/main" id="{8E54B4D7-0641-43C5-E572-A7BF47B2655D}"/>
              </a:ext>
            </a:extLst>
          </p:cNvPr>
          <p:cNvSpPr txBox="1"/>
          <p:nvPr/>
        </p:nvSpPr>
        <p:spPr>
          <a:xfrm>
            <a:off x="11887200" y="6235700"/>
            <a:ext cx="2540000" cy="228600"/>
          </a:xfrm>
          <a:prstGeom prst="rect">
            <a:avLst/>
          </a:prstGeom>
          <a:noFill/>
        </p:spPr>
        <p:txBody>
          <a:bodyPr vert="horz" wrap="square" lIns="0" tIns="0" rIns="0" bIns="0" rtlCol="0">
            <a:noAutofit/>
          </a:bodyPr>
          <a:lstStyle/>
          <a:p>
            <a:r>
              <a:rPr lang="en-SG" sz="1300">
                <a:solidFill>
                  <a:srgbClr val="F3F6F8"/>
                </a:solidFill>
                <a:latin typeface="Calibri" panose="020F0502020204030204" pitchFamily="34" charset="0"/>
              </a:rPr>
              <a:t>cmev-worker-penmarks</a:t>
            </a:r>
          </a:p>
        </p:txBody>
      </p:sp>
      <p:sp>
        <p:nvSpPr>
          <p:cNvPr id="83" name="Pen marks worker chip">
            <a:extLst>
              <a:ext uri="{FF2B5EF4-FFF2-40B4-BE49-F238E27FC236}">
                <a16:creationId xmlns:a16="http://schemas.microsoft.com/office/drawing/2014/main" id="{1841532B-9B34-8A33-E9D8-24911229B2DB}"/>
              </a:ext>
            </a:extLst>
          </p:cNvPr>
          <p:cNvSpPr/>
          <p:nvPr/>
        </p:nvSpPr>
        <p:spPr>
          <a:xfrm>
            <a:off x="14859000" y="6223000"/>
            <a:ext cx="381000" cy="22860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SG" sz="950" b="1" spc="60">
                <a:solidFill>
                  <a:srgbClr val="7AB6EA"/>
                </a:solidFill>
                <a:latin typeface="Calibri" panose="020F0502020204030204" pitchFamily="34" charset="0"/>
              </a:rPr>
              <a:t>M6</a:t>
            </a:r>
          </a:p>
        </p:txBody>
      </p:sp>
      <p:cxnSp>
        <p:nvCxnSpPr>
          <p:cNvPr id="84" name="Registry divider">
            <a:extLst>
              <a:ext uri="{FF2B5EF4-FFF2-40B4-BE49-F238E27FC236}">
                <a16:creationId xmlns:a16="http://schemas.microsoft.com/office/drawing/2014/main" id="{990D5E40-52FB-1D31-3FAE-37614A7290A6}"/>
              </a:ext>
            </a:extLst>
          </p:cNvPr>
          <p:cNvCxnSpPr/>
          <p:nvPr/>
        </p:nvCxnSpPr>
        <p:spPr>
          <a:xfrm>
            <a:off x="11734800" y="6781800"/>
            <a:ext cx="3657600" cy="0"/>
          </a:xfrm>
          <a:prstGeom prst="straightConnector1">
            <a:avLst/>
          </a:prstGeom>
          <a:ln w="12700">
            <a:solidFill>
              <a:srgbClr val="2A3F4E"/>
            </a:solidFill>
          </a:ln>
        </p:spPr>
        <p:style>
          <a:lnRef idx="2">
            <a:schemeClr val="accent1"/>
          </a:lnRef>
          <a:fillRef idx="0">
            <a:schemeClr val="accent1"/>
          </a:fillRef>
          <a:effectRef idx="1">
            <a:schemeClr val="accent1"/>
          </a:effectRef>
          <a:fontRef idx="minor">
            <a:schemeClr val="tx1"/>
          </a:fontRef>
        </p:style>
      </p:cxnSp>
      <p:sp>
        <p:nvSpPr>
          <p:cNvPr id="85" name="Registry title">
            <a:extLst>
              <a:ext uri="{FF2B5EF4-FFF2-40B4-BE49-F238E27FC236}">
                <a16:creationId xmlns:a16="http://schemas.microsoft.com/office/drawing/2014/main" id="{F2E06521-893C-D124-CC6A-134DB6C7836E}"/>
              </a:ext>
            </a:extLst>
          </p:cNvPr>
          <p:cNvSpPr txBox="1"/>
          <p:nvPr/>
        </p:nvSpPr>
        <p:spPr>
          <a:xfrm>
            <a:off x="11734800" y="6985000"/>
            <a:ext cx="3657600" cy="254000"/>
          </a:xfrm>
          <a:prstGeom prst="rect">
            <a:avLst/>
          </a:prstGeom>
          <a:noFill/>
        </p:spPr>
        <p:txBody>
          <a:bodyPr vert="horz" wrap="square" lIns="0" tIns="0" rIns="0" bIns="0" rtlCol="0">
            <a:noAutofit/>
          </a:bodyPr>
          <a:lstStyle/>
          <a:p>
            <a:r>
              <a:rPr lang="en-SG" sz="1400" b="1">
                <a:solidFill>
                  <a:srgbClr val="F3F6F8"/>
                </a:solidFill>
                <a:latin typeface="Calibri" panose="020F0502020204030204" pitchFamily="34" charset="0"/>
              </a:rPr>
              <a:t>Read-only model registry</a:t>
            </a:r>
          </a:p>
        </p:txBody>
      </p:sp>
      <p:sp>
        <p:nvSpPr>
          <p:cNvPr id="86" name="Registry text">
            <a:extLst>
              <a:ext uri="{FF2B5EF4-FFF2-40B4-BE49-F238E27FC236}">
                <a16:creationId xmlns:a16="http://schemas.microsoft.com/office/drawing/2014/main" id="{D9A7211A-8F5D-75D3-8058-11DFC54A2B64}"/>
              </a:ext>
            </a:extLst>
          </p:cNvPr>
          <p:cNvSpPr txBox="1"/>
          <p:nvPr/>
        </p:nvSpPr>
        <p:spPr>
          <a:xfrm>
            <a:off x="11734800" y="7289799"/>
            <a:ext cx="3657600" cy="457200"/>
          </a:xfrm>
          <a:prstGeom prst="rect">
            <a:avLst/>
          </a:prstGeom>
          <a:noFill/>
        </p:spPr>
        <p:txBody>
          <a:bodyPr vert="horz" wrap="square" lIns="0" tIns="0" rIns="0" bIns="0" rtlCol="0">
            <a:noAutofit/>
          </a:bodyPr>
          <a:lstStyle/>
          <a:p>
            <a:r>
              <a:rPr lang="en-US" sz="1200">
                <a:solidFill>
                  <a:srgbClr val="B3C3CE"/>
                </a:solidFill>
                <a:latin typeface="Calibri" panose="020F0502020204030204" pitchFamily="34" charset="0"/>
              </a:rPr>
              <a:t>Offline training publishes versioned weights that the image and document workers mount.</a:t>
            </a:r>
            <a:endParaRPr lang="en-SG" sz="1200">
              <a:solidFill>
                <a:srgbClr val="B3C3CE"/>
              </a:solidFill>
              <a:latin typeface="Calibri" panose="020F0502020204030204" pitchFamily="34" charset="0"/>
            </a:endParaRPr>
          </a:p>
        </p:txBody>
      </p:sp>
    </p:spTree>
    <p:extLst>
      <p:ext uri="{BB962C8B-B14F-4D97-AF65-F5344CB8AC3E}">
        <p14:creationId xmlns:p14="http://schemas.microsoft.com/office/powerpoint/2010/main" val="550529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520"/>
        </a:solidFill>
        <a:effectLst/>
      </p:bgPr>
    </p:bg>
    <p:spTree>
      <p:nvGrpSpPr>
        <p:cNvPr id="1" name=""/>
        <p:cNvGrpSpPr/>
        <p:nvPr/>
      </p:nvGrpSpPr>
      <p:grpSpPr>
        <a:xfrm>
          <a:off x="0" y="0"/>
          <a:ext cx="0" cy="0"/>
          <a:chOff x="0" y="0"/>
          <a:chExt cx="0" cy="0"/>
        </a:xfrm>
      </p:grpSpPr>
      <p:pic>
        <p:nvPicPr>
          <p:cNvPr id="3" name="Background photo">
            <a:extLst>
              <a:ext uri="{FF2B5EF4-FFF2-40B4-BE49-F238E27FC236}">
                <a16:creationId xmlns:a16="http://schemas.microsoft.com/office/drawing/2014/main" id="{6E6C79B7-1C2A-61F5-47F5-89F9208E4F2F}"/>
              </a:ext>
            </a:extLst>
          </p:cNvPr>
          <p:cNvPicPr>
            <a:picLocks/>
          </p:cNvPicPr>
          <p:nvPr/>
        </p:nvPicPr>
        <p:blipFill>
          <a:blip r:embed="rId3">
            <a:grayscl/>
            <a:lum bright="-16000"/>
            <a:extLst>
              <a:ext uri="{28A0092B-C50C-407E-A947-70E740481C1C}">
                <a14:useLocalDpi xmlns:a14="http://schemas.microsoft.com/office/drawing/2010/main" val="0"/>
              </a:ext>
            </a:extLst>
          </a:blip>
          <a:stretch>
            <a:fillRect/>
          </a:stretch>
        </p:blipFill>
        <p:spPr>
          <a:xfrm>
            <a:off x="0" y="0"/>
            <a:ext cx="16256000" cy="9144000"/>
          </a:xfrm>
          <a:prstGeom prst="rect">
            <a:avLst/>
          </a:prstGeom>
        </p:spPr>
      </p:pic>
      <p:sp>
        <p:nvSpPr>
          <p:cNvPr id="4" name="Background tint">
            <a:extLst>
              <a:ext uri="{FF2B5EF4-FFF2-40B4-BE49-F238E27FC236}">
                <a16:creationId xmlns:a16="http://schemas.microsoft.com/office/drawing/2014/main" id="{B8C6211A-C9D6-1239-470A-3BD3586BBB9C}"/>
              </a:ext>
            </a:extLst>
          </p:cNvPr>
          <p:cNvSpPr/>
          <p:nvPr/>
        </p:nvSpPr>
        <p:spPr>
          <a:xfrm>
            <a:off x="0" y="0"/>
            <a:ext cx="16256000" cy="9144000"/>
          </a:xfrm>
          <a:prstGeom prst="rect">
            <a:avLst/>
          </a:prstGeom>
          <a:gradFill flip="none" rotWithShape="1">
            <a:gsLst>
              <a:gs pos="0">
                <a:srgbClr val="0A1520">
                  <a:alpha val="92000"/>
                </a:srgbClr>
              </a:gs>
              <a:gs pos="100000">
                <a:srgbClr val="0A1520">
                  <a:alpha val="55000"/>
                </a:srgbClr>
              </a:gs>
              <a:gs pos="55000">
                <a:srgbClr val="0A1520">
                  <a:alpha val="80000"/>
                </a:srgbClr>
              </a:gs>
            </a:gsLst>
            <a:lin ang="0" scaled="1"/>
            <a:tileRect/>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 name="Title shade">
            <a:extLst>
              <a:ext uri="{FF2B5EF4-FFF2-40B4-BE49-F238E27FC236}">
                <a16:creationId xmlns:a16="http://schemas.microsoft.com/office/drawing/2014/main" id="{F95A82BA-F724-403E-97C1-DD44B9707BCB}"/>
              </a:ext>
            </a:extLst>
          </p:cNvPr>
          <p:cNvSpPr/>
          <p:nvPr/>
        </p:nvSpPr>
        <p:spPr>
          <a:xfrm>
            <a:off x="0" y="0"/>
            <a:ext cx="16256000" cy="1905000"/>
          </a:xfrm>
          <a:prstGeom prst="rect">
            <a:avLst/>
          </a:prstGeom>
          <a:gradFill flip="none" rotWithShape="1">
            <a:gsLst>
              <a:gs pos="0">
                <a:srgbClr val="0A1520">
                  <a:alpha val="75000"/>
                </a:srgbClr>
              </a:gs>
              <a:gs pos="100000">
                <a:srgbClr val="0A1520">
                  <a:alpha val="0"/>
                </a:srgbClr>
              </a:gs>
            </a:gsLst>
            <a:lin ang="5400000" scaled="1"/>
            <a:tileRect/>
          </a:gra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 name="Title">
            <a:extLst>
              <a:ext uri="{FF2B5EF4-FFF2-40B4-BE49-F238E27FC236}">
                <a16:creationId xmlns:a16="http://schemas.microsoft.com/office/drawing/2014/main" id="{652CD7D2-A063-4063-5320-E47CD6C42079}"/>
              </a:ext>
            </a:extLst>
          </p:cNvPr>
          <p:cNvSpPr txBox="1"/>
          <p:nvPr/>
        </p:nvSpPr>
        <p:spPr>
          <a:xfrm>
            <a:off x="609600" y="380999"/>
            <a:ext cx="11430000" cy="635000"/>
          </a:xfrm>
          <a:prstGeom prst="rect">
            <a:avLst/>
          </a:prstGeom>
          <a:noFill/>
        </p:spPr>
        <p:txBody>
          <a:bodyPr vert="horz" wrap="square" lIns="0" tIns="0" rIns="0" bIns="0" rtlCol="0">
            <a:noAutofit/>
          </a:bodyPr>
          <a:lstStyle/>
          <a:p>
            <a:r>
              <a:rPr lang="en-SG" sz="3800" b="1">
                <a:solidFill>
                  <a:srgbClr val="F3F6F8"/>
                </a:solidFill>
                <a:latin typeface="Calibri" panose="020F0502020204030204" pitchFamily="34" charset="0"/>
              </a:rPr>
              <a:t>Project progress</a:t>
            </a:r>
          </a:p>
        </p:txBody>
      </p:sp>
      <p:sp>
        <p:nvSpPr>
          <p:cNvPr id="7" name="Subtitle">
            <a:extLst>
              <a:ext uri="{FF2B5EF4-FFF2-40B4-BE49-F238E27FC236}">
                <a16:creationId xmlns:a16="http://schemas.microsoft.com/office/drawing/2014/main" id="{4A872F57-899A-1FA2-23B6-1418EDD7EEAE}"/>
              </a:ext>
            </a:extLst>
          </p:cNvPr>
          <p:cNvSpPr txBox="1"/>
          <p:nvPr/>
        </p:nvSpPr>
        <p:spPr>
          <a:xfrm>
            <a:off x="609600" y="1066799"/>
            <a:ext cx="12700000" cy="330200"/>
          </a:xfrm>
          <a:prstGeom prst="rect">
            <a:avLst/>
          </a:prstGeom>
          <a:noFill/>
        </p:spPr>
        <p:txBody>
          <a:bodyPr vert="horz" wrap="square" lIns="0" tIns="0" rIns="0" bIns="0" rtlCol="0">
            <a:noAutofit/>
          </a:bodyPr>
          <a:lstStyle/>
          <a:p>
            <a:r>
              <a:rPr lang="en-US">
                <a:solidFill>
                  <a:srgbClr val="B3C3CE"/>
                </a:solidFill>
                <a:latin typeface="Calibri" panose="020F0502020204030204" pitchFamily="34" charset="0"/>
              </a:rPr>
              <a:t>The UI and backend harness are in place, and the first car defects model has been trained</a:t>
            </a:r>
            <a:endParaRPr lang="en-SG">
              <a:solidFill>
                <a:srgbClr val="B3C3CE"/>
              </a:solidFill>
              <a:latin typeface="Calibri" panose="020F0502020204030204" pitchFamily="34" charset="0"/>
            </a:endParaRPr>
          </a:p>
        </p:txBody>
      </p:sp>
      <p:sp>
        <p:nvSpPr>
          <p:cNvPr id="8" name="Project">
            <a:extLst>
              <a:ext uri="{FF2B5EF4-FFF2-40B4-BE49-F238E27FC236}">
                <a16:creationId xmlns:a16="http://schemas.microsoft.com/office/drawing/2014/main" id="{03444BDB-B641-43B3-25B3-A3A257F06DE8}"/>
              </a:ext>
            </a:extLst>
          </p:cNvPr>
          <p:cNvSpPr txBox="1"/>
          <p:nvPr/>
        </p:nvSpPr>
        <p:spPr>
          <a:xfrm>
            <a:off x="609600" y="8686800"/>
            <a:ext cx="3810000" cy="228600"/>
          </a:xfrm>
          <a:prstGeom prst="rect">
            <a:avLst/>
          </a:prstGeom>
          <a:noFill/>
        </p:spPr>
        <p:txBody>
          <a:bodyPr vert="horz" wrap="square" lIns="0" tIns="0" rIns="0" bIns="0" rtlCol="0">
            <a:noAutofit/>
          </a:bodyPr>
          <a:lstStyle/>
          <a:p>
            <a:r>
              <a:rPr lang="en-SG" sz="1100" b="1" spc="150">
                <a:solidFill>
                  <a:srgbClr val="8397A5"/>
                </a:solidFill>
                <a:latin typeface="Calibri" panose="020F0502020204030204" pitchFamily="34" charset="0"/>
              </a:rPr>
              <a:t>CLAIM-CMEV</a:t>
            </a:r>
          </a:p>
        </p:txBody>
      </p:sp>
      <p:sp>
        <p:nvSpPr>
          <p:cNvPr id="9" name="Slide number">
            <a:extLst>
              <a:ext uri="{FF2B5EF4-FFF2-40B4-BE49-F238E27FC236}">
                <a16:creationId xmlns:a16="http://schemas.microsoft.com/office/drawing/2014/main" id="{DE22334A-49C6-2165-4CEC-4B21965D0608}"/>
              </a:ext>
            </a:extLst>
          </p:cNvPr>
          <p:cNvSpPr txBox="1"/>
          <p:nvPr/>
        </p:nvSpPr>
        <p:spPr>
          <a:xfrm>
            <a:off x="15113000" y="8661400"/>
            <a:ext cx="533400" cy="254000"/>
          </a:xfrm>
          <a:prstGeom prst="rect">
            <a:avLst/>
          </a:prstGeom>
          <a:noFill/>
        </p:spPr>
        <p:txBody>
          <a:bodyPr vert="horz" wrap="square" lIns="0" tIns="0" rIns="0" bIns="0" rtlCol="0">
            <a:noAutofit/>
          </a:bodyPr>
          <a:lstStyle/>
          <a:p>
            <a:pPr algn="r"/>
            <a:r>
              <a:rPr lang="en-SG" sz="1300">
                <a:solidFill>
                  <a:srgbClr val="8397A5"/>
                </a:solidFill>
                <a:latin typeface="Calibri" panose="020F0502020204030204" pitchFamily="34" charset="0"/>
              </a:rPr>
              <a:t>02</a:t>
            </a:r>
          </a:p>
        </p:txBody>
      </p:sp>
      <p:sp>
        <p:nvSpPr>
          <p:cNvPr id="10" name="Tests stat">
            <a:extLst>
              <a:ext uri="{FF2B5EF4-FFF2-40B4-BE49-F238E27FC236}">
                <a16:creationId xmlns:a16="http://schemas.microsoft.com/office/drawing/2014/main" id="{E2BC33CC-14C1-3DE3-0CAA-F71D81E868BA}"/>
              </a:ext>
            </a:extLst>
          </p:cNvPr>
          <p:cNvSpPr/>
          <p:nvPr/>
        </p:nvSpPr>
        <p:spPr>
          <a:xfrm>
            <a:off x="609600" y="1701800"/>
            <a:ext cx="3175000" cy="1016000"/>
          </a:xfrm>
          <a:prstGeom prst="roundRect">
            <a:avLst>
              <a:gd name="adj" fmla="val 12500"/>
            </a:avLst>
          </a:prstGeom>
          <a:solidFill>
            <a:srgbClr val="0F2231">
              <a:alpha val="82000"/>
            </a:srgbClr>
          </a:solidFill>
          <a:ln w="12700">
            <a:solidFill>
              <a:srgbClr val="3E5566"/>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sts stat value">
            <a:extLst>
              <a:ext uri="{FF2B5EF4-FFF2-40B4-BE49-F238E27FC236}">
                <a16:creationId xmlns:a16="http://schemas.microsoft.com/office/drawing/2014/main" id="{C22548E8-8A86-FA18-1D90-79E66D737DF5}"/>
              </a:ext>
            </a:extLst>
          </p:cNvPr>
          <p:cNvSpPr txBox="1"/>
          <p:nvPr/>
        </p:nvSpPr>
        <p:spPr>
          <a:xfrm>
            <a:off x="838200" y="1803399"/>
            <a:ext cx="2717800" cy="482600"/>
          </a:xfrm>
          <a:prstGeom prst="rect">
            <a:avLst/>
          </a:prstGeom>
          <a:noFill/>
        </p:spPr>
        <p:txBody>
          <a:bodyPr vert="horz" wrap="square" lIns="0" tIns="0" rIns="0" bIns="0" rtlCol="0">
            <a:noAutofit/>
          </a:bodyPr>
          <a:lstStyle/>
          <a:p>
            <a:r>
              <a:rPr lang="en-SG" sz="3000" b="1">
                <a:solidFill>
                  <a:srgbClr val="4FD1C0"/>
                </a:solidFill>
                <a:latin typeface="Calibri" panose="020F0502020204030204" pitchFamily="34" charset="0"/>
              </a:rPr>
              <a:t>1,413</a:t>
            </a:r>
          </a:p>
        </p:txBody>
      </p:sp>
      <p:sp>
        <p:nvSpPr>
          <p:cNvPr id="12" name="Tests stat label">
            <a:extLst>
              <a:ext uri="{FF2B5EF4-FFF2-40B4-BE49-F238E27FC236}">
                <a16:creationId xmlns:a16="http://schemas.microsoft.com/office/drawing/2014/main" id="{E51ECD92-AB00-AEA7-7C13-F9B9B5121A4C}"/>
              </a:ext>
            </a:extLst>
          </p:cNvPr>
          <p:cNvSpPr txBox="1"/>
          <p:nvPr/>
        </p:nvSpPr>
        <p:spPr>
          <a:xfrm>
            <a:off x="838200" y="2285999"/>
            <a:ext cx="2717800" cy="381000"/>
          </a:xfrm>
          <a:prstGeom prst="rect">
            <a:avLst/>
          </a:prstGeom>
          <a:noFill/>
        </p:spPr>
        <p:txBody>
          <a:bodyPr vert="horz" wrap="square" lIns="0" tIns="0" rIns="0" bIns="0" rtlCol="0">
            <a:noAutofit/>
          </a:bodyPr>
          <a:lstStyle/>
          <a:p>
            <a:r>
              <a:rPr lang="en-US" sz="1150">
                <a:solidFill>
                  <a:srgbClr val="B3C3CE"/>
                </a:solidFill>
                <a:latin typeface="Calibri" panose="020F0502020204030204" pitchFamily="34" charset="0"/>
              </a:rPr>
              <a:t>automated tests passing on fixture and synthetic data</a:t>
            </a:r>
            <a:endParaRPr lang="en-SG" sz="1150">
              <a:solidFill>
                <a:srgbClr val="B3C3CE"/>
              </a:solidFill>
              <a:latin typeface="Calibri" panose="020F0502020204030204" pitchFamily="34" charset="0"/>
            </a:endParaRPr>
          </a:p>
        </p:txBody>
      </p:sp>
      <p:sp>
        <p:nvSpPr>
          <p:cNvPr id="13" name="Containers stat">
            <a:extLst>
              <a:ext uri="{FF2B5EF4-FFF2-40B4-BE49-F238E27FC236}">
                <a16:creationId xmlns:a16="http://schemas.microsoft.com/office/drawing/2014/main" id="{6F2A8349-D25F-1F25-2A51-9129BB2E5F73}"/>
              </a:ext>
            </a:extLst>
          </p:cNvPr>
          <p:cNvSpPr/>
          <p:nvPr/>
        </p:nvSpPr>
        <p:spPr>
          <a:xfrm>
            <a:off x="4089400" y="1701800"/>
            <a:ext cx="3175000" cy="1016000"/>
          </a:xfrm>
          <a:prstGeom prst="roundRect">
            <a:avLst>
              <a:gd name="adj" fmla="val 12500"/>
            </a:avLst>
          </a:prstGeom>
          <a:solidFill>
            <a:srgbClr val="0F2231">
              <a:alpha val="82000"/>
            </a:srgbClr>
          </a:solidFill>
          <a:ln w="12700">
            <a:solidFill>
              <a:srgbClr val="3E5566"/>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Containers stat value">
            <a:extLst>
              <a:ext uri="{FF2B5EF4-FFF2-40B4-BE49-F238E27FC236}">
                <a16:creationId xmlns:a16="http://schemas.microsoft.com/office/drawing/2014/main" id="{17FAFE40-A684-00F6-E4BE-6D4AC83FCDF0}"/>
              </a:ext>
            </a:extLst>
          </p:cNvPr>
          <p:cNvSpPr txBox="1"/>
          <p:nvPr/>
        </p:nvSpPr>
        <p:spPr>
          <a:xfrm>
            <a:off x="4318000" y="1803399"/>
            <a:ext cx="2717800" cy="482600"/>
          </a:xfrm>
          <a:prstGeom prst="rect">
            <a:avLst/>
          </a:prstGeom>
          <a:noFill/>
        </p:spPr>
        <p:txBody>
          <a:bodyPr vert="horz" wrap="square" lIns="0" tIns="0" rIns="0" bIns="0" rtlCol="0">
            <a:noAutofit/>
          </a:bodyPr>
          <a:lstStyle/>
          <a:p>
            <a:r>
              <a:rPr lang="en-SG" sz="3000" b="1">
                <a:solidFill>
                  <a:srgbClr val="7AB6EA"/>
                </a:solidFill>
                <a:latin typeface="Calibri" panose="020F0502020204030204" pitchFamily="34" charset="0"/>
              </a:rPr>
              <a:t>9</a:t>
            </a:r>
          </a:p>
        </p:txBody>
      </p:sp>
      <p:sp>
        <p:nvSpPr>
          <p:cNvPr id="15" name="Containers stat label">
            <a:extLst>
              <a:ext uri="{FF2B5EF4-FFF2-40B4-BE49-F238E27FC236}">
                <a16:creationId xmlns:a16="http://schemas.microsoft.com/office/drawing/2014/main" id="{FBD6BC45-A3D5-62D1-0175-41C8894AD905}"/>
              </a:ext>
            </a:extLst>
          </p:cNvPr>
          <p:cNvSpPr txBox="1"/>
          <p:nvPr/>
        </p:nvSpPr>
        <p:spPr>
          <a:xfrm>
            <a:off x="4318000" y="2285999"/>
            <a:ext cx="2717800" cy="381000"/>
          </a:xfrm>
          <a:prstGeom prst="rect">
            <a:avLst/>
          </a:prstGeom>
          <a:noFill/>
        </p:spPr>
        <p:txBody>
          <a:bodyPr vert="horz" wrap="square" lIns="0" tIns="0" rIns="0" bIns="0" rtlCol="0">
            <a:noAutofit/>
          </a:bodyPr>
          <a:lstStyle/>
          <a:p>
            <a:r>
              <a:rPr lang="en-US" sz="1150">
                <a:solidFill>
                  <a:srgbClr val="B3C3CE"/>
                </a:solidFill>
                <a:latin typeface="Calibri" panose="020F0502020204030204" pitchFamily="34" charset="0"/>
              </a:rPr>
              <a:t>containers in the full Compose profile, eight long-running</a:t>
            </a:r>
            <a:endParaRPr lang="en-SG" sz="1150">
              <a:solidFill>
                <a:srgbClr val="B3C3CE"/>
              </a:solidFill>
              <a:latin typeface="Calibri" panose="020F0502020204030204" pitchFamily="34" charset="0"/>
            </a:endParaRPr>
          </a:p>
        </p:txBody>
      </p:sp>
      <p:sp>
        <p:nvSpPr>
          <p:cNvPr id="16" name="Model stat">
            <a:extLst>
              <a:ext uri="{FF2B5EF4-FFF2-40B4-BE49-F238E27FC236}">
                <a16:creationId xmlns:a16="http://schemas.microsoft.com/office/drawing/2014/main" id="{F0FD5562-CD72-2124-E10C-92C7370E6A16}"/>
              </a:ext>
            </a:extLst>
          </p:cNvPr>
          <p:cNvSpPr/>
          <p:nvPr/>
        </p:nvSpPr>
        <p:spPr>
          <a:xfrm>
            <a:off x="7569200" y="1701800"/>
            <a:ext cx="3175000" cy="1016000"/>
          </a:xfrm>
          <a:prstGeom prst="roundRect">
            <a:avLst>
              <a:gd name="adj" fmla="val 12500"/>
            </a:avLst>
          </a:prstGeom>
          <a:solidFill>
            <a:srgbClr val="0F2231">
              <a:alpha val="82000"/>
            </a:srgbClr>
          </a:solidFill>
          <a:ln w="12700">
            <a:solidFill>
              <a:srgbClr val="3E5566"/>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 name="Model stat value">
            <a:extLst>
              <a:ext uri="{FF2B5EF4-FFF2-40B4-BE49-F238E27FC236}">
                <a16:creationId xmlns:a16="http://schemas.microsoft.com/office/drawing/2014/main" id="{6950DDE4-6E96-5C61-44C7-C5EC3AB1DA84}"/>
              </a:ext>
            </a:extLst>
          </p:cNvPr>
          <p:cNvSpPr txBox="1"/>
          <p:nvPr/>
        </p:nvSpPr>
        <p:spPr>
          <a:xfrm>
            <a:off x="7797800" y="1803399"/>
            <a:ext cx="2717800" cy="482600"/>
          </a:xfrm>
          <a:prstGeom prst="rect">
            <a:avLst/>
          </a:prstGeom>
          <a:noFill/>
        </p:spPr>
        <p:txBody>
          <a:bodyPr vert="horz" wrap="square" lIns="0" tIns="0" rIns="0" bIns="0" rtlCol="0">
            <a:noAutofit/>
          </a:bodyPr>
          <a:lstStyle/>
          <a:p>
            <a:r>
              <a:rPr lang="en-SG" sz="3000" b="1">
                <a:solidFill>
                  <a:srgbClr val="F0C46E"/>
                </a:solidFill>
                <a:latin typeface="Calibri" panose="020F0502020204030204" pitchFamily="34" charset="0"/>
              </a:rPr>
              <a:t>1st</a:t>
            </a:r>
          </a:p>
        </p:txBody>
      </p:sp>
      <p:sp>
        <p:nvSpPr>
          <p:cNvPr id="18" name="Model stat label">
            <a:extLst>
              <a:ext uri="{FF2B5EF4-FFF2-40B4-BE49-F238E27FC236}">
                <a16:creationId xmlns:a16="http://schemas.microsoft.com/office/drawing/2014/main" id="{E652B42C-99B4-1BFD-4367-C0931A86B354}"/>
              </a:ext>
            </a:extLst>
          </p:cNvPr>
          <p:cNvSpPr txBox="1"/>
          <p:nvPr/>
        </p:nvSpPr>
        <p:spPr>
          <a:xfrm>
            <a:off x="7797800" y="2285999"/>
            <a:ext cx="2717800" cy="381000"/>
          </a:xfrm>
          <a:prstGeom prst="rect">
            <a:avLst/>
          </a:prstGeom>
          <a:noFill/>
        </p:spPr>
        <p:txBody>
          <a:bodyPr vert="horz" wrap="square" lIns="0" tIns="0" rIns="0" bIns="0" rtlCol="0">
            <a:noAutofit/>
          </a:bodyPr>
          <a:lstStyle/>
          <a:p>
            <a:r>
              <a:rPr lang="en-US" sz="1150">
                <a:solidFill>
                  <a:srgbClr val="B3C3CE"/>
                </a:solidFill>
                <a:latin typeface="Calibri" panose="020F0502020204030204" pitchFamily="34" charset="0"/>
              </a:rPr>
              <a:t>car defects model trained: SegFormer-B2 (team-reported)</a:t>
            </a:r>
            <a:endParaRPr lang="en-SG" sz="1150">
              <a:solidFill>
                <a:srgbClr val="B3C3CE"/>
              </a:solidFill>
              <a:latin typeface="Calibri" panose="020F0502020204030204" pitchFamily="34" charset="0"/>
            </a:endParaRPr>
          </a:p>
        </p:txBody>
      </p:sp>
      <p:sp>
        <p:nvSpPr>
          <p:cNvPr id="19" name="Progress panel">
            <a:extLst>
              <a:ext uri="{FF2B5EF4-FFF2-40B4-BE49-F238E27FC236}">
                <a16:creationId xmlns:a16="http://schemas.microsoft.com/office/drawing/2014/main" id="{BE885439-DABC-16D8-D180-E52994593F3D}"/>
              </a:ext>
            </a:extLst>
          </p:cNvPr>
          <p:cNvSpPr/>
          <p:nvPr/>
        </p:nvSpPr>
        <p:spPr>
          <a:xfrm>
            <a:off x="609600" y="2971800"/>
            <a:ext cx="10134600" cy="5207000"/>
          </a:xfrm>
          <a:prstGeom prst="roundRect">
            <a:avLst>
              <a:gd name="adj" fmla="val 2927"/>
            </a:avLst>
          </a:prstGeom>
          <a:solidFill>
            <a:srgbClr val="0F2231">
              <a:alpha val="86000"/>
            </a:srgbClr>
          </a:solidFill>
          <a:ln w="12700">
            <a:solidFill>
              <a:srgbClr val="3E5566"/>
            </a:solidFill>
          </a:ln>
          <a:effectLst>
            <a:outerShdw blurRad="228600" dist="76200" dir="5400000" rotWithShape="0">
              <a:srgbClr val="000000">
                <a:alpha val="5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 name="Status header">
            <a:extLst>
              <a:ext uri="{FF2B5EF4-FFF2-40B4-BE49-F238E27FC236}">
                <a16:creationId xmlns:a16="http://schemas.microsoft.com/office/drawing/2014/main" id="{84E28B60-1A70-FB77-40E3-2007B9B7FF0B}"/>
              </a:ext>
            </a:extLst>
          </p:cNvPr>
          <p:cNvSpPr txBox="1"/>
          <p:nvPr/>
        </p:nvSpPr>
        <p:spPr>
          <a:xfrm>
            <a:off x="889000" y="3200400"/>
            <a:ext cx="5080000" cy="203200"/>
          </a:xfrm>
          <a:prstGeom prst="rect">
            <a:avLst/>
          </a:prstGeom>
          <a:noFill/>
        </p:spPr>
        <p:txBody>
          <a:bodyPr vert="horz" wrap="square" lIns="0" tIns="0" rIns="0" bIns="0" rtlCol="0">
            <a:noAutofit/>
          </a:bodyPr>
          <a:lstStyle/>
          <a:p>
            <a:r>
              <a:rPr lang="en-SG" sz="1100" b="1" spc="150">
                <a:solidFill>
                  <a:srgbClr val="4FD1C0"/>
                </a:solidFill>
                <a:latin typeface="Calibri" panose="020F0502020204030204" pitchFamily="34" charset="0"/>
              </a:rPr>
              <a:t>COMPLETED AND PLANNED WORK</a:t>
            </a:r>
          </a:p>
        </p:txBody>
      </p:sp>
      <p:sp>
        <p:nvSpPr>
          <p:cNvPr id="21" name="System UI and backend harness status">
            <a:extLst>
              <a:ext uri="{FF2B5EF4-FFF2-40B4-BE49-F238E27FC236}">
                <a16:creationId xmlns:a16="http://schemas.microsoft.com/office/drawing/2014/main" id="{2E0342AD-72F8-4067-E1E7-CAD9E155BD0D}"/>
              </a:ext>
            </a:extLst>
          </p:cNvPr>
          <p:cNvSpPr/>
          <p:nvPr/>
        </p:nvSpPr>
        <p:spPr>
          <a:xfrm>
            <a:off x="889000" y="3581400"/>
            <a:ext cx="1346200" cy="279400"/>
          </a:xfrm>
          <a:prstGeom prst="roundRect">
            <a:avLst>
              <a:gd name="adj" fmla="val 50000"/>
            </a:avLst>
          </a:prstGeom>
          <a:solidFill>
            <a:srgbClr val="4FD1C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SG" sz="1000" b="1" spc="60">
                <a:solidFill>
                  <a:srgbClr val="0A1520"/>
                </a:solidFill>
                <a:latin typeface="Calibri" panose="020F0502020204030204" pitchFamily="34" charset="0"/>
              </a:rPr>
              <a:t>IMPLEMENTED</a:t>
            </a:r>
          </a:p>
        </p:txBody>
      </p:sp>
      <p:sp>
        <p:nvSpPr>
          <p:cNvPr id="22" name="System UI and backend harness heading">
            <a:extLst>
              <a:ext uri="{FF2B5EF4-FFF2-40B4-BE49-F238E27FC236}">
                <a16:creationId xmlns:a16="http://schemas.microsoft.com/office/drawing/2014/main" id="{26618999-D2BC-4055-8285-51EE55EFCF8A}"/>
              </a:ext>
            </a:extLst>
          </p:cNvPr>
          <p:cNvSpPr txBox="1"/>
          <p:nvPr/>
        </p:nvSpPr>
        <p:spPr>
          <a:xfrm>
            <a:off x="2463800" y="3555999"/>
            <a:ext cx="7874000" cy="304800"/>
          </a:xfrm>
          <a:prstGeom prst="rect">
            <a:avLst/>
          </a:prstGeom>
          <a:noFill/>
        </p:spPr>
        <p:txBody>
          <a:bodyPr vert="horz" wrap="square" lIns="0" tIns="0" rIns="0" bIns="0" rtlCol="0">
            <a:noAutofit/>
          </a:bodyPr>
          <a:lstStyle/>
          <a:p>
            <a:r>
              <a:rPr lang="en-US" sz="1700" b="1">
                <a:solidFill>
                  <a:srgbClr val="F3F6F8"/>
                </a:solidFill>
                <a:latin typeface="Calibri" panose="020F0502020204030204" pitchFamily="34" charset="0"/>
              </a:rPr>
              <a:t>System UI and backend harness</a:t>
            </a:r>
            <a:endParaRPr lang="en-SG" sz="1700" b="1">
              <a:solidFill>
                <a:srgbClr val="F3F6F8"/>
              </a:solidFill>
              <a:latin typeface="Calibri" panose="020F0502020204030204" pitchFamily="34" charset="0"/>
            </a:endParaRPr>
          </a:p>
        </p:txBody>
      </p:sp>
      <p:sp>
        <p:nvSpPr>
          <p:cNvPr id="23" name="System UI and backend harness detail">
            <a:extLst>
              <a:ext uri="{FF2B5EF4-FFF2-40B4-BE49-F238E27FC236}">
                <a16:creationId xmlns:a16="http://schemas.microsoft.com/office/drawing/2014/main" id="{A45215C9-6F6C-1FA0-5BFA-0EA63BAF676F}"/>
              </a:ext>
            </a:extLst>
          </p:cNvPr>
          <p:cNvSpPr txBox="1"/>
          <p:nvPr/>
        </p:nvSpPr>
        <p:spPr>
          <a:xfrm>
            <a:off x="2463800" y="3873499"/>
            <a:ext cx="7874000" cy="431800"/>
          </a:xfrm>
          <a:prstGeom prst="rect">
            <a:avLst/>
          </a:prstGeom>
          <a:noFill/>
        </p:spPr>
        <p:txBody>
          <a:bodyPr vert="horz" wrap="square" lIns="0" tIns="0" rIns="0" bIns="0" rtlCol="0">
            <a:noAutofit/>
          </a:bodyPr>
          <a:lstStyle/>
          <a:p>
            <a:r>
              <a:rPr lang="en-US" sz="1250">
                <a:solidFill>
                  <a:srgbClr val="B3C3CE"/>
                </a:solidFill>
                <a:latin typeface="Calibri" panose="020F0502020204030204" pitchFamily="34" charset="0"/>
              </a:rPr>
              <a:t>Upload, review, evidence access and PDF export. API, orchestration, storage and rule checks run on fixtures.</a:t>
            </a:r>
            <a:endParaRPr lang="en-SG" sz="1250">
              <a:solidFill>
                <a:srgbClr val="B3C3CE"/>
              </a:solidFill>
              <a:latin typeface="Calibri" panose="020F0502020204030204" pitchFamily="34" charset="0"/>
            </a:endParaRPr>
          </a:p>
        </p:txBody>
      </p:sp>
      <p:cxnSp>
        <p:nvCxnSpPr>
          <p:cNvPr id="24" name="First car defects model divider">
            <a:extLst>
              <a:ext uri="{FF2B5EF4-FFF2-40B4-BE49-F238E27FC236}">
                <a16:creationId xmlns:a16="http://schemas.microsoft.com/office/drawing/2014/main" id="{1274C010-85EB-99C9-7BD7-ACEA668EBE36}"/>
              </a:ext>
            </a:extLst>
          </p:cNvPr>
          <p:cNvCxnSpPr/>
          <p:nvPr/>
        </p:nvCxnSpPr>
        <p:spPr>
          <a:xfrm>
            <a:off x="889000" y="4343400"/>
            <a:ext cx="9575800" cy="0"/>
          </a:xfrm>
          <a:prstGeom prst="straightConnector1">
            <a:avLst/>
          </a:prstGeom>
          <a:ln w="9525">
            <a:solidFill>
              <a:srgbClr val="2A3F4E"/>
            </a:solidFill>
          </a:ln>
        </p:spPr>
        <p:style>
          <a:lnRef idx="2">
            <a:schemeClr val="accent1"/>
          </a:lnRef>
          <a:fillRef idx="0">
            <a:schemeClr val="accent1"/>
          </a:fillRef>
          <a:effectRef idx="1">
            <a:schemeClr val="accent1"/>
          </a:effectRef>
          <a:fontRef idx="minor">
            <a:schemeClr val="tx1"/>
          </a:fontRef>
        </p:style>
      </p:cxnSp>
      <p:sp>
        <p:nvSpPr>
          <p:cNvPr id="25" name="First car defects model status">
            <a:extLst>
              <a:ext uri="{FF2B5EF4-FFF2-40B4-BE49-F238E27FC236}">
                <a16:creationId xmlns:a16="http://schemas.microsoft.com/office/drawing/2014/main" id="{92370F11-BE76-0106-F034-9AF285183AF8}"/>
              </a:ext>
            </a:extLst>
          </p:cNvPr>
          <p:cNvSpPr/>
          <p:nvPr/>
        </p:nvSpPr>
        <p:spPr>
          <a:xfrm>
            <a:off x="889000" y="4495800"/>
            <a:ext cx="1346200" cy="279400"/>
          </a:xfrm>
          <a:prstGeom prst="roundRect">
            <a:avLst>
              <a:gd name="adj" fmla="val 50000"/>
            </a:avLst>
          </a:prstGeom>
          <a:solidFill>
            <a:srgbClr val="F0C46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SG" sz="1000" b="1" spc="60">
                <a:solidFill>
                  <a:srgbClr val="0A1520"/>
                </a:solidFill>
                <a:latin typeface="Calibri" panose="020F0502020204030204" pitchFamily="34" charset="0"/>
              </a:rPr>
              <a:t>TRAINED</a:t>
            </a:r>
          </a:p>
        </p:txBody>
      </p:sp>
      <p:sp>
        <p:nvSpPr>
          <p:cNvPr id="26" name="First car defects model heading">
            <a:extLst>
              <a:ext uri="{FF2B5EF4-FFF2-40B4-BE49-F238E27FC236}">
                <a16:creationId xmlns:a16="http://schemas.microsoft.com/office/drawing/2014/main" id="{C51A0465-23D9-F283-4CB3-6DD2448A5AF8}"/>
              </a:ext>
            </a:extLst>
          </p:cNvPr>
          <p:cNvSpPr txBox="1"/>
          <p:nvPr/>
        </p:nvSpPr>
        <p:spPr>
          <a:xfrm>
            <a:off x="2463800" y="4470399"/>
            <a:ext cx="7874000" cy="304800"/>
          </a:xfrm>
          <a:prstGeom prst="rect">
            <a:avLst/>
          </a:prstGeom>
          <a:noFill/>
        </p:spPr>
        <p:txBody>
          <a:bodyPr vert="horz" wrap="square" lIns="0" tIns="0" rIns="0" bIns="0" rtlCol="0">
            <a:noAutofit/>
          </a:bodyPr>
          <a:lstStyle/>
          <a:p>
            <a:r>
              <a:rPr lang="en-SG" sz="1700" b="1">
                <a:solidFill>
                  <a:srgbClr val="F3F6F8"/>
                </a:solidFill>
                <a:latin typeface="Calibri" panose="020F0502020204030204" pitchFamily="34" charset="0"/>
              </a:rPr>
              <a:t>First car defects model</a:t>
            </a:r>
          </a:p>
        </p:txBody>
      </p:sp>
      <p:sp>
        <p:nvSpPr>
          <p:cNvPr id="27" name="First car defects model detail">
            <a:extLst>
              <a:ext uri="{FF2B5EF4-FFF2-40B4-BE49-F238E27FC236}">
                <a16:creationId xmlns:a16="http://schemas.microsoft.com/office/drawing/2014/main" id="{66D3060C-757A-8963-FF48-7EA15C76EDD4}"/>
              </a:ext>
            </a:extLst>
          </p:cNvPr>
          <p:cNvSpPr txBox="1"/>
          <p:nvPr/>
        </p:nvSpPr>
        <p:spPr>
          <a:xfrm>
            <a:off x="2463800" y="4787899"/>
            <a:ext cx="7874000" cy="431800"/>
          </a:xfrm>
          <a:prstGeom prst="rect">
            <a:avLst/>
          </a:prstGeom>
          <a:noFill/>
        </p:spPr>
        <p:txBody>
          <a:bodyPr vert="horz" wrap="square" lIns="0" tIns="0" rIns="0" bIns="0" rtlCol="0">
            <a:noAutofit/>
          </a:bodyPr>
          <a:lstStyle/>
          <a:p>
            <a:r>
              <a:rPr lang="en-US" sz="1250">
                <a:solidFill>
                  <a:srgbClr val="B3C3CE"/>
                </a:solidFill>
                <a:latin typeface="Calibri" panose="020F0502020204030204" pitchFamily="34" charset="0"/>
              </a:rPr>
              <a:t>SegFormer-B2 training complete. Evaluation results and runtime integration update to follow.</a:t>
            </a:r>
            <a:endParaRPr lang="en-SG" sz="1250">
              <a:solidFill>
                <a:srgbClr val="B3C3CE"/>
              </a:solidFill>
              <a:latin typeface="Calibri" panose="020F0502020204030204" pitchFamily="34" charset="0"/>
            </a:endParaRPr>
          </a:p>
        </p:txBody>
      </p:sp>
      <p:cxnSp>
        <p:nvCxnSpPr>
          <p:cNvPr id="28" name="Component contracts divider">
            <a:extLst>
              <a:ext uri="{FF2B5EF4-FFF2-40B4-BE49-F238E27FC236}">
                <a16:creationId xmlns:a16="http://schemas.microsoft.com/office/drawing/2014/main" id="{C96C41F6-4E3A-DFBD-BB5F-BE783922B878}"/>
              </a:ext>
            </a:extLst>
          </p:cNvPr>
          <p:cNvCxnSpPr/>
          <p:nvPr/>
        </p:nvCxnSpPr>
        <p:spPr>
          <a:xfrm>
            <a:off x="889000" y="5257800"/>
            <a:ext cx="9575800" cy="0"/>
          </a:xfrm>
          <a:prstGeom prst="straightConnector1">
            <a:avLst/>
          </a:prstGeom>
          <a:ln w="9525">
            <a:solidFill>
              <a:srgbClr val="2A3F4E"/>
            </a:solidFill>
          </a:ln>
        </p:spPr>
        <p:style>
          <a:lnRef idx="2">
            <a:schemeClr val="accent1"/>
          </a:lnRef>
          <a:fillRef idx="0">
            <a:schemeClr val="accent1"/>
          </a:fillRef>
          <a:effectRef idx="1">
            <a:schemeClr val="accent1"/>
          </a:effectRef>
          <a:fontRef idx="minor">
            <a:schemeClr val="tx1"/>
          </a:fontRef>
        </p:style>
      </p:cxnSp>
      <p:sp>
        <p:nvSpPr>
          <p:cNvPr id="29" name="Component contracts status">
            <a:extLst>
              <a:ext uri="{FF2B5EF4-FFF2-40B4-BE49-F238E27FC236}">
                <a16:creationId xmlns:a16="http://schemas.microsoft.com/office/drawing/2014/main" id="{0CBC5053-4392-10F8-1A18-1AB6AE0D52FA}"/>
              </a:ext>
            </a:extLst>
          </p:cNvPr>
          <p:cNvSpPr/>
          <p:nvPr/>
        </p:nvSpPr>
        <p:spPr>
          <a:xfrm>
            <a:off x="889000" y="5410200"/>
            <a:ext cx="1346200" cy="27940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SG" sz="1000" b="1" spc="60">
                <a:solidFill>
                  <a:srgbClr val="7AB6EA"/>
                </a:solidFill>
                <a:latin typeface="Calibri" panose="020F0502020204030204" pitchFamily="34" charset="0"/>
              </a:rPr>
              <a:t>DEFINED</a:t>
            </a:r>
          </a:p>
        </p:txBody>
      </p:sp>
      <p:sp>
        <p:nvSpPr>
          <p:cNvPr id="30" name="Component contracts heading">
            <a:extLst>
              <a:ext uri="{FF2B5EF4-FFF2-40B4-BE49-F238E27FC236}">
                <a16:creationId xmlns:a16="http://schemas.microsoft.com/office/drawing/2014/main" id="{0D07DF97-C0D0-E039-8089-6354B2799877}"/>
              </a:ext>
            </a:extLst>
          </p:cNvPr>
          <p:cNvSpPr txBox="1"/>
          <p:nvPr/>
        </p:nvSpPr>
        <p:spPr>
          <a:xfrm>
            <a:off x="2463800" y="5384799"/>
            <a:ext cx="7874000" cy="304800"/>
          </a:xfrm>
          <a:prstGeom prst="rect">
            <a:avLst/>
          </a:prstGeom>
          <a:noFill/>
        </p:spPr>
        <p:txBody>
          <a:bodyPr vert="horz" wrap="square" lIns="0" tIns="0" rIns="0" bIns="0" rtlCol="0">
            <a:noAutofit/>
          </a:bodyPr>
          <a:lstStyle/>
          <a:p>
            <a:r>
              <a:rPr lang="en-SG" sz="1700" b="1">
                <a:solidFill>
                  <a:srgbClr val="F3F6F8"/>
                </a:solidFill>
                <a:latin typeface="Calibri" panose="020F0502020204030204" pitchFamily="34" charset="0"/>
              </a:rPr>
              <a:t>Component contracts</a:t>
            </a:r>
          </a:p>
        </p:txBody>
      </p:sp>
      <p:sp>
        <p:nvSpPr>
          <p:cNvPr id="31" name="Component contracts detail">
            <a:extLst>
              <a:ext uri="{FF2B5EF4-FFF2-40B4-BE49-F238E27FC236}">
                <a16:creationId xmlns:a16="http://schemas.microsoft.com/office/drawing/2014/main" id="{D8CAB867-29CD-5F5B-8787-042E53661CC7}"/>
              </a:ext>
            </a:extLst>
          </p:cNvPr>
          <p:cNvSpPr txBox="1"/>
          <p:nvPr/>
        </p:nvSpPr>
        <p:spPr>
          <a:xfrm>
            <a:off x="2463800" y="5702299"/>
            <a:ext cx="7874000" cy="431800"/>
          </a:xfrm>
          <a:prstGeom prst="rect">
            <a:avLst/>
          </a:prstGeom>
          <a:noFill/>
        </p:spPr>
        <p:txBody>
          <a:bodyPr vert="horz" wrap="square" lIns="0" tIns="0" rIns="0" bIns="0" rtlCol="0">
            <a:noAutofit/>
          </a:bodyPr>
          <a:lstStyle/>
          <a:p>
            <a:r>
              <a:rPr lang="en-US" sz="1250">
                <a:solidFill>
                  <a:srgbClr val="B3C3CE"/>
                </a:solidFill>
                <a:latin typeface="Calibri" panose="020F0502020204030204" pitchFamily="34" charset="0"/>
              </a:rPr>
              <a:t>Typed records and Kafka events, versioned artifacts, claim revisions and exact monetary values.</a:t>
            </a:r>
            <a:endParaRPr lang="en-SG" sz="1250">
              <a:solidFill>
                <a:srgbClr val="B3C3CE"/>
              </a:solidFill>
              <a:latin typeface="Calibri" panose="020F0502020204030204" pitchFamily="34" charset="0"/>
            </a:endParaRPr>
          </a:p>
        </p:txBody>
      </p:sp>
      <p:cxnSp>
        <p:nvCxnSpPr>
          <p:cNvPr id="32" name="Datasets divider">
            <a:extLst>
              <a:ext uri="{FF2B5EF4-FFF2-40B4-BE49-F238E27FC236}">
                <a16:creationId xmlns:a16="http://schemas.microsoft.com/office/drawing/2014/main" id="{959477C5-E63F-5BCD-5BEC-5CBB41B49FC9}"/>
              </a:ext>
            </a:extLst>
          </p:cNvPr>
          <p:cNvCxnSpPr/>
          <p:nvPr/>
        </p:nvCxnSpPr>
        <p:spPr>
          <a:xfrm>
            <a:off x="889000" y="6172200"/>
            <a:ext cx="9575800" cy="0"/>
          </a:xfrm>
          <a:prstGeom prst="straightConnector1">
            <a:avLst/>
          </a:prstGeom>
          <a:ln w="9525">
            <a:solidFill>
              <a:srgbClr val="2A3F4E"/>
            </a:solidFill>
          </a:ln>
        </p:spPr>
        <p:style>
          <a:lnRef idx="2">
            <a:schemeClr val="accent1"/>
          </a:lnRef>
          <a:fillRef idx="0">
            <a:schemeClr val="accent1"/>
          </a:fillRef>
          <a:effectRef idx="1">
            <a:schemeClr val="accent1"/>
          </a:effectRef>
          <a:fontRef idx="minor">
            <a:schemeClr val="tx1"/>
          </a:fontRef>
        </p:style>
      </p:cxnSp>
      <p:sp>
        <p:nvSpPr>
          <p:cNvPr id="33" name="Datasets status">
            <a:extLst>
              <a:ext uri="{FF2B5EF4-FFF2-40B4-BE49-F238E27FC236}">
                <a16:creationId xmlns:a16="http://schemas.microsoft.com/office/drawing/2014/main" id="{8B66A3E1-5A50-5AD0-9F77-5E55568D816C}"/>
              </a:ext>
            </a:extLst>
          </p:cNvPr>
          <p:cNvSpPr/>
          <p:nvPr/>
        </p:nvSpPr>
        <p:spPr>
          <a:xfrm>
            <a:off x="889000" y="6324600"/>
            <a:ext cx="1346200" cy="279400"/>
          </a:xfrm>
          <a:prstGeom prst="roundRect">
            <a:avLst>
              <a:gd name="adj" fmla="val 50000"/>
            </a:avLst>
          </a:prstGeom>
          <a:solidFill>
            <a:srgbClr val="0A1520">
              <a:alpha val="60000"/>
            </a:srgbClr>
          </a:solidFill>
          <a:ln w="12700">
            <a:solidFill>
              <a:srgbClr val="7AB6EA"/>
            </a:solidFill>
          </a:ln>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SG" sz="1000" b="1" spc="60">
                <a:solidFill>
                  <a:srgbClr val="7AB6EA"/>
                </a:solidFill>
                <a:latin typeface="Calibri" panose="020F0502020204030204" pitchFamily="34" charset="0"/>
              </a:rPr>
              <a:t>IDENTIFIED</a:t>
            </a:r>
          </a:p>
        </p:txBody>
      </p:sp>
      <p:sp>
        <p:nvSpPr>
          <p:cNvPr id="34" name="Datasets heading">
            <a:extLst>
              <a:ext uri="{FF2B5EF4-FFF2-40B4-BE49-F238E27FC236}">
                <a16:creationId xmlns:a16="http://schemas.microsoft.com/office/drawing/2014/main" id="{28CEA457-0508-6BEF-98FC-693CF28B101C}"/>
              </a:ext>
            </a:extLst>
          </p:cNvPr>
          <p:cNvSpPr txBox="1"/>
          <p:nvPr/>
        </p:nvSpPr>
        <p:spPr>
          <a:xfrm>
            <a:off x="2463800" y="6299199"/>
            <a:ext cx="7874000" cy="304800"/>
          </a:xfrm>
          <a:prstGeom prst="rect">
            <a:avLst/>
          </a:prstGeom>
          <a:noFill/>
        </p:spPr>
        <p:txBody>
          <a:bodyPr vert="horz" wrap="square" lIns="0" tIns="0" rIns="0" bIns="0" rtlCol="0">
            <a:noAutofit/>
          </a:bodyPr>
          <a:lstStyle/>
          <a:p>
            <a:r>
              <a:rPr lang="en-SG" sz="1700" b="1">
                <a:solidFill>
                  <a:srgbClr val="F3F6F8"/>
                </a:solidFill>
                <a:latin typeface="Calibri" panose="020F0502020204030204" pitchFamily="34" charset="0"/>
              </a:rPr>
              <a:t>Datasets</a:t>
            </a:r>
          </a:p>
        </p:txBody>
      </p:sp>
      <p:sp>
        <p:nvSpPr>
          <p:cNvPr id="35" name="Datasets detail">
            <a:extLst>
              <a:ext uri="{FF2B5EF4-FFF2-40B4-BE49-F238E27FC236}">
                <a16:creationId xmlns:a16="http://schemas.microsoft.com/office/drawing/2014/main" id="{842F630F-3759-AA5E-E848-5284302FBC9D}"/>
              </a:ext>
            </a:extLst>
          </p:cNvPr>
          <p:cNvSpPr txBox="1"/>
          <p:nvPr/>
        </p:nvSpPr>
        <p:spPr>
          <a:xfrm>
            <a:off x="2463800" y="6616699"/>
            <a:ext cx="7874000" cy="431800"/>
          </a:xfrm>
          <a:prstGeom prst="rect">
            <a:avLst/>
          </a:prstGeom>
          <a:noFill/>
        </p:spPr>
        <p:txBody>
          <a:bodyPr vert="horz" wrap="square" lIns="0" tIns="0" rIns="0" bIns="0" rtlCol="0">
            <a:noAutofit/>
          </a:bodyPr>
          <a:lstStyle/>
          <a:p>
            <a:r>
              <a:rPr lang="en-US" sz="1250">
                <a:solidFill>
                  <a:srgbClr val="B3C3CE"/>
                </a:solidFill>
                <a:latin typeface="Calibri" panose="020F0502020204030204" pitchFamily="34" charset="0"/>
              </a:rPr>
              <a:t>HITL vehicle parts, CarDD damage (access pending), marked estimates and synthetic repair costs.</a:t>
            </a:r>
            <a:endParaRPr lang="en-SG" sz="1250">
              <a:solidFill>
                <a:srgbClr val="B3C3CE"/>
              </a:solidFill>
              <a:latin typeface="Calibri" panose="020F0502020204030204" pitchFamily="34" charset="0"/>
            </a:endParaRPr>
          </a:p>
        </p:txBody>
      </p:sp>
      <p:cxnSp>
        <p:nvCxnSpPr>
          <p:cNvPr id="36" name="Model approach divider">
            <a:extLst>
              <a:ext uri="{FF2B5EF4-FFF2-40B4-BE49-F238E27FC236}">
                <a16:creationId xmlns:a16="http://schemas.microsoft.com/office/drawing/2014/main" id="{34885067-6092-B16F-82C7-8A5CF32D168B}"/>
              </a:ext>
            </a:extLst>
          </p:cNvPr>
          <p:cNvCxnSpPr/>
          <p:nvPr/>
        </p:nvCxnSpPr>
        <p:spPr>
          <a:xfrm>
            <a:off x="889000" y="7086600"/>
            <a:ext cx="9575800" cy="0"/>
          </a:xfrm>
          <a:prstGeom prst="straightConnector1">
            <a:avLst/>
          </a:prstGeom>
          <a:ln w="9525">
            <a:solidFill>
              <a:srgbClr val="2A3F4E"/>
            </a:solidFill>
          </a:ln>
        </p:spPr>
        <p:style>
          <a:lnRef idx="2">
            <a:schemeClr val="accent1"/>
          </a:lnRef>
          <a:fillRef idx="0">
            <a:schemeClr val="accent1"/>
          </a:fillRef>
          <a:effectRef idx="1">
            <a:schemeClr val="accent1"/>
          </a:effectRef>
          <a:fontRef idx="minor">
            <a:schemeClr val="tx1"/>
          </a:fontRef>
        </p:style>
      </p:cxnSp>
      <p:sp>
        <p:nvSpPr>
          <p:cNvPr id="37" name="Model approach status">
            <a:extLst>
              <a:ext uri="{FF2B5EF4-FFF2-40B4-BE49-F238E27FC236}">
                <a16:creationId xmlns:a16="http://schemas.microsoft.com/office/drawing/2014/main" id="{EA1042CA-C7EA-CC91-2F67-8F5F5D492E34}"/>
              </a:ext>
            </a:extLst>
          </p:cNvPr>
          <p:cNvSpPr/>
          <p:nvPr/>
        </p:nvSpPr>
        <p:spPr>
          <a:xfrm>
            <a:off x="889000" y="7239000"/>
            <a:ext cx="1346200" cy="279400"/>
          </a:xfrm>
          <a:prstGeom prst="roundRect">
            <a:avLst>
              <a:gd name="adj" fmla="val 50000"/>
            </a:avLst>
          </a:prstGeom>
          <a:solidFill>
            <a:srgbClr val="0A1520">
              <a:alpha val="60000"/>
            </a:srgbClr>
          </a:solidFill>
          <a:ln w="12700">
            <a:solidFill>
              <a:srgbClr val="B3C3CE"/>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none" lIns="25400" tIns="0" rIns="25400" bIns="0" rtlCol="0" anchor="ctr"/>
          <a:lstStyle/>
          <a:p>
            <a:pPr algn="ctr"/>
            <a:r>
              <a:rPr lang="en-SG" sz="1000" b="1" spc="60">
                <a:solidFill>
                  <a:srgbClr val="B3C3CE"/>
                </a:solidFill>
                <a:latin typeface="Calibri" panose="020F0502020204030204" pitchFamily="34" charset="0"/>
              </a:rPr>
              <a:t>PLANNED</a:t>
            </a:r>
          </a:p>
        </p:txBody>
      </p:sp>
      <p:sp>
        <p:nvSpPr>
          <p:cNvPr id="38" name="Model approach heading">
            <a:extLst>
              <a:ext uri="{FF2B5EF4-FFF2-40B4-BE49-F238E27FC236}">
                <a16:creationId xmlns:a16="http://schemas.microsoft.com/office/drawing/2014/main" id="{9698BF70-7AD1-2BC9-A425-B397954734A6}"/>
              </a:ext>
            </a:extLst>
          </p:cNvPr>
          <p:cNvSpPr txBox="1"/>
          <p:nvPr/>
        </p:nvSpPr>
        <p:spPr>
          <a:xfrm>
            <a:off x="2463800" y="7213599"/>
            <a:ext cx="7874000" cy="304800"/>
          </a:xfrm>
          <a:prstGeom prst="rect">
            <a:avLst/>
          </a:prstGeom>
          <a:noFill/>
        </p:spPr>
        <p:txBody>
          <a:bodyPr vert="horz" wrap="square" lIns="0" tIns="0" rIns="0" bIns="0" rtlCol="0">
            <a:noAutofit/>
          </a:bodyPr>
          <a:lstStyle/>
          <a:p>
            <a:r>
              <a:rPr lang="en-SG" sz="1700" b="1">
                <a:solidFill>
                  <a:srgbClr val="F3F6F8"/>
                </a:solidFill>
                <a:latin typeface="Calibri" panose="020F0502020204030204" pitchFamily="34" charset="0"/>
              </a:rPr>
              <a:t>Model approach</a:t>
            </a:r>
          </a:p>
        </p:txBody>
      </p:sp>
      <p:sp>
        <p:nvSpPr>
          <p:cNvPr id="39" name="Model approach detail">
            <a:extLst>
              <a:ext uri="{FF2B5EF4-FFF2-40B4-BE49-F238E27FC236}">
                <a16:creationId xmlns:a16="http://schemas.microsoft.com/office/drawing/2014/main" id="{4E6C4D07-5163-9BE4-A06C-3E6E74403253}"/>
              </a:ext>
            </a:extLst>
          </p:cNvPr>
          <p:cNvSpPr txBox="1"/>
          <p:nvPr/>
        </p:nvSpPr>
        <p:spPr>
          <a:xfrm>
            <a:off x="2463800" y="7531099"/>
            <a:ext cx="7874000" cy="431800"/>
          </a:xfrm>
          <a:prstGeom prst="rect">
            <a:avLst/>
          </a:prstGeom>
          <a:noFill/>
        </p:spPr>
        <p:txBody>
          <a:bodyPr vert="horz" wrap="square" lIns="0" tIns="0" rIns="0" bIns="0" rtlCol="0">
            <a:noAutofit/>
          </a:bodyPr>
          <a:lstStyle/>
          <a:p>
            <a:r>
              <a:rPr lang="en-US" sz="1250">
                <a:solidFill>
                  <a:srgbClr val="B3C3CE"/>
                </a:solidFill>
                <a:latin typeface="Calibri" panose="020F0502020204030204" pitchFamily="34" charset="0"/>
              </a:rPr>
              <a:t>SegFormer vision, pretrained PaddleOCR, Faster R-CNN pen marks, rule-based line items and offline cost ranges.</a:t>
            </a:r>
            <a:endParaRPr lang="en-SG" sz="1250">
              <a:solidFill>
                <a:srgbClr val="B3C3CE"/>
              </a:solidFill>
              <a:latin typeface="Calibri" panose="020F0502020204030204" pitchFamily="34" charset="0"/>
            </a:endParaRPr>
          </a:p>
        </p:txBody>
      </p:sp>
      <p:sp>
        <p:nvSpPr>
          <p:cNvPr id="55" name="Photo credit">
            <a:extLst>
              <a:ext uri="{FF2B5EF4-FFF2-40B4-BE49-F238E27FC236}">
                <a16:creationId xmlns:a16="http://schemas.microsoft.com/office/drawing/2014/main" id="{996E31A7-93B3-69EF-4EEC-4EBD702D84B5}"/>
              </a:ext>
            </a:extLst>
          </p:cNvPr>
          <p:cNvSpPr txBox="1"/>
          <p:nvPr/>
        </p:nvSpPr>
        <p:spPr>
          <a:xfrm>
            <a:off x="8128000" y="8699500"/>
            <a:ext cx="6604000" cy="203200"/>
          </a:xfrm>
          <a:prstGeom prst="rect">
            <a:avLst/>
          </a:prstGeom>
          <a:noFill/>
        </p:spPr>
        <p:txBody>
          <a:bodyPr vert="horz" wrap="square" lIns="0" tIns="0" rIns="0" bIns="0" rtlCol="0">
            <a:noAutofit/>
          </a:bodyPr>
          <a:lstStyle/>
          <a:p>
            <a:pPr algn="r"/>
            <a:r>
              <a:rPr lang="en-US" sz="950">
                <a:solidFill>
                  <a:srgbClr val="8397A5"/>
                </a:solidFill>
                <a:latin typeface="Calibri" panose="020F0502020204030204" pitchFamily="34" charset="0"/>
              </a:rPr>
              <a:t>Background photo: Scientificranking, Wikimedia Commons, CC BY 4.0 (cropped, greyscale, tinted)</a:t>
            </a:r>
            <a:endParaRPr lang="en-SG" sz="950">
              <a:solidFill>
                <a:srgbClr val="8397A5"/>
              </a:solidFill>
              <a:latin typeface="Calibri" panose="020F0502020204030204" pitchFamily="34" charset="0"/>
            </a:endParaRPr>
          </a:p>
        </p:txBody>
      </p:sp>
      <p:pic>
        <p:nvPicPr>
          <p:cNvPr id="56" name="Picture 55" descr="The image shows a website interface for a car damage claims service, featuring a clear and organized layout for submitting and reviewing evidence such as photographs, estimates, and costs.&#10;&#10;AI-generated content may be incorrect.">
            <a:extLst>
              <a:ext uri="{FF2B5EF4-FFF2-40B4-BE49-F238E27FC236}">
                <a16:creationId xmlns:a16="http://schemas.microsoft.com/office/drawing/2014/main" id="{9D3BF621-7DE8-D9DF-D6F4-AB17A7F69210}"/>
              </a:ext>
            </a:extLst>
          </p:cNvPr>
          <p:cNvPicPr>
            <a:picLocks noChangeAspect="1"/>
          </p:cNvPicPr>
          <p:nvPr/>
        </p:nvPicPr>
        <p:blipFill>
          <a:blip r:embed="rId4"/>
          <a:stretch>
            <a:fillRect/>
          </a:stretch>
        </p:blipFill>
        <p:spPr>
          <a:xfrm>
            <a:off x="11063471" y="380999"/>
            <a:ext cx="4867153" cy="2492028"/>
          </a:xfrm>
          <a:prstGeom prst="rect">
            <a:avLst/>
          </a:prstGeom>
        </p:spPr>
      </p:pic>
      <p:pic>
        <p:nvPicPr>
          <p:cNvPr id="58" name="Picture 57" descr="The image shows a digital dashboard displaying a claims management system, with various tabs and sections for inputting, reviewing, and processing claims, including vehicle details, estimated costs, and inspection results.&#10;&#10;AI-generated content may be incorrect.">
            <a:extLst>
              <a:ext uri="{FF2B5EF4-FFF2-40B4-BE49-F238E27FC236}">
                <a16:creationId xmlns:a16="http://schemas.microsoft.com/office/drawing/2014/main" id="{5135C4F5-3A1D-2947-7237-3C9A72E0DBB7}"/>
              </a:ext>
            </a:extLst>
          </p:cNvPr>
          <p:cNvPicPr>
            <a:picLocks noChangeAspect="1"/>
          </p:cNvPicPr>
          <p:nvPr/>
        </p:nvPicPr>
        <p:blipFill>
          <a:blip r:embed="rId5"/>
          <a:stretch>
            <a:fillRect/>
          </a:stretch>
        </p:blipFill>
        <p:spPr>
          <a:xfrm>
            <a:off x="11063470" y="3022459"/>
            <a:ext cx="4867153" cy="2514740"/>
          </a:xfrm>
          <a:prstGeom prst="rect">
            <a:avLst/>
          </a:prstGeom>
        </p:spPr>
      </p:pic>
      <p:pic>
        <p:nvPicPr>
          <p:cNvPr id="62" name="Picture 61" descr="The image shows a digital dashboard with sections for submitting and managing car insurance claims, including fields for vehicle details, loss date, and evidence files.&#10;&#10;AI-generated content may be incorrect.">
            <a:extLst>
              <a:ext uri="{FF2B5EF4-FFF2-40B4-BE49-F238E27FC236}">
                <a16:creationId xmlns:a16="http://schemas.microsoft.com/office/drawing/2014/main" id="{42A2C33B-90C5-3807-B486-37790D45A936}"/>
              </a:ext>
            </a:extLst>
          </p:cNvPr>
          <p:cNvPicPr>
            <a:picLocks noChangeAspect="1"/>
          </p:cNvPicPr>
          <p:nvPr/>
        </p:nvPicPr>
        <p:blipFill>
          <a:blip r:embed="rId6"/>
          <a:stretch>
            <a:fillRect/>
          </a:stretch>
        </p:blipFill>
        <p:spPr>
          <a:xfrm>
            <a:off x="11063469" y="5781438"/>
            <a:ext cx="4867153" cy="2676762"/>
          </a:xfrm>
          <a:prstGeom prst="rect">
            <a:avLst/>
          </a:prstGeom>
        </p:spPr>
      </p:pic>
    </p:spTree>
    <p:extLst>
      <p:ext uri="{BB962C8B-B14F-4D97-AF65-F5344CB8AC3E}">
        <p14:creationId xmlns:p14="http://schemas.microsoft.com/office/powerpoint/2010/main" val="13101656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1092</Words>
  <Application>Microsoft Office PowerPoint</Application>
  <PresentationFormat>Custom</PresentationFormat>
  <Paragraphs>83</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Calibri</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Rodel Miguel</dc:creator>
  <cp:lastModifiedBy>Rodel Miguel</cp:lastModifiedBy>
  <cp:revision>3</cp:revision>
  <dcterms:created xsi:type="dcterms:W3CDTF">2026-09-27T15:02:57Z</dcterms:created>
  <dcterms:modified xsi:type="dcterms:W3CDTF">2026-09-27T15:17:22Z</dcterms:modified>
</cp:coreProperties>
</file>