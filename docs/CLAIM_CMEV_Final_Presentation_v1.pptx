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71" r:id="rId3"/>
    <p:sldId id="272" r:id="rId4"/>
    <p:sldId id="273" r:id="rId5"/>
    <p:sldId id="274" r:id="rId6"/>
    <p:sldId id="275" r:id="rId7"/>
    <p:sldId id="276" r:id="rId8"/>
    <p:sldId id="277" r:id="rId9"/>
    <p:sldId id="278" r:id="rId10"/>
    <p:sldId id="279" r:id="rId11"/>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1. Opening background (Edwin)" id="{ECE71A9A-353F-46C2-B476-9186C67E2764}">
          <p14:sldIdLst>
            <p14:sldId id="256"/>
            <p14:sldId id="271"/>
          </p14:sldIdLst>
        </p14:section>
        <p14:section name="2. Show interview with industry pain points (Edwin)" id="{8CDBF760-B2F0-4DCD-8B77-FEA074F378F9}">
          <p14:sldIdLst>
            <p14:sldId id="272"/>
          </p14:sldIdLst>
        </p14:section>
        <p14:section name="3. Articulate our architecture (Rodel)" id="{70B2A1BE-5158-4E19-B128-3BC3D0C3E887}">
          <p14:sldIdLst>
            <p14:sldId id="273"/>
            <p14:sldId id="274"/>
          </p14:sldIdLst>
        </p14:section>
        <p14:section name="4. Demo (Yann)" id="{ECA8B0BE-6954-43E8-A195-BA7AA98FA5E0}">
          <p14:sldIdLst>
            <p14:sldId id="275"/>
          </p14:sldIdLst>
        </p14:section>
        <p14:section name="5. Models used (Charlene / Arun)" id="{9B6BDA9B-AFBC-4F4B-A3A7-F7E40DDF2C1C}">
          <p14:sldIdLst>
            <p14:sldId id="276"/>
          </p14:sldIdLst>
        </p14:section>
        <p14:section name="6. Future improvements (Charlene)" id="{5087D429-6CCE-44AE-B56B-4EF691A85365}">
          <p14:sldIdLst>
            <p14:sldId id="277"/>
            <p14:sldId id="278"/>
          </p14:sldIdLst>
        </p14:section>
        <p14:section name="7. Potential applications (Arun)" id="{00FF796A-EB96-4A9F-81E3-8FA23ACD003C}">
          <p14:sldIdLst>
            <p14:sldId id="279"/>
          </p14:sldIdLst>
        </p14:section>
      </p14:sectionLst>
    </p:ex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gRVpREQBgr3kiP4bep3Dxn4yaj0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B018CC4-4E2F-4851-BB80-3E13E182E291}">
  <a:tblStyle styleId="{AB018CC4-4E2F-4851-BB80-3E13E182E291}" styleName="Table_0">
    <a:wholeTbl>
      <a:tcTxStyle b="off" i="off">
        <a:font>
          <a:latin typeface="Arial"/>
          <a:ea typeface="Arial"/>
          <a:cs typeface="Arial"/>
        </a:font>
        <a:schemeClr val="dk1"/>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chemeClr val="accent5"/>
              </a:solidFill>
              <a:prstDash val="solid"/>
              <a:round/>
              <a:headEnd type="none" w="sm" len="sm"/>
              <a:tailEnd type="none" w="sm" len="sm"/>
            </a:ln>
          </a:insideH>
          <a:insideV>
            <a:ln w="9525" cap="flat" cmpd="sng">
              <a:solidFill>
                <a:schemeClr val="accent5"/>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5">
              <a:alpha val="40000"/>
            </a:schemeClr>
          </a:solidFill>
        </a:fill>
      </a:tcStyle>
    </a:band1H>
    <a:band2H>
      <a:tcTxStyle b="off" i="off"/>
      <a:tcStyle>
        <a:tcBdr/>
      </a:tcStyle>
    </a:band2H>
    <a:band1V>
      <a:tcTxStyle b="off" i="off"/>
      <a:tcStyle>
        <a:tcBdr>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tcBdr>
        <a:fill>
          <a:solidFill>
            <a:schemeClr val="accent5">
              <a:alpha val="40000"/>
            </a:schemeClr>
          </a:solidFill>
        </a:fill>
      </a:tcStyle>
    </a:band1V>
    <a:band2V>
      <a:tcTxStyle b="off" i="off"/>
      <a:tcStyle>
        <a:tcBdr/>
      </a:tcStyle>
    </a:band2V>
    <a:lastCol>
      <a:tcTxStyle b="on" i="off"/>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chemeClr val="accent5"/>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chemeClr val="accent5"/>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5"/>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25"/>
    <p:restoredTop sz="90800"/>
  </p:normalViewPr>
  <p:slideViewPr>
    <p:cSldViewPr snapToGrid="0">
      <p:cViewPr varScale="1">
        <p:scale>
          <a:sx n="139" d="100"/>
          <a:sy n="139" d="100"/>
        </p:scale>
        <p:origin x="192" y="312"/>
      </p:cViewPr>
      <p:guideLst/>
    </p:cSldViewPr>
  </p:slideViewPr>
  <p:notesTextViewPr>
    <p:cViewPr>
      <p:scale>
        <a:sx n="1" d="1"/>
        <a:sy n="1" d="1"/>
      </p:scale>
      <p:origin x="0" y="-160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CLAIM-CMEV final presentation v1. Template and cover artwork retained from ACERY_Project_Presentation_v2.pptx. Seven sections follow the team assignment. Only architecture and future improvements contain prepared section content.</a:t>
            </a:r>
          </a:p>
        </p:txBody>
      </p:sp>
      <p:sp>
        <p:nvSpPr>
          <p:cNvPr id="20" name="Google Shape;2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Section 1: Opening background. Presenter: Edwin. Content intentionally left blank for the assigned teammate.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Section 2: Show interview with industry pain points. Presenter: Edwin. Content intentionally left blank for the assigned teammate.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a:t>Architecture updated from slide 7 of the original presentation, checked against current repository code and live-stack overlays (2026-10-23).</a:t>
            </a:r>
          </a:p>
          <a:p>
            <a:r>
              <a:rPr dirty="0"/>
              <a:t>Sources: scripts/live-</a:t>
            </a:r>
            <a:r>
              <a:rPr dirty="0" err="1"/>
              <a:t>stack.sh</a:t>
            </a:r>
            <a:r>
              <a:rPr dirty="0"/>
              <a:t>; infra/compose/docker-</a:t>
            </a:r>
            <a:r>
              <a:rPr dirty="0" err="1"/>
              <a:t>compose.image.yml</a:t>
            </a:r>
            <a:r>
              <a:rPr dirty="0"/>
              <a:t>; infra/compose/docker-</a:t>
            </a:r>
            <a:r>
              <a:rPr dirty="0" err="1"/>
              <a:t>compose.document.yml</a:t>
            </a:r>
            <a:r>
              <a:rPr dirty="0"/>
              <a:t>; </a:t>
            </a:r>
            <a:r>
              <a:rPr dirty="0" err="1"/>
              <a:t>src</a:t>
            </a:r>
            <a:r>
              <a:rPr dirty="0"/>
              <a:t>/</a:t>
            </a:r>
            <a:r>
              <a:rPr dirty="0" err="1"/>
              <a:t>claim_cmev</a:t>
            </a:r>
            <a:r>
              <a:rPr dirty="0"/>
              <a:t>/</a:t>
            </a:r>
            <a:r>
              <a:rPr dirty="0" err="1"/>
              <a:t>worker.py</a:t>
            </a:r>
            <a:r>
              <a:rPr dirty="0"/>
              <a:t>; </a:t>
            </a:r>
            <a:r>
              <a:rPr dirty="0" err="1"/>
              <a:t>src</a:t>
            </a:r>
            <a:r>
              <a:rPr dirty="0"/>
              <a:t>/</a:t>
            </a:r>
            <a:r>
              <a:rPr dirty="0" err="1"/>
              <a:t>claim_cmev</a:t>
            </a:r>
            <a:r>
              <a:rPr dirty="0"/>
              <a:t>/orchestration/</a:t>
            </a:r>
            <a:r>
              <a:rPr dirty="0" err="1"/>
              <a:t>consolidation.py</a:t>
            </a:r>
            <a:r>
              <a:rPr dirty="0"/>
              <a:t>; docs/specs/</a:t>
            </a:r>
            <a:r>
              <a:rPr dirty="0" err="1"/>
              <a:t>application_platform.md</a:t>
            </a:r>
            <a:r>
              <a:rPr dirty="0"/>
              <a:t>; docs/</a:t>
            </a:r>
            <a:r>
              <a:rPr dirty="0" err="1"/>
              <a:t>adr</a:t>
            </a:r>
            <a:r>
              <a:rPr dirty="0"/>
              <a:t>/0002-containerised-event-runtime.md.</a:t>
            </a:r>
          </a:p>
          <a:p>
            <a:r>
              <a:rPr dirty="0"/>
              <a:t>M1/M2 use configured </a:t>
            </a:r>
            <a:r>
              <a:rPr dirty="0" err="1"/>
              <a:t>SegFormer</a:t>
            </a:r>
            <a:r>
              <a:rPr dirty="0"/>
              <a:t> models; M3 is deterministic. M4 is pretrained </a:t>
            </a:r>
            <a:r>
              <a:rPr dirty="0" err="1"/>
              <a:t>PaddleOCR</a:t>
            </a:r>
            <a:r>
              <a:rPr dirty="0"/>
              <a:t>, M5 LayoutLMv3, M6 Faster R-CNN plus geometric linking. M5/M6 remain synthetic-validation candidates. This diagram documents configured architecture, not a new live-stack acceptance test.</a:t>
            </a:r>
          </a:p>
          <a:p>
            <a:r>
              <a:rPr dirty="0"/>
              <a:t>M7 is an offline synthetic reference build and frozen read-only lookup, separate from M6. Human decisions create revisions; final reports use the matching completed assessment and frozen review. The system supports review; it does not automatically settle claims. No LLM participates in decisions.</a:t>
            </a:r>
            <a:endParaRPr lang="en-US" dirty="0"/>
          </a:p>
          <a:p>
            <a:endParaRPr lang="en-SG" dirty="0"/>
          </a:p>
          <a:p>
            <a:r>
              <a:rPr lang="en-SG" dirty="0"/>
              <a:t>Our architecture brings together two sources of claim evidence: vehicle photographs and repair-estimate documents.</a:t>
            </a:r>
          </a:p>
          <a:p>
            <a:r>
              <a:rPr lang="en-SG" dirty="0"/>
              <a:t>The surveyor uploads these through the workbench. The backend records the claim and starts processing through an event-driven workflow.</a:t>
            </a:r>
          </a:p>
          <a:p>
            <a:r>
              <a:rPr lang="en-SG" dirty="0"/>
              <a:t>The photograph branch identifies vehicle parts, detects damage, and groups observations across photographs. The document branch reads the estimate, extracts repair line items, and detects surveyor marks such as exclusions and price changes.</a:t>
            </a:r>
          </a:p>
          <a:p>
            <a:r>
              <a:rPr lang="en-SG" dirty="0"/>
              <a:t>Both branches feed into M8, which applies deterministic rules to compare the declared repair scope with the photographic evidence. It also checks amounts against a pinned reference-cost table built offline by M7. These costs are synthetic benchmarks.</a:t>
            </a:r>
          </a:p>
          <a:p>
            <a:r>
              <a:rPr lang="en-SG" dirty="0"/>
              <a:t>The surveyor then reviews the findings, confirms marks and revised amounts, and produces the final report. Uncertain evidence remains available for human review.</a:t>
            </a:r>
          </a:p>
          <a:p>
            <a:endParaRPr dirty="0"/>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a:t>Updated from slide 8 of ACERY_Project_Presentation_v2.pptx. The old shared fixture producers and planned worker split have been replaced with the configured live topology.</a:t>
            </a:r>
          </a:p>
          <a:p>
            <a:r>
              <a:rPr dirty="0"/>
              <a:t>Deployment: scripts/live-</a:t>
            </a:r>
            <a:r>
              <a:rPr dirty="0" err="1"/>
              <a:t>stack.sh</a:t>
            </a:r>
            <a:r>
              <a:rPr dirty="0"/>
              <a:t> combines the base, image and document Compose overlays with the lean profile. </a:t>
            </a:r>
            <a:r>
              <a:rPr dirty="0" err="1"/>
              <a:t>cmev</a:t>
            </a:r>
            <a:r>
              <a:rPr dirty="0"/>
              <a:t>-worker-combined hosts orchestration and M8; real-stage ownership disables its fixture stage consumers. </a:t>
            </a:r>
            <a:r>
              <a:rPr dirty="0" err="1"/>
              <a:t>cmev</a:t>
            </a:r>
            <a:r>
              <a:rPr dirty="0"/>
              <a:t>-worker-image hosts M1/M2/M3. M4, M5 and M6 run as </a:t>
            </a:r>
            <a:r>
              <a:rPr dirty="0" err="1"/>
              <a:t>cmev</a:t>
            </a:r>
            <a:r>
              <a:rPr dirty="0"/>
              <a:t>-worker-</a:t>
            </a:r>
            <a:r>
              <a:rPr dirty="0" err="1"/>
              <a:t>ocr</a:t>
            </a:r>
            <a:r>
              <a:rPr dirty="0"/>
              <a:t>, </a:t>
            </a:r>
            <a:r>
              <a:rPr dirty="0" err="1"/>
              <a:t>cmev</a:t>
            </a:r>
            <a:r>
              <a:rPr dirty="0"/>
              <a:t>-worker-</a:t>
            </a:r>
            <a:r>
              <a:rPr dirty="0" err="1"/>
              <a:t>lineitems</a:t>
            </a:r>
            <a:r>
              <a:rPr dirty="0"/>
              <a:t> and </a:t>
            </a:r>
            <a:r>
              <a:rPr dirty="0" err="1"/>
              <a:t>cmev</a:t>
            </a:r>
            <a:r>
              <a:rPr dirty="0"/>
              <a:t>-worker-</a:t>
            </a:r>
            <a:r>
              <a:rPr dirty="0" err="1"/>
              <a:t>penmarks</a:t>
            </a:r>
            <a:r>
              <a:rPr dirty="0"/>
              <a:t>. The latter two share the document image but are separate containers. The full orchestration profile may separate orchestrator/consolidator roles; this diagram describes the wrapper's lean topology.</a:t>
            </a:r>
          </a:p>
          <a:p>
            <a:r>
              <a:rPr dirty="0"/>
              <a:t>Sources: infra/compose/docker-</a:t>
            </a:r>
            <a:r>
              <a:rPr dirty="0" err="1"/>
              <a:t>compose.yml</a:t>
            </a:r>
            <a:r>
              <a:rPr dirty="0"/>
              <a:t>; infra/compose/docker-</a:t>
            </a:r>
            <a:r>
              <a:rPr dirty="0" err="1"/>
              <a:t>compose.image.yml</a:t>
            </a:r>
            <a:r>
              <a:rPr dirty="0"/>
              <a:t>; infra/compose/docker-</a:t>
            </a:r>
            <a:r>
              <a:rPr dirty="0" err="1"/>
              <a:t>compose.document.yml</a:t>
            </a:r>
            <a:r>
              <a:rPr dirty="0"/>
              <a:t>; </a:t>
            </a:r>
            <a:r>
              <a:rPr dirty="0" err="1"/>
              <a:t>src</a:t>
            </a:r>
            <a:r>
              <a:rPr dirty="0"/>
              <a:t>/</a:t>
            </a:r>
            <a:r>
              <a:rPr dirty="0" err="1"/>
              <a:t>claim_cmev</a:t>
            </a:r>
            <a:r>
              <a:rPr dirty="0"/>
              <a:t>/</a:t>
            </a:r>
            <a:r>
              <a:rPr dirty="0" err="1"/>
              <a:t>worker.py</a:t>
            </a:r>
            <a:r>
              <a:rPr dirty="0"/>
              <a:t>; </a:t>
            </a:r>
            <a:r>
              <a:rPr dirty="0" err="1"/>
              <a:t>src</a:t>
            </a:r>
            <a:r>
              <a:rPr dirty="0"/>
              <a:t>/</a:t>
            </a:r>
            <a:r>
              <a:rPr dirty="0" err="1"/>
              <a:t>claim_cmev</a:t>
            </a:r>
            <a:r>
              <a:rPr dirty="0"/>
              <a:t>/orchestration/</a:t>
            </a:r>
            <a:r>
              <a:rPr dirty="0" err="1"/>
              <a:t>services.py</a:t>
            </a:r>
            <a:r>
              <a:rPr dirty="0"/>
              <a:t>; configs/models/{</a:t>
            </a:r>
            <a:r>
              <a:rPr dirty="0" err="1"/>
              <a:t>parts,damage,ocr,lineitems,penmarks</a:t>
            </a:r>
            <a:r>
              <a:rPr dirty="0"/>
              <a:t>}.</a:t>
            </a:r>
            <a:r>
              <a:rPr dirty="0" err="1"/>
              <a:t>yaml</a:t>
            </a:r>
            <a:r>
              <a:rPr dirty="0"/>
              <a:t>; configs/costs/</a:t>
            </a:r>
            <a:r>
              <a:rPr dirty="0" err="1"/>
              <a:t>cost_table.yaml</a:t>
            </a:r>
            <a:r>
              <a:rPr dirty="0"/>
              <a:t>.</a:t>
            </a:r>
          </a:p>
          <a:p>
            <a:r>
              <a:rPr dirty="0"/>
              <a:t>Every online handoff uses commands/completion events; branch dependencies remain sequential despite the shared event bus. Shared state is accessed by services as required; the registry is mounted by model workers and cost tables by comparison/API services.</a:t>
            </a:r>
          </a:p>
          <a:p>
            <a:r>
              <a:rPr dirty="0"/>
              <a:t>M7 uses two </a:t>
            </a:r>
            <a:r>
              <a:rPr dirty="0" err="1"/>
              <a:t>LightGBM</a:t>
            </a:r>
            <a:r>
              <a:rPr dirty="0"/>
              <a:t> quantile regressors with conformal calibration offline, trained on synthetic records; M8 reads the frozen range table and runs no pricing model. The architecture has not been retested live during deck preparation. Candidate integration does not demonstrate accuracy on real estimates.</a:t>
            </a:r>
            <a:endParaRPr lang="en-US" dirty="0"/>
          </a:p>
          <a:p>
            <a:endParaRPr lang="en-SG" dirty="0"/>
          </a:p>
          <a:p>
            <a:r>
              <a:rPr lang="en-SG" dirty="0" err="1"/>
              <a:t>echnically</a:t>
            </a:r>
            <a:r>
              <a:rPr lang="en-SG" dirty="0"/>
              <a:t>, the application runs as separate Docker containers.</a:t>
            </a:r>
          </a:p>
          <a:p>
            <a:r>
              <a:rPr lang="en-SG" dirty="0"/>
              <a:t>The frontend uses React, TypeScript and nginx, while </a:t>
            </a:r>
            <a:r>
              <a:rPr lang="en-SG" dirty="0" err="1"/>
              <a:t>FastAPI</a:t>
            </a:r>
            <a:r>
              <a:rPr lang="en-SG" dirty="0"/>
              <a:t> handles uploads and review actions. Kafka, provided by </a:t>
            </a:r>
            <a:r>
              <a:rPr lang="en-SG" dirty="0" err="1"/>
              <a:t>Redpanda</a:t>
            </a:r>
            <a:r>
              <a:rPr lang="en-SG" dirty="0"/>
              <a:t>, carries processing commands and completion events.</a:t>
            </a:r>
          </a:p>
          <a:p>
            <a:r>
              <a:rPr lang="en-SG" dirty="0"/>
              <a:t>For our laptop deployment, one combined worker manages orchestration and consolidation. Photograph processing runs in one image worker, while OCR, line-item extraction and pen-mark detection use three separate document workers.</a:t>
            </a:r>
          </a:p>
          <a:p>
            <a:r>
              <a:rPr lang="en-SG" dirty="0"/>
              <a:t>PostgreSQL stores claim records, revisions and results. </a:t>
            </a:r>
            <a:r>
              <a:rPr lang="en-SG" dirty="0" err="1"/>
              <a:t>MinIO</a:t>
            </a:r>
            <a:r>
              <a:rPr lang="en-SG" dirty="0"/>
              <a:t> stores original evidence and generated files. Workers load versioned model weights from a read-only registry.</a:t>
            </a:r>
          </a:p>
          <a:p>
            <a:r>
              <a:rPr lang="en-SG" dirty="0"/>
              <a:t>This separation lets us update individual models while retaining traceable evidence, processing results and human decisions.</a:t>
            </a:r>
          </a:p>
          <a:p>
            <a:endParaRPr dirty="0"/>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Section 4: Demo. Presenter: Yann. Content intentionally left blank for the assigned teammate.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Section 5: Models used. Presenter: Charlene / Arun. Content intentionally left blank for the assigned teammate.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Section 6 - Future improvements. Presenter: Charlene. Limitations of the project. Text transcribed from the user-provided reference image and recreated as editable PowerPoint text using the original deck template. The supplied wording about ResNet50 evaluation is retained; no additional experiment verification was performed while preparing this presentation. Repair cost ranges in the current project are synthetic references, not validated real-market prices.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Section 6 - Future improvements. Presenter: Charlene. Recommendations for motor insurance applications. Text transcribed from the user-provided reference image and recreated as editable PowerPoint text using the original deck template. The supplied wording about ResNet50 evaluation is retained; no additional experiment verification was performed while preparing this presentation. Repair cost ranges in the current project are synthetic references, not validated real-market prices.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Section 7: Potential applications. Presenter: Arun. Content intentionally left blank for the assigned teammate.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STER">
  <p:cSld name="MASTER">
    <p:bg>
      <p:bgPr>
        <a:solidFill>
          <a:srgbClr val="0A1520"/>
        </a:solidFill>
        <a:effectLst/>
      </p:bgPr>
    </p:bg>
    <p:spTree>
      <p:nvGrpSpPr>
        <p:cNvPr id="1" name="Shape 12"/>
        <p:cNvGrpSpPr/>
        <p:nvPr/>
      </p:nvGrpSpPr>
      <p:grpSpPr>
        <a:xfrm>
          <a:off x="0" y="0"/>
          <a:ext cx="0" cy="0"/>
          <a:chOff x="0" y="0"/>
          <a:chExt cx="0" cy="0"/>
        </a:xfrm>
      </p:grpSpPr>
      <p:sp>
        <p:nvSpPr>
          <p:cNvPr id="1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1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16" name="Google Shape;16;p11"/>
          <p:cNvSpPr txBox="1">
            <a:spLocks noGrp="1"/>
          </p:cNvSpPr>
          <p:nvPr>
            <p:ph type="sldNum" idx="12"/>
          </p:nvPr>
        </p:nvSpPr>
        <p:spPr>
          <a:xfrm>
            <a:off x="11750040" y="6492240"/>
            <a:ext cx="228600" cy="18288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42EF38-226E-D355-9075-F9808E389D44}"/>
              </a:ext>
            </a:extLst>
          </p:cNvPr>
          <p:cNvSpPr>
            <a:spLocks noGrp="1"/>
          </p:cNvSpPr>
          <p:nvPr>
            <p:ph type="dt" sz="half" idx="10"/>
          </p:nvPr>
        </p:nvSpPr>
        <p:spPr/>
        <p:txBody>
          <a:bodyPr/>
          <a:lstStyle/>
          <a:p>
            <a:fld id="{33D6ACD8-DDD6-41B8-A8F7-64F385A183F2}" type="datetimeFigureOut">
              <a:rPr lang="en-SG" smtClean="0"/>
              <a:t>24/10/26</a:t>
            </a:fld>
            <a:endParaRPr lang="en-SG"/>
          </a:p>
        </p:txBody>
      </p:sp>
      <p:sp>
        <p:nvSpPr>
          <p:cNvPr id="3" name="Footer Placeholder 2">
            <a:extLst>
              <a:ext uri="{FF2B5EF4-FFF2-40B4-BE49-F238E27FC236}">
                <a16:creationId xmlns:a16="http://schemas.microsoft.com/office/drawing/2014/main" id="{225E1ADD-910B-DACF-2B14-4A7D76E45074}"/>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7C067104-CDC3-E534-AF76-2277C5D6B913}"/>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39242120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sldNum" idx="12"/>
          </p:nvPr>
        </p:nvSpPr>
        <p:spPr>
          <a:xfrm>
            <a:off x="11750040" y="6492240"/>
            <a:ext cx="228600" cy="18288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Shape 21"/>
        <p:cNvGrpSpPr/>
        <p:nvPr/>
      </p:nvGrpSpPr>
      <p:grpSpPr>
        <a:xfrm>
          <a:off x="0" y="0"/>
          <a:ext cx="0" cy="0"/>
          <a:chOff x="0" y="0"/>
          <a:chExt cx="0" cy="0"/>
        </a:xfrm>
      </p:grpSpPr>
      <p:pic>
        <p:nvPicPr>
          <p:cNvPr id="22" name="Google Shape;22;p1" descr="/mnt/data/5371561c68.png"/>
          <p:cNvPicPr preferRelativeResize="0"/>
          <p:nvPr/>
        </p:nvPicPr>
        <p:blipFill rotWithShape="1">
          <a:blip r:embed="rId3">
            <a:alphaModFix/>
          </a:blip>
          <a:srcRect t="7811" b="7811"/>
          <a:stretch/>
        </p:blipFill>
        <p:spPr>
          <a:xfrm>
            <a:off x="0" y="0"/>
            <a:ext cx="12191695" cy="6858000"/>
          </a:xfrm>
          <a:prstGeom prst="rect">
            <a:avLst/>
          </a:prstGeom>
          <a:noFill/>
          <a:ln>
            <a:noFill/>
          </a:ln>
        </p:spPr>
      </p:pic>
      <p:sp>
        <p:nvSpPr>
          <p:cNvPr id="23" name="Google Shape;23;p1"/>
          <p:cNvSpPr/>
          <p:nvPr/>
        </p:nvSpPr>
        <p:spPr>
          <a:xfrm>
            <a:off x="0" y="0"/>
            <a:ext cx="12191695" cy="6858000"/>
          </a:xfrm>
          <a:prstGeom prst="rect">
            <a:avLst/>
          </a:prstGeom>
          <a:solidFill>
            <a:srgbClr val="0B1F33">
              <a:alpha val="58039"/>
            </a:srgbClr>
          </a:solidFill>
          <a:ln w="12700" cap="flat" cmpd="sng">
            <a:solidFill>
              <a:srgbClr val="0B1F33">
                <a:alpha val="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 name="Google Shape;24;p1"/>
          <p:cNvSpPr/>
          <p:nvPr/>
        </p:nvSpPr>
        <p:spPr>
          <a:xfrm>
            <a:off x="0" y="0"/>
            <a:ext cx="6583680" cy="6858000"/>
          </a:xfrm>
          <a:prstGeom prst="rect">
            <a:avLst/>
          </a:prstGeom>
          <a:solidFill>
            <a:srgbClr val="0B1F33">
              <a:alpha val="92157"/>
            </a:srgbClr>
          </a:solidFill>
          <a:ln w="12700" cap="flat" cmpd="sng">
            <a:solidFill>
              <a:srgbClr val="0B1F33">
                <a:alpha val="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 name="Google Shape;25;p1"/>
          <p:cNvSpPr/>
          <p:nvPr/>
        </p:nvSpPr>
        <p:spPr>
          <a:xfrm>
            <a:off x="594360" y="658368"/>
            <a:ext cx="1874520" cy="320040"/>
          </a:xfrm>
          <a:prstGeom prst="roundRect">
            <a:avLst>
              <a:gd name="adj" fmla="val 17143"/>
            </a:avLst>
          </a:prstGeom>
          <a:solidFill>
            <a:srgbClr val="00A4EF"/>
          </a:solidFill>
          <a:ln w="12700" cap="flat" cmpd="sng">
            <a:solidFill>
              <a:srgbClr val="00A4EF"/>
            </a:solidFill>
            <a:prstDash val="solid"/>
            <a:round/>
            <a:headEnd type="none" w="sm" len="sm"/>
            <a:tailEnd type="none" w="sm" len="sm"/>
          </a:ln>
          <a:effectLst>
            <a:outerShdw blurRad="12700" dist="6350" dir="2700000" algn="bl" rotWithShape="0">
              <a:srgbClr val="000000">
                <a:alpha val="12157"/>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 name="Google Shape;26;p1"/>
          <p:cNvSpPr/>
          <p:nvPr/>
        </p:nvSpPr>
        <p:spPr>
          <a:xfrm>
            <a:off x="667512" y="726948"/>
            <a:ext cx="1728216" cy="1554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en-US" sz="1000" b="1" i="0" u="none" strike="noStrike" cap="none">
                <a:solidFill>
                  <a:srgbClr val="FFFFFF"/>
                </a:solidFill>
                <a:latin typeface="Arial"/>
                <a:ea typeface="Arial"/>
                <a:cs typeface="Arial"/>
                <a:sym typeface="Arial"/>
              </a:rPr>
              <a:t>FINAL PRESENTATION · V1</a:t>
            </a:r>
            <a:endParaRPr sz="1000" b="0" i="0" u="none" strike="noStrike" cap="none">
              <a:solidFill>
                <a:schemeClr val="dk1"/>
              </a:solidFill>
              <a:latin typeface="Arial"/>
              <a:ea typeface="Arial"/>
              <a:cs typeface="Arial"/>
              <a:sym typeface="Arial"/>
            </a:endParaRPr>
          </a:p>
        </p:txBody>
      </p:sp>
      <p:sp>
        <p:nvSpPr>
          <p:cNvPr id="27" name="Google Shape;27;p1"/>
          <p:cNvSpPr/>
          <p:nvPr/>
        </p:nvSpPr>
        <p:spPr>
          <a:xfrm>
            <a:off x="594360" y="1325880"/>
            <a:ext cx="5669280" cy="1051560"/>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FFFFFF"/>
              </a:buClr>
              <a:buSzPts val="3600"/>
              <a:buFont typeface="Arial"/>
              <a:buNone/>
            </a:pPr>
            <a:r>
              <a:rPr lang="en-US" sz="3600" b="1" i="0" u="none" strike="noStrike" cap="none">
                <a:solidFill>
                  <a:srgbClr val="FFFFFF"/>
                </a:solidFill>
                <a:latin typeface="Arial"/>
                <a:ea typeface="Arial"/>
                <a:cs typeface="Arial"/>
                <a:sym typeface="Arial"/>
              </a:rPr>
              <a:t>AI-Based Vehicle Damage Assessment</a:t>
            </a:r>
            <a:endParaRPr sz="3600" b="0" i="0" u="none" strike="noStrike" cap="none">
              <a:solidFill>
                <a:schemeClr val="dk1"/>
              </a:solidFill>
              <a:latin typeface="Arial"/>
              <a:ea typeface="Arial"/>
              <a:cs typeface="Arial"/>
              <a:sym typeface="Arial"/>
            </a:endParaRPr>
          </a:p>
        </p:txBody>
      </p:sp>
      <p:sp>
        <p:nvSpPr>
          <p:cNvPr id="28" name="Google Shape;28;p1"/>
          <p:cNvSpPr/>
          <p:nvPr/>
        </p:nvSpPr>
        <p:spPr>
          <a:xfrm>
            <a:off x="621792" y="2578608"/>
            <a:ext cx="5349240" cy="777240"/>
          </a:xfrm>
          <a:prstGeom prst="rect">
            <a:avLst/>
          </a:prstGeom>
          <a:noFill/>
          <a:ln>
            <a:noFill/>
          </a:ln>
        </p:spPr>
        <p:txBody>
          <a:bodyPr spcFirstLastPara="1" wrap="square" lIns="0" tIns="0" rIns="0" bIns="0" anchor="ctr" anchorCtr="0">
            <a:normAutofit/>
          </a:bodyPr>
          <a:lstStyle/>
          <a:p>
            <a:pPr marL="0" marR="0" lvl="0" indent="0" algn="l" rtl="0">
              <a:lnSpc>
                <a:spcPct val="100000"/>
              </a:lnSpc>
              <a:spcBef>
                <a:spcPts val="0"/>
              </a:spcBef>
              <a:spcAft>
                <a:spcPts val="0"/>
              </a:spcAft>
              <a:buClr>
                <a:schemeClr val="dk1"/>
              </a:buClr>
              <a:buSzPts val="1100"/>
              <a:buFont typeface="Arial"/>
              <a:buNone/>
            </a:pPr>
            <a:r>
              <a:rPr lang="en-US" sz="1500" b="0" i="0" u="none" strike="noStrike" cap="none">
                <a:solidFill>
                  <a:schemeClr val="lt1"/>
                </a:solidFill>
                <a:latin typeface="Times New Roman"/>
                <a:ea typeface="Times New Roman"/>
                <a:cs typeface="Times New Roman"/>
                <a:sym typeface="Times New Roman"/>
              </a:rPr>
              <a:t>Cross-Modal Evidence Verification of Declared Repair Scope Against Photographic Damage Evidence in Motor Own-Damage Claims (CLAIM-CMEV)</a:t>
            </a:r>
            <a:endParaRPr sz="2100" b="0" i="0" u="none" strike="noStrike" cap="none">
              <a:solidFill>
                <a:schemeClr val="lt1"/>
              </a:solidFill>
              <a:latin typeface="Arial"/>
              <a:ea typeface="Arial"/>
              <a:cs typeface="Arial"/>
              <a:sym typeface="Arial"/>
            </a:endParaRPr>
          </a:p>
        </p:txBody>
      </p:sp>
      <p:sp>
        <p:nvSpPr>
          <p:cNvPr id="29" name="Google Shape;29;p1"/>
          <p:cNvSpPr/>
          <p:nvPr/>
        </p:nvSpPr>
        <p:spPr>
          <a:xfrm>
            <a:off x="638997" y="4126106"/>
            <a:ext cx="3608537" cy="158643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A4EF"/>
              </a:buClr>
              <a:buSzPts val="2000"/>
              <a:buFont typeface="Arial"/>
              <a:buNone/>
            </a:pPr>
            <a:r>
              <a:rPr lang="en-US" sz="2000" b="1" i="0" u="none" strike="noStrike" cap="none">
                <a:solidFill>
                  <a:srgbClr val="00A4EF"/>
                </a:solidFill>
                <a:latin typeface="Arial"/>
                <a:ea typeface="Arial"/>
                <a:cs typeface="Arial"/>
                <a:sym typeface="Arial"/>
              </a:rPr>
              <a:t>ACERY (Group 34)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r>
              <a:rPr lang="en-US" sz="1800" b="0" i="1" u="none" strike="noStrike" cap="none">
                <a:solidFill>
                  <a:schemeClr val="lt1"/>
                </a:solidFill>
                <a:latin typeface="Arial"/>
                <a:ea typeface="Arial"/>
                <a:cs typeface="Arial"/>
                <a:sym typeface="Arial"/>
              </a:rPr>
              <a:t>Divakaran Pillai Arunkumar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r>
              <a:rPr lang="en-US" sz="1800" b="0" i="1" u="none" strike="noStrike" cap="none">
                <a:solidFill>
                  <a:schemeClr val="lt1"/>
                </a:solidFill>
                <a:latin typeface="Arial"/>
                <a:ea typeface="Arial"/>
                <a:cs typeface="Arial"/>
                <a:sym typeface="Arial"/>
              </a:rPr>
              <a:t>Lau Lay Khoon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r>
              <a:rPr lang="en-US" sz="1800" b="0" i="1" u="none" strike="noStrike" cap="none">
                <a:solidFill>
                  <a:schemeClr val="lt1"/>
                </a:solidFill>
                <a:latin typeface="Arial"/>
                <a:ea typeface="Arial"/>
                <a:cs typeface="Arial"/>
                <a:sym typeface="Arial"/>
              </a:rPr>
              <a:t>Lim Chong Jen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lt1"/>
                </a:solidFill>
                <a:latin typeface="Arial"/>
                <a:ea typeface="Arial"/>
                <a:cs typeface="Arial"/>
                <a:sym typeface="Arial"/>
              </a:rPr>
              <a:t>Miguel Rodel Felipe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r>
              <a:rPr lang="en-US" sz="1800" b="0" i="1" u="none" strike="noStrike" cap="none">
                <a:solidFill>
                  <a:schemeClr val="lt1"/>
                </a:solidFill>
                <a:latin typeface="Arial"/>
                <a:ea typeface="Arial"/>
                <a:cs typeface="Arial"/>
                <a:sym typeface="Arial"/>
              </a:rPr>
              <a:t>Sun Yan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endParaRPr sz="2000" b="1" i="0" u="none" strike="noStrike" cap="none">
              <a:solidFill>
                <a:srgbClr val="00A4EF"/>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endParaRPr sz="2000" b="0" i="0" u="none" strike="noStrike" cap="none">
              <a:solidFill>
                <a:srgbClr val="000000"/>
              </a:solidFill>
              <a:latin typeface="Arial"/>
              <a:ea typeface="Arial"/>
              <a:cs typeface="Arial"/>
              <a:sym typeface="Arial"/>
            </a:endParaRPr>
          </a:p>
        </p:txBody>
      </p:sp>
      <p:sp>
        <p:nvSpPr>
          <p:cNvPr id="30" name="Google Shape;30;p1"/>
          <p:cNvSpPr/>
          <p:nvPr/>
        </p:nvSpPr>
        <p:spPr>
          <a:xfrm>
            <a:off x="621792" y="6036810"/>
            <a:ext cx="521208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Final project presentation | CLAIM-CMEV</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9006" name="Slide title"/>
          <p:cNvSpPr txBox="1"/>
          <p:nvPr/>
        </p:nvSpPr>
        <p:spPr>
          <a:xfrm>
            <a:off x="530352" y="384048"/>
            <a:ext cx="11082528" cy="438912"/>
          </a:xfrm>
          <a:prstGeom prst="rect">
            <a:avLst/>
          </a:prstGeom>
          <a:noFill/>
        </p:spPr>
        <p:txBody>
          <a:bodyPr wrap="square" lIns="0" tIns="0" rIns="0" bIns="0">
            <a:spAutoFit/>
          </a:bodyPr>
          <a:lstStyle/>
          <a:p>
            <a:pPr algn="l">
              <a:lnSpc>
                <a:spcPct val="105000"/>
              </a:lnSpc>
              <a:spcBef>
                <a:spcPts val="0"/>
              </a:spcBef>
              <a:spcAft>
                <a:spcPts val="0"/>
              </a:spcAft>
            </a:pPr>
            <a:r>
              <a:rPr sz="2600" b="1">
                <a:solidFill>
                  <a:srgbClr val="F3F6F8"/>
                </a:solidFill>
                <a:latin typeface="Arial"/>
              </a:rPr>
              <a:t>Opening background</a:t>
            </a:r>
          </a:p>
        </p:txBody>
      </p:sp>
      <p:sp>
        <p:nvSpPr>
          <p:cNvPr id="9007" name="Section and presenter"/>
          <p:cNvSpPr txBox="1"/>
          <p:nvPr/>
        </p:nvSpPr>
        <p:spPr>
          <a:xfrm>
            <a:off x="548640" y="905256"/>
            <a:ext cx="10881360" cy="265176"/>
          </a:xfrm>
          <a:prstGeom prst="rect">
            <a:avLst/>
          </a:prstGeom>
          <a:noFill/>
        </p:spPr>
        <p:txBody>
          <a:bodyPr wrap="square" lIns="0" tIns="0" rIns="0" bIns="0">
            <a:spAutoFit/>
          </a:bodyPr>
          <a:lstStyle/>
          <a:p>
            <a:pPr algn="l">
              <a:lnSpc>
                <a:spcPct val="105000"/>
              </a:lnSpc>
              <a:spcBef>
                <a:spcPts val="0"/>
              </a:spcBef>
              <a:spcAft>
                <a:spcPts val="0"/>
              </a:spcAft>
            </a:pPr>
            <a:r>
              <a:rPr sz="1600" b="0">
                <a:solidFill>
                  <a:srgbClr val="B3C3CE"/>
                </a:solidFill>
                <a:latin typeface="Arial"/>
              </a:rPr>
              <a:t>Section 1  |  Edwin</a:t>
            </a:r>
          </a:p>
        </p:txBody>
      </p:sp>
      <p:sp>
        <p:nvSpPr>
          <p:cNvPr id="9008" name="TextBox 9007"/>
          <p:cNvSpPr txBox="1"/>
          <p:nvPr/>
        </p:nvSpPr>
        <p:spPr>
          <a:xfrm>
            <a:off x="11731752" y="6492240"/>
            <a:ext cx="274320" cy="182880"/>
          </a:xfrm>
          <a:prstGeom prst="rect">
            <a:avLst/>
          </a:prstGeom>
          <a:noFill/>
        </p:spPr>
        <p:txBody>
          <a:bodyPr wrap="square" lIns="0" tIns="0" rIns="0" bIns="0">
            <a:spAutoFit/>
          </a:bodyPr>
          <a:lstStyle/>
          <a:p>
            <a:pPr algn="r">
              <a:lnSpc>
                <a:spcPct val="105000"/>
              </a:lnSpc>
              <a:spcBef>
                <a:spcPts val="0"/>
              </a:spcBef>
              <a:spcAft>
                <a:spcPts val="0"/>
              </a:spcAft>
            </a:pPr>
            <a:r>
              <a:rPr sz="900" b="0">
                <a:solidFill>
                  <a:srgbClr val="8397A5"/>
                </a:solidFill>
                <a:latin typeface="Arial"/>
              </a:rPr>
              <a:t>2</a:t>
            </a:r>
          </a:p>
        </p:txBody>
      </p:sp>
      <p:sp>
        <p:nvSpPr>
          <p:cNvPr id="9009" name="Blank content placeholder - Edwin"/>
          <p:cNvSpPr txBox="1">
            <a:spLocks noGrp="1"/>
          </p:cNvSpPr>
          <p:nvPr>
            <p:ph type="body" idx="50"/>
          </p:nvPr>
        </p:nvSpPr>
        <p:spPr>
          <a:xfrm>
            <a:off x="594360" y="1508760"/>
            <a:ext cx="10972800" cy="4663440"/>
          </a:xfrm>
          <a:prstGeom prst="rect">
            <a:avLst/>
          </a:prstGeom>
          <a:noFill/>
        </p:spPr>
        <p:txBody>
          <a:bodyPr wrap="square" lIns="0" tIns="0" rIns="0" bIns="0">
            <a:spAutoFit/>
          </a:bodyPr>
          <a:lstStyle/>
          <a:p>
            <a:pPr algn="l">
              <a:lnSpc>
                <a:spcPct val="105000"/>
              </a:lnSpc>
              <a:spcBef>
                <a:spcPts val="0"/>
              </a:spcBef>
              <a:spcAft>
                <a:spcPts val="0"/>
              </a:spcAft>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9006" name="Slide title"/>
          <p:cNvSpPr txBox="1"/>
          <p:nvPr/>
        </p:nvSpPr>
        <p:spPr>
          <a:xfrm>
            <a:off x="530352" y="384048"/>
            <a:ext cx="11082528" cy="438912"/>
          </a:xfrm>
          <a:prstGeom prst="rect">
            <a:avLst/>
          </a:prstGeom>
          <a:noFill/>
        </p:spPr>
        <p:txBody>
          <a:bodyPr wrap="square" lIns="0" tIns="0" rIns="0" bIns="0">
            <a:spAutoFit/>
          </a:bodyPr>
          <a:lstStyle/>
          <a:p>
            <a:pPr algn="l">
              <a:lnSpc>
                <a:spcPct val="105000"/>
              </a:lnSpc>
              <a:spcBef>
                <a:spcPts val="0"/>
              </a:spcBef>
              <a:spcAft>
                <a:spcPts val="0"/>
              </a:spcAft>
            </a:pPr>
            <a:r>
              <a:rPr sz="2600" b="1">
                <a:solidFill>
                  <a:srgbClr val="F3F6F8"/>
                </a:solidFill>
                <a:latin typeface="Arial"/>
              </a:rPr>
              <a:t>Show interview with industry pain points</a:t>
            </a:r>
          </a:p>
        </p:txBody>
      </p:sp>
      <p:sp>
        <p:nvSpPr>
          <p:cNvPr id="9007" name="Section and presenter"/>
          <p:cNvSpPr txBox="1"/>
          <p:nvPr/>
        </p:nvSpPr>
        <p:spPr>
          <a:xfrm>
            <a:off x="548640" y="905256"/>
            <a:ext cx="10881360" cy="265176"/>
          </a:xfrm>
          <a:prstGeom prst="rect">
            <a:avLst/>
          </a:prstGeom>
          <a:noFill/>
        </p:spPr>
        <p:txBody>
          <a:bodyPr wrap="square" lIns="0" tIns="0" rIns="0" bIns="0">
            <a:spAutoFit/>
          </a:bodyPr>
          <a:lstStyle/>
          <a:p>
            <a:pPr algn="l">
              <a:lnSpc>
                <a:spcPct val="105000"/>
              </a:lnSpc>
              <a:spcBef>
                <a:spcPts val="0"/>
              </a:spcBef>
              <a:spcAft>
                <a:spcPts val="0"/>
              </a:spcAft>
            </a:pPr>
            <a:r>
              <a:rPr sz="1600" b="0">
                <a:solidFill>
                  <a:srgbClr val="B3C3CE"/>
                </a:solidFill>
                <a:latin typeface="Arial"/>
              </a:rPr>
              <a:t>Section 2  |  Edwin</a:t>
            </a:r>
          </a:p>
        </p:txBody>
      </p:sp>
      <p:sp>
        <p:nvSpPr>
          <p:cNvPr id="9008" name="TextBox 9007"/>
          <p:cNvSpPr txBox="1"/>
          <p:nvPr/>
        </p:nvSpPr>
        <p:spPr>
          <a:xfrm>
            <a:off x="11731752" y="6492240"/>
            <a:ext cx="274320" cy="182880"/>
          </a:xfrm>
          <a:prstGeom prst="rect">
            <a:avLst/>
          </a:prstGeom>
          <a:noFill/>
        </p:spPr>
        <p:txBody>
          <a:bodyPr wrap="square" lIns="0" tIns="0" rIns="0" bIns="0">
            <a:spAutoFit/>
          </a:bodyPr>
          <a:lstStyle/>
          <a:p>
            <a:pPr algn="r">
              <a:lnSpc>
                <a:spcPct val="105000"/>
              </a:lnSpc>
              <a:spcBef>
                <a:spcPts val="0"/>
              </a:spcBef>
              <a:spcAft>
                <a:spcPts val="0"/>
              </a:spcAft>
            </a:pPr>
            <a:r>
              <a:rPr sz="900" b="0">
                <a:solidFill>
                  <a:srgbClr val="8397A5"/>
                </a:solidFill>
                <a:latin typeface="Arial"/>
              </a:rPr>
              <a:t>3</a:t>
            </a:r>
          </a:p>
        </p:txBody>
      </p:sp>
      <p:sp>
        <p:nvSpPr>
          <p:cNvPr id="9009" name="Blank content placeholder - Edwin"/>
          <p:cNvSpPr txBox="1">
            <a:spLocks noGrp="1"/>
          </p:cNvSpPr>
          <p:nvPr>
            <p:ph type="body" idx="50"/>
          </p:nvPr>
        </p:nvSpPr>
        <p:spPr>
          <a:xfrm>
            <a:off x="594360" y="1508760"/>
            <a:ext cx="10972800" cy="4663440"/>
          </a:xfrm>
          <a:prstGeom prst="rect">
            <a:avLst/>
          </a:prstGeom>
          <a:noFill/>
        </p:spPr>
        <p:txBody>
          <a:bodyPr wrap="square" lIns="0" tIns="0" rIns="0" bIns="0">
            <a:spAutoFit/>
          </a:bodyPr>
          <a:lstStyle/>
          <a:p>
            <a:pPr algn="l">
              <a:lnSpc>
                <a:spcPct val="105000"/>
              </a:lnSpc>
              <a:spcBef>
                <a:spcPts val="0"/>
              </a:spcBef>
              <a:spcAft>
                <a:spcPts val="0"/>
              </a:spcAft>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9006" name="Slide title"/>
          <p:cNvSpPr txBox="1"/>
          <p:nvPr/>
        </p:nvSpPr>
        <p:spPr>
          <a:xfrm>
            <a:off x="530352" y="384048"/>
            <a:ext cx="11082528" cy="438912"/>
          </a:xfrm>
          <a:prstGeom prst="rect">
            <a:avLst/>
          </a:prstGeom>
          <a:noFill/>
        </p:spPr>
        <p:txBody>
          <a:bodyPr wrap="square" lIns="0" tIns="0" rIns="0" bIns="0">
            <a:spAutoFit/>
          </a:bodyPr>
          <a:lstStyle/>
          <a:p>
            <a:pPr algn="l">
              <a:lnSpc>
                <a:spcPct val="105000"/>
              </a:lnSpc>
              <a:spcBef>
                <a:spcPts val="0"/>
              </a:spcBef>
              <a:spcAft>
                <a:spcPts val="0"/>
              </a:spcAft>
            </a:pPr>
            <a:r>
              <a:rPr sz="2600" b="1">
                <a:solidFill>
                  <a:srgbClr val="F3F6F8"/>
                </a:solidFill>
                <a:latin typeface="Arial"/>
              </a:rPr>
              <a:t>High-level system architecture</a:t>
            </a:r>
          </a:p>
        </p:txBody>
      </p:sp>
      <p:sp>
        <p:nvSpPr>
          <p:cNvPr id="9007" name="Section and presenter"/>
          <p:cNvSpPr txBox="1"/>
          <p:nvPr/>
        </p:nvSpPr>
        <p:spPr>
          <a:xfrm>
            <a:off x="548640" y="905256"/>
            <a:ext cx="10881360" cy="265176"/>
          </a:xfrm>
          <a:prstGeom prst="rect">
            <a:avLst/>
          </a:prstGeom>
          <a:noFill/>
        </p:spPr>
        <p:txBody>
          <a:bodyPr wrap="square" lIns="0" tIns="0" rIns="0" bIns="0">
            <a:spAutoFit/>
          </a:bodyPr>
          <a:lstStyle/>
          <a:p>
            <a:pPr algn="l">
              <a:lnSpc>
                <a:spcPct val="105000"/>
              </a:lnSpc>
              <a:spcBef>
                <a:spcPts val="0"/>
              </a:spcBef>
              <a:spcAft>
                <a:spcPts val="0"/>
              </a:spcAft>
            </a:pPr>
            <a:r>
              <a:rPr sz="1600" b="0">
                <a:solidFill>
                  <a:srgbClr val="B3C3CE"/>
                </a:solidFill>
                <a:latin typeface="Arial"/>
              </a:rPr>
              <a:t>Section 3  |  Rodel</a:t>
            </a:r>
          </a:p>
        </p:txBody>
      </p:sp>
      <p:sp>
        <p:nvSpPr>
          <p:cNvPr id="9008" name="TextBox 9007"/>
          <p:cNvSpPr txBox="1"/>
          <p:nvPr/>
        </p:nvSpPr>
        <p:spPr>
          <a:xfrm>
            <a:off x="11731752" y="6492240"/>
            <a:ext cx="274320" cy="182880"/>
          </a:xfrm>
          <a:prstGeom prst="rect">
            <a:avLst/>
          </a:prstGeom>
          <a:noFill/>
        </p:spPr>
        <p:txBody>
          <a:bodyPr wrap="square" lIns="0" tIns="0" rIns="0" bIns="0">
            <a:spAutoFit/>
          </a:bodyPr>
          <a:lstStyle/>
          <a:p>
            <a:pPr algn="r">
              <a:lnSpc>
                <a:spcPct val="105000"/>
              </a:lnSpc>
              <a:spcBef>
                <a:spcPts val="0"/>
              </a:spcBef>
              <a:spcAft>
                <a:spcPts val="0"/>
              </a:spcAft>
            </a:pPr>
            <a:r>
              <a:rPr sz="900" b="0">
                <a:solidFill>
                  <a:srgbClr val="8397A5"/>
                </a:solidFill>
                <a:latin typeface="Arial"/>
              </a:rPr>
              <a:t>4</a:t>
            </a:r>
          </a:p>
        </p:txBody>
      </p:sp>
      <p:sp>
        <p:nvSpPr>
          <p:cNvPr id="9009" name="Surveyor workbench card"/>
          <p:cNvSpPr/>
          <p:nvPr/>
        </p:nvSpPr>
        <p:spPr>
          <a:xfrm>
            <a:off x="548640" y="1444752"/>
            <a:ext cx="2697480" cy="850392"/>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0" name="TextBox 9009"/>
          <p:cNvSpPr txBox="1"/>
          <p:nvPr/>
        </p:nvSpPr>
        <p:spPr>
          <a:xfrm>
            <a:off x="694944" y="1554480"/>
            <a:ext cx="2404872" cy="283464"/>
          </a:xfrm>
          <a:prstGeom prst="rect">
            <a:avLst/>
          </a:prstGeom>
          <a:noFill/>
        </p:spPr>
        <p:txBody>
          <a:bodyPr wrap="square" lIns="0" tIns="0" rIns="0" bIns="0">
            <a:spAutoFit/>
          </a:bodyPr>
          <a:lstStyle/>
          <a:p>
            <a:pPr algn="l">
              <a:lnSpc>
                <a:spcPct val="105000"/>
              </a:lnSpc>
              <a:spcBef>
                <a:spcPts val="0"/>
              </a:spcBef>
              <a:spcAft>
                <a:spcPts val="0"/>
              </a:spcAft>
            </a:pPr>
            <a:r>
              <a:rPr sz="1600" b="1">
                <a:solidFill>
                  <a:srgbClr val="F3F6F8"/>
                </a:solidFill>
                <a:latin typeface="Arial"/>
              </a:rPr>
              <a:t>Surveyor workbench</a:t>
            </a:r>
          </a:p>
        </p:txBody>
      </p:sp>
      <p:sp>
        <p:nvSpPr>
          <p:cNvPr id="9011" name="TextBox 9010"/>
          <p:cNvSpPr txBox="1"/>
          <p:nvPr/>
        </p:nvSpPr>
        <p:spPr>
          <a:xfrm>
            <a:off x="694944" y="1883664"/>
            <a:ext cx="2404872" cy="347472"/>
          </a:xfrm>
          <a:prstGeom prst="rect">
            <a:avLst/>
          </a:prstGeom>
          <a:noFill/>
        </p:spPr>
        <p:txBody>
          <a:bodyPr wrap="square" lIns="0" tIns="0" rIns="0" bIns="0">
            <a:spAutoFit/>
          </a:bodyPr>
          <a:lstStyle/>
          <a:p>
            <a:pPr algn="l">
              <a:lnSpc>
                <a:spcPct val="105000"/>
              </a:lnSpc>
              <a:spcBef>
                <a:spcPts val="0"/>
              </a:spcBef>
              <a:spcAft>
                <a:spcPts val="0"/>
              </a:spcAft>
            </a:pPr>
            <a:r>
              <a:rPr sz="1300" b="0">
                <a:solidFill>
                  <a:srgbClr val="B3C3CE"/>
                </a:solidFill>
                <a:latin typeface="Arial"/>
              </a:rPr>
              <a:t>M9 · Upload and review evidence</a:t>
            </a:r>
          </a:p>
        </p:txBody>
      </p:sp>
      <p:sp>
        <p:nvSpPr>
          <p:cNvPr id="9012" name="Backend API card"/>
          <p:cNvSpPr/>
          <p:nvPr/>
        </p:nvSpPr>
        <p:spPr>
          <a:xfrm>
            <a:off x="3657600" y="1444752"/>
            <a:ext cx="2852928" cy="850392"/>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3" name="TextBox 9012"/>
          <p:cNvSpPr txBox="1"/>
          <p:nvPr/>
        </p:nvSpPr>
        <p:spPr>
          <a:xfrm>
            <a:off x="3803904" y="1554480"/>
            <a:ext cx="2560320" cy="283464"/>
          </a:xfrm>
          <a:prstGeom prst="rect">
            <a:avLst/>
          </a:prstGeom>
          <a:noFill/>
        </p:spPr>
        <p:txBody>
          <a:bodyPr wrap="square" lIns="0" tIns="0" rIns="0" bIns="0">
            <a:spAutoFit/>
          </a:bodyPr>
          <a:lstStyle/>
          <a:p>
            <a:pPr algn="l">
              <a:lnSpc>
                <a:spcPct val="105000"/>
              </a:lnSpc>
              <a:spcBef>
                <a:spcPts val="0"/>
              </a:spcBef>
              <a:spcAft>
                <a:spcPts val="0"/>
              </a:spcAft>
            </a:pPr>
            <a:r>
              <a:rPr sz="1700" b="1">
                <a:solidFill>
                  <a:srgbClr val="F3F6F8"/>
                </a:solidFill>
                <a:latin typeface="Arial"/>
              </a:rPr>
              <a:t>Backend API</a:t>
            </a:r>
          </a:p>
        </p:txBody>
      </p:sp>
      <p:sp>
        <p:nvSpPr>
          <p:cNvPr id="9014" name="TextBox 9013"/>
          <p:cNvSpPr txBox="1"/>
          <p:nvPr/>
        </p:nvSpPr>
        <p:spPr>
          <a:xfrm>
            <a:off x="3803904" y="1883664"/>
            <a:ext cx="2560320" cy="347472"/>
          </a:xfrm>
          <a:prstGeom prst="rect">
            <a:avLst/>
          </a:prstGeom>
          <a:noFill/>
        </p:spPr>
        <p:txBody>
          <a:bodyPr wrap="square" lIns="0" tIns="0" rIns="0" bIns="0">
            <a:spAutoFit/>
          </a:bodyPr>
          <a:lstStyle/>
          <a:p>
            <a:pPr algn="l">
              <a:lnSpc>
                <a:spcPct val="105000"/>
              </a:lnSpc>
              <a:spcBef>
                <a:spcPts val="0"/>
              </a:spcBef>
              <a:spcAft>
                <a:spcPts val="0"/>
              </a:spcAft>
            </a:pPr>
            <a:r>
              <a:rPr sz="1300" b="0">
                <a:solidFill>
                  <a:srgbClr val="B3C3CE"/>
                </a:solidFill>
                <a:latin typeface="Arial"/>
              </a:rPr>
              <a:t>Intake · revisions · review actions</a:t>
            </a:r>
          </a:p>
        </p:txBody>
      </p:sp>
      <p:sp>
        <p:nvSpPr>
          <p:cNvPr id="9015" name="Event-driven orchestration card"/>
          <p:cNvSpPr/>
          <p:nvPr/>
        </p:nvSpPr>
        <p:spPr>
          <a:xfrm>
            <a:off x="6949440" y="1444752"/>
            <a:ext cx="4690872" cy="850392"/>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6" name="TextBox 9015"/>
          <p:cNvSpPr txBox="1"/>
          <p:nvPr/>
        </p:nvSpPr>
        <p:spPr>
          <a:xfrm>
            <a:off x="7095744" y="1554480"/>
            <a:ext cx="4398264" cy="283464"/>
          </a:xfrm>
          <a:prstGeom prst="rect">
            <a:avLst/>
          </a:prstGeom>
          <a:noFill/>
        </p:spPr>
        <p:txBody>
          <a:bodyPr wrap="square" lIns="0" tIns="0" rIns="0" bIns="0">
            <a:spAutoFit/>
          </a:bodyPr>
          <a:lstStyle/>
          <a:p>
            <a:pPr algn="l">
              <a:lnSpc>
                <a:spcPct val="105000"/>
              </a:lnSpc>
              <a:spcBef>
                <a:spcPts val="0"/>
              </a:spcBef>
              <a:spcAft>
                <a:spcPts val="0"/>
              </a:spcAft>
            </a:pPr>
            <a:r>
              <a:rPr sz="1700" b="1">
                <a:solidFill>
                  <a:srgbClr val="F3F6F8"/>
                </a:solidFill>
                <a:latin typeface="Arial"/>
              </a:rPr>
              <a:t>Event-driven orchestration</a:t>
            </a:r>
          </a:p>
        </p:txBody>
      </p:sp>
      <p:sp>
        <p:nvSpPr>
          <p:cNvPr id="9017" name="TextBox 9016"/>
          <p:cNvSpPr txBox="1"/>
          <p:nvPr/>
        </p:nvSpPr>
        <p:spPr>
          <a:xfrm>
            <a:off x="7095744" y="1883664"/>
            <a:ext cx="4398264" cy="347472"/>
          </a:xfrm>
          <a:prstGeom prst="rect">
            <a:avLst/>
          </a:prstGeom>
          <a:noFill/>
        </p:spPr>
        <p:txBody>
          <a:bodyPr wrap="square" lIns="0" tIns="0" rIns="0" bIns="0">
            <a:spAutoFit/>
          </a:bodyPr>
          <a:lstStyle/>
          <a:p>
            <a:pPr algn="l">
              <a:lnSpc>
                <a:spcPct val="105000"/>
              </a:lnSpc>
              <a:spcBef>
                <a:spcPts val="0"/>
              </a:spcBef>
              <a:spcAft>
                <a:spcPts val="0"/>
              </a:spcAft>
            </a:pPr>
            <a:r>
              <a:rPr sz="1400" b="0">
                <a:solidFill>
                  <a:srgbClr val="B3C3CE"/>
                </a:solidFill>
                <a:latin typeface="Arial"/>
              </a:rPr>
              <a:t>Kafka commands, stage chaining and branch joins</a:t>
            </a:r>
          </a:p>
        </p:txBody>
      </p:sp>
      <p:cxnSp>
        <p:nvCxnSpPr>
          <p:cNvPr id="9018" name="Connector 9017"/>
          <p:cNvCxnSpPr/>
          <p:nvPr/>
        </p:nvCxnSpPr>
        <p:spPr>
          <a:xfrm>
            <a:off x="3246120" y="1865376"/>
            <a:ext cx="411480" cy="0"/>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019" name="Connector 9018"/>
          <p:cNvCxnSpPr/>
          <p:nvPr/>
        </p:nvCxnSpPr>
        <p:spPr>
          <a:xfrm>
            <a:off x="6510528" y="1865376"/>
            <a:ext cx="438912" cy="0"/>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020" name="Connector 9019"/>
          <p:cNvCxnSpPr/>
          <p:nvPr/>
        </p:nvCxnSpPr>
        <p:spPr>
          <a:xfrm>
            <a:off x="9281160" y="2295144"/>
            <a:ext cx="0" cy="201168"/>
          </a:xfrm>
          <a:prstGeom prst="line">
            <a:avLst/>
          </a:prstGeom>
          <a:ln w="19050">
            <a:solidFill>
              <a:srgbClr val="4FD1C0"/>
            </a:solidFill>
          </a:ln>
        </p:spPr>
        <p:style>
          <a:lnRef idx="2">
            <a:schemeClr val="accent1"/>
          </a:lnRef>
          <a:fillRef idx="0">
            <a:schemeClr val="accent1"/>
          </a:fillRef>
          <a:effectRef idx="1">
            <a:schemeClr val="accent1"/>
          </a:effectRef>
          <a:fontRef idx="minor">
            <a:schemeClr val="tx1"/>
          </a:fontRef>
        </p:style>
      </p:cxnSp>
      <p:cxnSp>
        <p:nvCxnSpPr>
          <p:cNvPr id="9021" name="Connector 9020"/>
          <p:cNvCxnSpPr/>
          <p:nvPr/>
        </p:nvCxnSpPr>
        <p:spPr>
          <a:xfrm flipH="1">
            <a:off x="3246120" y="2496312"/>
            <a:ext cx="6035040" cy="0"/>
          </a:xfrm>
          <a:prstGeom prst="line">
            <a:avLst/>
          </a:prstGeom>
          <a:ln w="19050">
            <a:solidFill>
              <a:srgbClr val="4FD1C0"/>
            </a:solidFill>
          </a:ln>
        </p:spPr>
        <p:style>
          <a:lnRef idx="2">
            <a:schemeClr val="accent1"/>
          </a:lnRef>
          <a:fillRef idx="0">
            <a:schemeClr val="accent1"/>
          </a:fillRef>
          <a:effectRef idx="1">
            <a:schemeClr val="accent1"/>
          </a:effectRef>
          <a:fontRef idx="minor">
            <a:schemeClr val="tx1"/>
          </a:fontRef>
        </p:style>
      </p:cxnSp>
      <p:cxnSp>
        <p:nvCxnSpPr>
          <p:cNvPr id="9022" name="Connector 9021"/>
          <p:cNvCxnSpPr/>
          <p:nvPr/>
        </p:nvCxnSpPr>
        <p:spPr>
          <a:xfrm>
            <a:off x="3246120" y="2496312"/>
            <a:ext cx="0" cy="228600"/>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023" name="Connector 9022"/>
          <p:cNvCxnSpPr/>
          <p:nvPr/>
        </p:nvCxnSpPr>
        <p:spPr>
          <a:xfrm flipH="1">
            <a:off x="347472" y="2496312"/>
            <a:ext cx="2898648" cy="0"/>
          </a:xfrm>
          <a:prstGeom prst="line">
            <a:avLst/>
          </a:prstGeom>
          <a:ln w="19050">
            <a:solidFill>
              <a:srgbClr val="4FD1C0"/>
            </a:solidFill>
          </a:ln>
        </p:spPr>
        <p:style>
          <a:lnRef idx="2">
            <a:schemeClr val="accent1"/>
          </a:lnRef>
          <a:fillRef idx="0">
            <a:schemeClr val="accent1"/>
          </a:fillRef>
          <a:effectRef idx="1">
            <a:schemeClr val="accent1"/>
          </a:effectRef>
          <a:fontRef idx="minor">
            <a:schemeClr val="tx1"/>
          </a:fontRef>
        </p:style>
      </p:cxnSp>
      <p:cxnSp>
        <p:nvCxnSpPr>
          <p:cNvPr id="9024" name="Connector 9023"/>
          <p:cNvCxnSpPr/>
          <p:nvPr/>
        </p:nvCxnSpPr>
        <p:spPr>
          <a:xfrm>
            <a:off x="347472" y="2496312"/>
            <a:ext cx="0" cy="1847088"/>
          </a:xfrm>
          <a:prstGeom prst="line">
            <a:avLst/>
          </a:prstGeom>
          <a:ln w="19050">
            <a:solidFill>
              <a:srgbClr val="4FD1C0"/>
            </a:solidFill>
          </a:ln>
        </p:spPr>
        <p:style>
          <a:lnRef idx="2">
            <a:schemeClr val="accent1"/>
          </a:lnRef>
          <a:fillRef idx="0">
            <a:schemeClr val="accent1"/>
          </a:fillRef>
          <a:effectRef idx="1">
            <a:schemeClr val="accent1"/>
          </a:effectRef>
          <a:fontRef idx="minor">
            <a:schemeClr val="tx1"/>
          </a:fontRef>
        </p:style>
      </p:cxnSp>
      <p:cxnSp>
        <p:nvCxnSpPr>
          <p:cNvPr id="9025" name="Connector 9024"/>
          <p:cNvCxnSpPr/>
          <p:nvPr/>
        </p:nvCxnSpPr>
        <p:spPr>
          <a:xfrm>
            <a:off x="347472" y="4343400"/>
            <a:ext cx="201168" cy="0"/>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sp>
        <p:nvSpPr>
          <p:cNvPr id="9026" name="Photograph branch · M1 → M2 → M3 card"/>
          <p:cNvSpPr/>
          <p:nvPr/>
        </p:nvSpPr>
        <p:spPr>
          <a:xfrm>
            <a:off x="548640" y="2724912"/>
            <a:ext cx="5513832" cy="1005840"/>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27" name="TextBox 9026"/>
          <p:cNvSpPr txBox="1"/>
          <p:nvPr/>
        </p:nvSpPr>
        <p:spPr>
          <a:xfrm>
            <a:off x="694944" y="2834640"/>
            <a:ext cx="5221224" cy="283464"/>
          </a:xfrm>
          <a:prstGeom prst="rect">
            <a:avLst/>
          </a:prstGeom>
          <a:noFill/>
        </p:spPr>
        <p:txBody>
          <a:bodyPr wrap="square" lIns="0" tIns="0" rIns="0" bIns="0">
            <a:spAutoFit/>
          </a:bodyPr>
          <a:lstStyle/>
          <a:p>
            <a:pPr algn="l">
              <a:lnSpc>
                <a:spcPct val="105000"/>
              </a:lnSpc>
              <a:spcBef>
                <a:spcPts val="0"/>
              </a:spcBef>
              <a:spcAft>
                <a:spcPts val="0"/>
              </a:spcAft>
            </a:pPr>
            <a:r>
              <a:rPr sz="1800" b="1">
                <a:solidFill>
                  <a:srgbClr val="F3F6F8"/>
                </a:solidFill>
                <a:latin typeface="Arial"/>
              </a:rPr>
              <a:t>Photograph branch · M1 → M2 → M3</a:t>
            </a:r>
          </a:p>
        </p:txBody>
      </p:sp>
      <p:sp>
        <p:nvSpPr>
          <p:cNvPr id="9028" name="TextBox 9027"/>
          <p:cNvSpPr txBox="1"/>
          <p:nvPr/>
        </p:nvSpPr>
        <p:spPr>
          <a:xfrm>
            <a:off x="694944" y="3163824"/>
            <a:ext cx="5221224" cy="502920"/>
          </a:xfrm>
          <a:prstGeom prst="rect">
            <a:avLst/>
          </a:prstGeom>
          <a:noFill/>
        </p:spPr>
        <p:txBody>
          <a:bodyPr wrap="square" lIns="0" tIns="0" rIns="0" bIns="0">
            <a:spAutoFit/>
          </a:bodyPr>
          <a:lstStyle/>
          <a:p>
            <a:pPr algn="l">
              <a:lnSpc>
                <a:spcPct val="105000"/>
              </a:lnSpc>
              <a:spcBef>
                <a:spcPts val="0"/>
              </a:spcBef>
              <a:spcAft>
                <a:spcPts val="0"/>
              </a:spcAft>
            </a:pPr>
            <a:r>
              <a:rPr sz="1500" b="0">
                <a:solidFill>
                  <a:srgbClr val="B3C3CE"/>
                </a:solidFill>
                <a:latin typeface="Arial"/>
              </a:rPr>
              <a:t>Vehicle parts → damage-to-part matching</a:t>
            </a:r>
          </a:p>
          <a:p>
            <a:pPr algn="l">
              <a:lnSpc>
                <a:spcPct val="105000"/>
              </a:lnSpc>
              <a:spcBef>
                <a:spcPts val="0"/>
              </a:spcBef>
              <a:spcAft>
                <a:spcPts val="0"/>
              </a:spcAft>
            </a:pPr>
            <a:r>
              <a:rPr sz="1500" b="0">
                <a:solidFill>
                  <a:srgbClr val="B3C3CE"/>
                </a:solidFill>
                <a:latin typeface="Arial"/>
              </a:rPr>
              <a:t>→ grouped observations and coverage</a:t>
            </a:r>
          </a:p>
        </p:txBody>
      </p:sp>
      <p:sp>
        <p:nvSpPr>
          <p:cNvPr id="9029" name="Document branch · M4 → M5 → M6 card"/>
          <p:cNvSpPr/>
          <p:nvPr/>
        </p:nvSpPr>
        <p:spPr>
          <a:xfrm>
            <a:off x="548640" y="3913632"/>
            <a:ext cx="5513832" cy="1005840"/>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30" name="TextBox 9029"/>
          <p:cNvSpPr txBox="1"/>
          <p:nvPr/>
        </p:nvSpPr>
        <p:spPr>
          <a:xfrm>
            <a:off x="694944" y="4023360"/>
            <a:ext cx="5221224" cy="283464"/>
          </a:xfrm>
          <a:prstGeom prst="rect">
            <a:avLst/>
          </a:prstGeom>
          <a:noFill/>
        </p:spPr>
        <p:txBody>
          <a:bodyPr wrap="square" lIns="0" tIns="0" rIns="0" bIns="0">
            <a:spAutoFit/>
          </a:bodyPr>
          <a:lstStyle/>
          <a:p>
            <a:pPr algn="l">
              <a:lnSpc>
                <a:spcPct val="105000"/>
              </a:lnSpc>
              <a:spcBef>
                <a:spcPts val="0"/>
              </a:spcBef>
              <a:spcAft>
                <a:spcPts val="0"/>
              </a:spcAft>
            </a:pPr>
            <a:r>
              <a:rPr sz="1800" b="1">
                <a:solidFill>
                  <a:srgbClr val="F3F6F8"/>
                </a:solidFill>
                <a:latin typeface="Arial"/>
              </a:rPr>
              <a:t>Document branch · M4 → M5 → M6</a:t>
            </a:r>
          </a:p>
        </p:txBody>
      </p:sp>
      <p:sp>
        <p:nvSpPr>
          <p:cNvPr id="9031" name="TextBox 9030"/>
          <p:cNvSpPr txBox="1"/>
          <p:nvPr/>
        </p:nvSpPr>
        <p:spPr>
          <a:xfrm>
            <a:off x="694944" y="4352544"/>
            <a:ext cx="5221224" cy="502920"/>
          </a:xfrm>
          <a:prstGeom prst="rect">
            <a:avLst/>
          </a:prstGeom>
          <a:noFill/>
        </p:spPr>
        <p:txBody>
          <a:bodyPr wrap="square" lIns="0" tIns="0" rIns="0" bIns="0">
            <a:spAutoFit/>
          </a:bodyPr>
          <a:lstStyle/>
          <a:p>
            <a:pPr algn="l">
              <a:lnSpc>
                <a:spcPct val="105000"/>
              </a:lnSpc>
              <a:spcBef>
                <a:spcPts val="0"/>
              </a:spcBef>
              <a:spcAft>
                <a:spcPts val="0"/>
              </a:spcAft>
            </a:pPr>
            <a:r>
              <a:rPr sz="1500" b="0">
                <a:solidFill>
                  <a:srgbClr val="B3C3CE"/>
                </a:solidFill>
                <a:latin typeface="Arial"/>
              </a:rPr>
              <a:t>OCR → structured line items</a:t>
            </a:r>
          </a:p>
          <a:p>
            <a:pPr algn="l">
              <a:lnSpc>
                <a:spcPct val="105000"/>
              </a:lnSpc>
              <a:spcBef>
                <a:spcPts val="0"/>
              </a:spcBef>
              <a:spcAft>
                <a:spcPts val="0"/>
              </a:spcAft>
            </a:pPr>
            <a:r>
              <a:rPr sz="1500" b="0">
                <a:solidFill>
                  <a:srgbClr val="B3C3CE"/>
                </a:solidFill>
                <a:latin typeface="Arial"/>
              </a:rPr>
              <a:t>→ pen-mark detection and row linking</a:t>
            </a:r>
          </a:p>
        </p:txBody>
      </p:sp>
      <p:cxnSp>
        <p:nvCxnSpPr>
          <p:cNvPr id="9032" name="Connector 9031"/>
          <p:cNvCxnSpPr/>
          <p:nvPr/>
        </p:nvCxnSpPr>
        <p:spPr>
          <a:xfrm>
            <a:off x="6062472" y="3227832"/>
            <a:ext cx="292608" cy="0"/>
          </a:xfrm>
          <a:prstGeom prst="line">
            <a:avLst/>
          </a:prstGeom>
          <a:ln w="19050">
            <a:solidFill>
              <a:srgbClr val="4FD1C0"/>
            </a:solidFill>
          </a:ln>
        </p:spPr>
        <p:style>
          <a:lnRef idx="2">
            <a:schemeClr val="accent1"/>
          </a:lnRef>
          <a:fillRef idx="0">
            <a:schemeClr val="accent1"/>
          </a:fillRef>
          <a:effectRef idx="1">
            <a:schemeClr val="accent1"/>
          </a:effectRef>
          <a:fontRef idx="minor">
            <a:schemeClr val="tx1"/>
          </a:fontRef>
        </p:style>
      </p:cxnSp>
      <p:cxnSp>
        <p:nvCxnSpPr>
          <p:cNvPr id="9033" name="Connector 9032"/>
          <p:cNvCxnSpPr/>
          <p:nvPr/>
        </p:nvCxnSpPr>
        <p:spPr>
          <a:xfrm>
            <a:off x="6355080" y="3227832"/>
            <a:ext cx="0" cy="557783"/>
          </a:xfrm>
          <a:prstGeom prst="line">
            <a:avLst/>
          </a:prstGeom>
          <a:ln w="19050">
            <a:solidFill>
              <a:srgbClr val="4FD1C0"/>
            </a:solidFill>
          </a:ln>
        </p:spPr>
        <p:style>
          <a:lnRef idx="2">
            <a:schemeClr val="accent1"/>
          </a:lnRef>
          <a:fillRef idx="0">
            <a:schemeClr val="accent1"/>
          </a:fillRef>
          <a:effectRef idx="1">
            <a:schemeClr val="accent1"/>
          </a:effectRef>
          <a:fontRef idx="minor">
            <a:schemeClr val="tx1"/>
          </a:fontRef>
        </p:style>
      </p:cxnSp>
      <p:cxnSp>
        <p:nvCxnSpPr>
          <p:cNvPr id="9034" name="Connector 9033"/>
          <p:cNvCxnSpPr/>
          <p:nvPr/>
        </p:nvCxnSpPr>
        <p:spPr>
          <a:xfrm>
            <a:off x="6355080" y="3785615"/>
            <a:ext cx="274320" cy="0"/>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035" name="Connector 9034"/>
          <p:cNvCxnSpPr/>
          <p:nvPr/>
        </p:nvCxnSpPr>
        <p:spPr>
          <a:xfrm>
            <a:off x="6062472" y="4416552"/>
            <a:ext cx="292608" cy="0"/>
          </a:xfrm>
          <a:prstGeom prst="line">
            <a:avLst/>
          </a:prstGeom>
          <a:ln w="19050">
            <a:solidFill>
              <a:srgbClr val="4FD1C0"/>
            </a:solidFill>
          </a:ln>
        </p:spPr>
        <p:style>
          <a:lnRef idx="2">
            <a:schemeClr val="accent1"/>
          </a:lnRef>
          <a:fillRef idx="0">
            <a:schemeClr val="accent1"/>
          </a:fillRef>
          <a:effectRef idx="1">
            <a:schemeClr val="accent1"/>
          </a:effectRef>
          <a:fontRef idx="minor">
            <a:schemeClr val="tx1"/>
          </a:fontRef>
        </p:style>
      </p:cxnSp>
      <p:cxnSp>
        <p:nvCxnSpPr>
          <p:cNvPr id="9036" name="Connector 9035"/>
          <p:cNvCxnSpPr/>
          <p:nvPr/>
        </p:nvCxnSpPr>
        <p:spPr>
          <a:xfrm flipV="1">
            <a:off x="6355080" y="3785615"/>
            <a:ext cx="0" cy="630937"/>
          </a:xfrm>
          <a:prstGeom prst="line">
            <a:avLst/>
          </a:prstGeom>
          <a:ln w="19050">
            <a:solidFill>
              <a:srgbClr val="4FD1C0"/>
            </a:solidFill>
          </a:ln>
        </p:spPr>
        <p:style>
          <a:lnRef idx="2">
            <a:schemeClr val="accent1"/>
          </a:lnRef>
          <a:fillRef idx="0">
            <a:schemeClr val="accent1"/>
          </a:fillRef>
          <a:effectRef idx="1">
            <a:schemeClr val="accent1"/>
          </a:effectRef>
          <a:fontRef idx="minor">
            <a:schemeClr val="tx1"/>
          </a:fontRef>
        </p:style>
      </p:cxnSp>
      <p:sp>
        <p:nvSpPr>
          <p:cNvPr id="9037" name="M8 · Checks card"/>
          <p:cNvSpPr/>
          <p:nvPr/>
        </p:nvSpPr>
        <p:spPr>
          <a:xfrm>
            <a:off x="6629400" y="3099816"/>
            <a:ext cx="2221992" cy="1353312"/>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38" name="TextBox 9037"/>
          <p:cNvSpPr txBox="1"/>
          <p:nvPr/>
        </p:nvSpPr>
        <p:spPr>
          <a:xfrm>
            <a:off x="6775704" y="3209544"/>
            <a:ext cx="1929384" cy="283464"/>
          </a:xfrm>
          <a:prstGeom prst="rect">
            <a:avLst/>
          </a:prstGeom>
          <a:noFill/>
        </p:spPr>
        <p:txBody>
          <a:bodyPr wrap="square" lIns="0" tIns="0" rIns="0" bIns="0">
            <a:spAutoFit/>
          </a:bodyPr>
          <a:lstStyle/>
          <a:p>
            <a:pPr algn="l">
              <a:lnSpc>
                <a:spcPct val="105000"/>
              </a:lnSpc>
              <a:spcBef>
                <a:spcPts val="0"/>
              </a:spcBef>
              <a:spcAft>
                <a:spcPts val="0"/>
              </a:spcAft>
            </a:pPr>
            <a:r>
              <a:rPr sz="1800" b="1">
                <a:solidFill>
                  <a:srgbClr val="F3F6F8"/>
                </a:solidFill>
                <a:latin typeface="Arial"/>
              </a:rPr>
              <a:t>M8 · Checks</a:t>
            </a:r>
          </a:p>
        </p:txBody>
      </p:sp>
      <p:sp>
        <p:nvSpPr>
          <p:cNvPr id="9039" name="TextBox 9038"/>
          <p:cNvSpPr txBox="1"/>
          <p:nvPr/>
        </p:nvSpPr>
        <p:spPr>
          <a:xfrm>
            <a:off x="6775704" y="3538728"/>
            <a:ext cx="1929384" cy="850392"/>
          </a:xfrm>
          <a:prstGeom prst="rect">
            <a:avLst/>
          </a:prstGeom>
          <a:noFill/>
        </p:spPr>
        <p:txBody>
          <a:bodyPr wrap="square" lIns="0" tIns="0" rIns="0" bIns="0">
            <a:spAutoFit/>
          </a:bodyPr>
          <a:lstStyle/>
          <a:p>
            <a:pPr algn="l">
              <a:lnSpc>
                <a:spcPct val="105000"/>
              </a:lnSpc>
              <a:spcBef>
                <a:spcPts val="0"/>
              </a:spcBef>
              <a:spcAft>
                <a:spcPts val="0"/>
              </a:spcAft>
            </a:pPr>
            <a:r>
              <a:rPr sz="1500" b="0">
                <a:solidFill>
                  <a:srgbClr val="B3C3CE"/>
                </a:solidFill>
                <a:latin typeface="Arial"/>
              </a:rPr>
              <a:t>Deterministic rules</a:t>
            </a:r>
          </a:p>
          <a:p>
            <a:pPr algn="l">
              <a:lnSpc>
                <a:spcPct val="105000"/>
              </a:lnSpc>
              <a:spcBef>
                <a:spcPts val="0"/>
              </a:spcBef>
              <a:spcAft>
                <a:spcPts val="0"/>
              </a:spcAft>
            </a:pPr>
            <a:r>
              <a:rPr sz="1500" b="0">
                <a:solidFill>
                  <a:srgbClr val="B3C3CE"/>
                </a:solidFill>
                <a:latin typeface="Arial"/>
              </a:rPr>
              <a:t>Evidence + cost ranges</a:t>
            </a:r>
          </a:p>
        </p:txBody>
      </p:sp>
      <p:sp>
        <p:nvSpPr>
          <p:cNvPr id="9040" name="M9 · Review card"/>
          <p:cNvSpPr/>
          <p:nvPr/>
        </p:nvSpPr>
        <p:spPr>
          <a:xfrm>
            <a:off x="9326880" y="3099816"/>
            <a:ext cx="2313432" cy="1353312"/>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1" name="TextBox 9040"/>
          <p:cNvSpPr txBox="1"/>
          <p:nvPr/>
        </p:nvSpPr>
        <p:spPr>
          <a:xfrm>
            <a:off x="9473184" y="3209544"/>
            <a:ext cx="2020824" cy="283464"/>
          </a:xfrm>
          <a:prstGeom prst="rect">
            <a:avLst/>
          </a:prstGeom>
          <a:noFill/>
        </p:spPr>
        <p:txBody>
          <a:bodyPr wrap="square" lIns="0" tIns="0" rIns="0" bIns="0">
            <a:spAutoFit/>
          </a:bodyPr>
          <a:lstStyle/>
          <a:p>
            <a:pPr algn="l">
              <a:lnSpc>
                <a:spcPct val="105000"/>
              </a:lnSpc>
              <a:spcBef>
                <a:spcPts val="0"/>
              </a:spcBef>
              <a:spcAft>
                <a:spcPts val="0"/>
              </a:spcAft>
            </a:pPr>
            <a:r>
              <a:rPr sz="1800" b="1">
                <a:solidFill>
                  <a:srgbClr val="F3F6F8"/>
                </a:solidFill>
                <a:latin typeface="Arial"/>
              </a:rPr>
              <a:t>M9 · Review</a:t>
            </a:r>
          </a:p>
        </p:txBody>
      </p:sp>
      <p:sp>
        <p:nvSpPr>
          <p:cNvPr id="9042" name="TextBox 9041"/>
          <p:cNvSpPr txBox="1"/>
          <p:nvPr/>
        </p:nvSpPr>
        <p:spPr>
          <a:xfrm>
            <a:off x="9473184" y="3538728"/>
            <a:ext cx="2020824" cy="850392"/>
          </a:xfrm>
          <a:prstGeom prst="rect">
            <a:avLst/>
          </a:prstGeom>
          <a:noFill/>
        </p:spPr>
        <p:txBody>
          <a:bodyPr wrap="square" lIns="0" tIns="0" rIns="0" bIns="0">
            <a:spAutoFit/>
          </a:bodyPr>
          <a:lstStyle/>
          <a:p>
            <a:pPr algn="l">
              <a:lnSpc>
                <a:spcPct val="105000"/>
              </a:lnSpc>
              <a:spcBef>
                <a:spcPts val="0"/>
              </a:spcBef>
              <a:spcAft>
                <a:spcPts val="0"/>
              </a:spcAft>
            </a:pPr>
            <a:r>
              <a:rPr sz="1500" b="0">
                <a:solidFill>
                  <a:srgbClr val="B3C3CE"/>
                </a:solidFill>
                <a:latin typeface="Arial"/>
              </a:rPr>
              <a:t>Human confirmation</a:t>
            </a:r>
          </a:p>
          <a:p>
            <a:pPr algn="l">
              <a:lnSpc>
                <a:spcPct val="105000"/>
              </a:lnSpc>
              <a:spcBef>
                <a:spcPts val="0"/>
              </a:spcBef>
              <a:spcAft>
                <a:spcPts val="0"/>
              </a:spcAft>
            </a:pPr>
            <a:r>
              <a:rPr sz="1500" b="0">
                <a:solidFill>
                  <a:srgbClr val="B3C3CE"/>
                </a:solidFill>
                <a:latin typeface="Arial"/>
              </a:rPr>
              <a:t>Frozen report / PDF</a:t>
            </a:r>
          </a:p>
        </p:txBody>
      </p:sp>
      <p:cxnSp>
        <p:nvCxnSpPr>
          <p:cNvPr id="9043" name="Connector 9042"/>
          <p:cNvCxnSpPr/>
          <p:nvPr/>
        </p:nvCxnSpPr>
        <p:spPr>
          <a:xfrm>
            <a:off x="8851392" y="3785615"/>
            <a:ext cx="475488" cy="0"/>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044" name="Connector 9043"/>
          <p:cNvCxnSpPr/>
          <p:nvPr/>
        </p:nvCxnSpPr>
        <p:spPr>
          <a:xfrm flipV="1">
            <a:off x="9857232" y="5120640"/>
            <a:ext cx="0" cy="310896"/>
          </a:xfrm>
          <a:prstGeom prst="line">
            <a:avLst/>
          </a:prstGeom>
          <a:ln w="19050">
            <a:solidFill>
              <a:srgbClr val="7AB6EA"/>
            </a:solidFill>
          </a:ln>
        </p:spPr>
        <p:style>
          <a:lnRef idx="2">
            <a:schemeClr val="accent1"/>
          </a:lnRef>
          <a:fillRef idx="0">
            <a:schemeClr val="accent1"/>
          </a:fillRef>
          <a:effectRef idx="1">
            <a:schemeClr val="accent1"/>
          </a:effectRef>
          <a:fontRef idx="minor">
            <a:schemeClr val="tx1"/>
          </a:fontRef>
        </p:style>
      </p:cxnSp>
      <p:cxnSp>
        <p:nvCxnSpPr>
          <p:cNvPr id="9045" name="Connector 9044"/>
          <p:cNvCxnSpPr/>
          <p:nvPr/>
        </p:nvCxnSpPr>
        <p:spPr>
          <a:xfrm flipH="1">
            <a:off x="7735824" y="5120640"/>
            <a:ext cx="2121408" cy="0"/>
          </a:xfrm>
          <a:prstGeom prst="line">
            <a:avLst/>
          </a:prstGeom>
          <a:ln w="19050">
            <a:solidFill>
              <a:srgbClr val="7AB6EA"/>
            </a:solidFill>
          </a:ln>
        </p:spPr>
        <p:style>
          <a:lnRef idx="2">
            <a:schemeClr val="accent1"/>
          </a:lnRef>
          <a:fillRef idx="0">
            <a:schemeClr val="accent1"/>
          </a:fillRef>
          <a:effectRef idx="1">
            <a:schemeClr val="accent1"/>
          </a:effectRef>
          <a:fontRef idx="minor">
            <a:schemeClr val="tx1"/>
          </a:fontRef>
        </p:style>
      </p:cxnSp>
      <p:cxnSp>
        <p:nvCxnSpPr>
          <p:cNvPr id="9046" name="Connector 9045"/>
          <p:cNvCxnSpPr/>
          <p:nvPr/>
        </p:nvCxnSpPr>
        <p:spPr>
          <a:xfrm flipV="1">
            <a:off x="7735824" y="4453128"/>
            <a:ext cx="0" cy="667512"/>
          </a:xfrm>
          <a:prstGeom prst="line">
            <a:avLst/>
          </a:prstGeom>
          <a:ln w="19050">
            <a:solidFill>
              <a:srgbClr val="7AB6EA"/>
            </a:solidFill>
            <a:tailEnd type="triangle" w="sm" len="sm"/>
          </a:ln>
        </p:spPr>
        <p:style>
          <a:lnRef idx="2">
            <a:schemeClr val="accent1"/>
          </a:lnRef>
          <a:fillRef idx="0">
            <a:schemeClr val="accent1"/>
          </a:fillRef>
          <a:effectRef idx="1">
            <a:schemeClr val="accent1"/>
          </a:effectRef>
          <a:fontRef idx="minor">
            <a:schemeClr val="tx1"/>
          </a:fontRef>
        </p:style>
      </p:cxnSp>
      <p:sp>
        <p:nvSpPr>
          <p:cNvPr id="9047" name="TextBox 9046"/>
          <p:cNvSpPr txBox="1"/>
          <p:nvPr/>
        </p:nvSpPr>
        <p:spPr>
          <a:xfrm>
            <a:off x="576072" y="5138928"/>
            <a:ext cx="7269480" cy="192024"/>
          </a:xfrm>
          <a:prstGeom prst="rect">
            <a:avLst/>
          </a:prstGeom>
          <a:noFill/>
        </p:spPr>
        <p:txBody>
          <a:bodyPr wrap="square" lIns="0" tIns="0" rIns="0" bIns="0">
            <a:spAutoFit/>
          </a:bodyPr>
          <a:lstStyle/>
          <a:p>
            <a:pPr algn="l">
              <a:lnSpc>
                <a:spcPct val="105000"/>
              </a:lnSpc>
              <a:spcBef>
                <a:spcPts val="0"/>
              </a:spcBef>
              <a:spcAft>
                <a:spcPts val="0"/>
              </a:spcAft>
            </a:pPr>
            <a:r>
              <a:rPr sz="1050" b="1">
                <a:solidFill>
                  <a:srgbClr val="7AB6EA"/>
                </a:solidFill>
                <a:latin typeface="Arial"/>
              </a:rPr>
              <a:t>SHARED SERVICES AND OFFLINE ARTIFACTS</a:t>
            </a:r>
          </a:p>
        </p:txBody>
      </p:sp>
      <p:sp>
        <p:nvSpPr>
          <p:cNvPr id="9048" name="Evidence and claim storage card"/>
          <p:cNvSpPr/>
          <p:nvPr/>
        </p:nvSpPr>
        <p:spPr>
          <a:xfrm>
            <a:off x="548640" y="5431536"/>
            <a:ext cx="3502152" cy="795528"/>
          </a:xfrm>
          <a:prstGeom prst="roundRect">
            <a:avLst>
              <a:gd name="adj" fmla="val 8000"/>
            </a:avLst>
          </a:prstGeom>
          <a:solidFill>
            <a:srgbClr val="10232F"/>
          </a:solidFill>
          <a:ln w="13970">
            <a:solidFill>
              <a:srgbClr val="7AB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9" name="TextBox 9048"/>
          <p:cNvSpPr txBox="1"/>
          <p:nvPr/>
        </p:nvSpPr>
        <p:spPr>
          <a:xfrm>
            <a:off x="694944" y="5541264"/>
            <a:ext cx="3209544" cy="283464"/>
          </a:xfrm>
          <a:prstGeom prst="rect">
            <a:avLst/>
          </a:prstGeom>
          <a:noFill/>
        </p:spPr>
        <p:txBody>
          <a:bodyPr wrap="square" lIns="0" tIns="0" rIns="0" bIns="0">
            <a:spAutoFit/>
          </a:bodyPr>
          <a:lstStyle/>
          <a:p>
            <a:pPr algn="l">
              <a:lnSpc>
                <a:spcPct val="105000"/>
              </a:lnSpc>
              <a:spcBef>
                <a:spcPts val="0"/>
              </a:spcBef>
              <a:spcAft>
                <a:spcPts val="0"/>
              </a:spcAft>
            </a:pPr>
            <a:r>
              <a:rPr sz="1600" b="1">
                <a:solidFill>
                  <a:srgbClr val="F3F6F8"/>
                </a:solidFill>
                <a:latin typeface="Arial"/>
              </a:rPr>
              <a:t>Evidence and claim storage</a:t>
            </a:r>
          </a:p>
        </p:txBody>
      </p:sp>
      <p:sp>
        <p:nvSpPr>
          <p:cNvPr id="9050" name="TextBox 9049"/>
          <p:cNvSpPr txBox="1"/>
          <p:nvPr/>
        </p:nvSpPr>
        <p:spPr>
          <a:xfrm>
            <a:off x="694944" y="5870448"/>
            <a:ext cx="3209544" cy="292607"/>
          </a:xfrm>
          <a:prstGeom prst="rect">
            <a:avLst/>
          </a:prstGeom>
          <a:noFill/>
        </p:spPr>
        <p:txBody>
          <a:bodyPr wrap="square" lIns="0" tIns="0" rIns="0" bIns="0">
            <a:spAutoFit/>
          </a:bodyPr>
          <a:lstStyle/>
          <a:p>
            <a:pPr algn="l">
              <a:lnSpc>
                <a:spcPct val="105000"/>
              </a:lnSpc>
              <a:spcBef>
                <a:spcPts val="0"/>
              </a:spcBef>
              <a:spcAft>
                <a:spcPts val="0"/>
              </a:spcAft>
            </a:pPr>
            <a:r>
              <a:rPr sz="1300" b="0">
                <a:solidFill>
                  <a:srgbClr val="B3C3CE"/>
                </a:solidFill>
                <a:latin typeface="Arial"/>
              </a:rPr>
              <a:t>PostgreSQL + MinIO (S3)</a:t>
            </a:r>
          </a:p>
        </p:txBody>
      </p:sp>
      <p:sp>
        <p:nvSpPr>
          <p:cNvPr id="9051" name="Versioned model registry card"/>
          <p:cNvSpPr/>
          <p:nvPr/>
        </p:nvSpPr>
        <p:spPr>
          <a:xfrm>
            <a:off x="4343400" y="5431536"/>
            <a:ext cx="3502152" cy="795528"/>
          </a:xfrm>
          <a:prstGeom prst="roundRect">
            <a:avLst>
              <a:gd name="adj" fmla="val 8000"/>
            </a:avLst>
          </a:prstGeom>
          <a:solidFill>
            <a:srgbClr val="10232F"/>
          </a:solidFill>
          <a:ln w="13970">
            <a:solidFill>
              <a:srgbClr val="7AB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52" name="TextBox 9051"/>
          <p:cNvSpPr txBox="1"/>
          <p:nvPr/>
        </p:nvSpPr>
        <p:spPr>
          <a:xfrm>
            <a:off x="4489704" y="5541264"/>
            <a:ext cx="3209544" cy="283464"/>
          </a:xfrm>
          <a:prstGeom prst="rect">
            <a:avLst/>
          </a:prstGeom>
          <a:noFill/>
        </p:spPr>
        <p:txBody>
          <a:bodyPr wrap="square" lIns="0" tIns="0" rIns="0" bIns="0">
            <a:spAutoFit/>
          </a:bodyPr>
          <a:lstStyle/>
          <a:p>
            <a:pPr algn="l">
              <a:lnSpc>
                <a:spcPct val="105000"/>
              </a:lnSpc>
              <a:spcBef>
                <a:spcPts val="0"/>
              </a:spcBef>
              <a:spcAft>
                <a:spcPts val="0"/>
              </a:spcAft>
            </a:pPr>
            <a:r>
              <a:rPr sz="1600" b="1">
                <a:solidFill>
                  <a:srgbClr val="F3F6F8"/>
                </a:solidFill>
                <a:latin typeface="Arial"/>
              </a:rPr>
              <a:t>Versioned model registry</a:t>
            </a:r>
          </a:p>
        </p:txBody>
      </p:sp>
      <p:sp>
        <p:nvSpPr>
          <p:cNvPr id="9053" name="TextBox 9052"/>
          <p:cNvSpPr txBox="1"/>
          <p:nvPr/>
        </p:nvSpPr>
        <p:spPr>
          <a:xfrm>
            <a:off x="4489704" y="5870448"/>
            <a:ext cx="3209544" cy="292607"/>
          </a:xfrm>
          <a:prstGeom prst="rect">
            <a:avLst/>
          </a:prstGeom>
          <a:noFill/>
        </p:spPr>
        <p:txBody>
          <a:bodyPr wrap="square" lIns="0" tIns="0" rIns="0" bIns="0">
            <a:spAutoFit/>
          </a:bodyPr>
          <a:lstStyle/>
          <a:p>
            <a:pPr algn="l">
              <a:lnSpc>
                <a:spcPct val="105000"/>
              </a:lnSpc>
              <a:spcBef>
                <a:spcPts val="0"/>
              </a:spcBef>
              <a:spcAft>
                <a:spcPts val="0"/>
              </a:spcAft>
            </a:pPr>
            <a:r>
              <a:rPr sz="1300" b="0">
                <a:solidFill>
                  <a:srgbClr val="B3C3CE"/>
                </a:solidFill>
                <a:latin typeface="Arial"/>
              </a:rPr>
              <a:t>Offline training → read-only weights</a:t>
            </a:r>
          </a:p>
        </p:txBody>
      </p:sp>
      <p:sp>
        <p:nvSpPr>
          <p:cNvPr id="9054" name="M7 · Reference cost ranges card"/>
          <p:cNvSpPr/>
          <p:nvPr/>
        </p:nvSpPr>
        <p:spPr>
          <a:xfrm>
            <a:off x="8138160" y="5431536"/>
            <a:ext cx="3502152" cy="795528"/>
          </a:xfrm>
          <a:prstGeom prst="roundRect">
            <a:avLst>
              <a:gd name="adj" fmla="val 8000"/>
            </a:avLst>
          </a:prstGeom>
          <a:solidFill>
            <a:srgbClr val="10232F"/>
          </a:solidFill>
          <a:ln w="13970">
            <a:solidFill>
              <a:srgbClr val="7AB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55" name="TextBox 9054"/>
          <p:cNvSpPr txBox="1"/>
          <p:nvPr/>
        </p:nvSpPr>
        <p:spPr>
          <a:xfrm>
            <a:off x="8284464" y="5541264"/>
            <a:ext cx="3209544" cy="283464"/>
          </a:xfrm>
          <a:prstGeom prst="rect">
            <a:avLst/>
          </a:prstGeom>
          <a:noFill/>
        </p:spPr>
        <p:txBody>
          <a:bodyPr wrap="square" lIns="0" tIns="0" rIns="0" bIns="0">
            <a:spAutoFit/>
          </a:bodyPr>
          <a:lstStyle/>
          <a:p>
            <a:pPr algn="l">
              <a:lnSpc>
                <a:spcPct val="105000"/>
              </a:lnSpc>
              <a:spcBef>
                <a:spcPts val="0"/>
              </a:spcBef>
              <a:spcAft>
                <a:spcPts val="0"/>
              </a:spcAft>
            </a:pPr>
            <a:r>
              <a:rPr sz="1600" b="1">
                <a:solidFill>
                  <a:srgbClr val="F3F6F8"/>
                </a:solidFill>
                <a:latin typeface="Arial"/>
              </a:rPr>
              <a:t>M7 · Reference cost ranges</a:t>
            </a:r>
          </a:p>
        </p:txBody>
      </p:sp>
      <p:sp>
        <p:nvSpPr>
          <p:cNvPr id="9056" name="TextBox 9055"/>
          <p:cNvSpPr txBox="1"/>
          <p:nvPr/>
        </p:nvSpPr>
        <p:spPr>
          <a:xfrm>
            <a:off x="8284464" y="5870448"/>
            <a:ext cx="3209544" cy="292607"/>
          </a:xfrm>
          <a:prstGeom prst="rect">
            <a:avLst/>
          </a:prstGeom>
          <a:noFill/>
        </p:spPr>
        <p:txBody>
          <a:bodyPr wrap="square" lIns="0" tIns="0" rIns="0" bIns="0">
            <a:spAutoFit/>
          </a:bodyPr>
          <a:lstStyle/>
          <a:p>
            <a:pPr algn="l">
              <a:lnSpc>
                <a:spcPct val="105000"/>
              </a:lnSpc>
              <a:spcBef>
                <a:spcPts val="0"/>
              </a:spcBef>
              <a:spcAft>
                <a:spcPts val="0"/>
              </a:spcAft>
            </a:pPr>
            <a:r>
              <a:rPr sz="1300" b="0">
                <a:solidFill>
                  <a:srgbClr val="B3C3CE"/>
                </a:solidFill>
                <a:latin typeface="Arial"/>
              </a:rPr>
              <a:t>Offline build → pinned lookup table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9006" name="Slide title"/>
          <p:cNvSpPr txBox="1"/>
          <p:nvPr/>
        </p:nvSpPr>
        <p:spPr>
          <a:xfrm>
            <a:off x="530352" y="384048"/>
            <a:ext cx="11082528" cy="438912"/>
          </a:xfrm>
          <a:prstGeom prst="rect">
            <a:avLst/>
          </a:prstGeom>
          <a:noFill/>
        </p:spPr>
        <p:txBody>
          <a:bodyPr wrap="square" lIns="0" tIns="0" rIns="0" bIns="0">
            <a:spAutoFit/>
          </a:bodyPr>
          <a:lstStyle/>
          <a:p>
            <a:pPr algn="l">
              <a:lnSpc>
                <a:spcPct val="105000"/>
              </a:lnSpc>
              <a:spcBef>
                <a:spcPts val="0"/>
              </a:spcBef>
              <a:spcAft>
                <a:spcPts val="0"/>
              </a:spcAft>
            </a:pPr>
            <a:r>
              <a:rPr sz="2600" b="1">
                <a:solidFill>
                  <a:srgbClr val="F3F6F8"/>
                </a:solidFill>
                <a:latin typeface="Arial"/>
              </a:rPr>
              <a:t>Technical system design</a:t>
            </a:r>
          </a:p>
        </p:txBody>
      </p:sp>
      <p:sp>
        <p:nvSpPr>
          <p:cNvPr id="9007" name="Section and presenter"/>
          <p:cNvSpPr txBox="1"/>
          <p:nvPr/>
        </p:nvSpPr>
        <p:spPr>
          <a:xfrm>
            <a:off x="548640" y="905256"/>
            <a:ext cx="10881360" cy="265176"/>
          </a:xfrm>
          <a:prstGeom prst="rect">
            <a:avLst/>
          </a:prstGeom>
          <a:noFill/>
        </p:spPr>
        <p:txBody>
          <a:bodyPr wrap="square" lIns="0" tIns="0" rIns="0" bIns="0">
            <a:spAutoFit/>
          </a:bodyPr>
          <a:lstStyle/>
          <a:p>
            <a:pPr algn="l">
              <a:lnSpc>
                <a:spcPct val="105000"/>
              </a:lnSpc>
              <a:spcBef>
                <a:spcPts val="0"/>
              </a:spcBef>
              <a:spcAft>
                <a:spcPts val="0"/>
              </a:spcAft>
            </a:pPr>
            <a:r>
              <a:rPr sz="1600" b="0">
                <a:solidFill>
                  <a:srgbClr val="B3C3CE"/>
                </a:solidFill>
                <a:latin typeface="Arial"/>
              </a:rPr>
              <a:t>Section 3  |  Rodel</a:t>
            </a:r>
          </a:p>
        </p:txBody>
      </p:sp>
      <p:sp>
        <p:nvSpPr>
          <p:cNvPr id="9008" name="TextBox 9007"/>
          <p:cNvSpPr txBox="1"/>
          <p:nvPr/>
        </p:nvSpPr>
        <p:spPr>
          <a:xfrm>
            <a:off x="11731752" y="6492240"/>
            <a:ext cx="274320" cy="182880"/>
          </a:xfrm>
          <a:prstGeom prst="rect">
            <a:avLst/>
          </a:prstGeom>
          <a:noFill/>
        </p:spPr>
        <p:txBody>
          <a:bodyPr wrap="square" lIns="0" tIns="0" rIns="0" bIns="0">
            <a:spAutoFit/>
          </a:bodyPr>
          <a:lstStyle/>
          <a:p>
            <a:pPr algn="r">
              <a:lnSpc>
                <a:spcPct val="105000"/>
              </a:lnSpc>
              <a:spcBef>
                <a:spcPts val="0"/>
              </a:spcBef>
              <a:spcAft>
                <a:spcPts val="0"/>
              </a:spcAft>
            </a:pPr>
            <a:r>
              <a:rPr sz="900" b="0">
                <a:solidFill>
                  <a:srgbClr val="8397A5"/>
                </a:solidFill>
                <a:latin typeface="Arial"/>
              </a:rPr>
              <a:t>5</a:t>
            </a:r>
          </a:p>
        </p:txBody>
      </p:sp>
      <p:sp>
        <p:nvSpPr>
          <p:cNvPr id="9009" name="TextBox 9008"/>
          <p:cNvSpPr txBox="1"/>
          <p:nvPr/>
        </p:nvSpPr>
        <p:spPr>
          <a:xfrm>
            <a:off x="548640" y="1371600"/>
            <a:ext cx="10972800" cy="219456"/>
          </a:xfrm>
          <a:prstGeom prst="rect">
            <a:avLst/>
          </a:prstGeom>
          <a:noFill/>
        </p:spPr>
        <p:txBody>
          <a:bodyPr wrap="square" lIns="0" tIns="0" rIns="0" bIns="0">
            <a:spAutoFit/>
          </a:bodyPr>
          <a:lstStyle/>
          <a:p>
            <a:pPr algn="l">
              <a:lnSpc>
                <a:spcPct val="105000"/>
              </a:lnSpc>
              <a:spcBef>
                <a:spcPts val="0"/>
              </a:spcBef>
              <a:spcAft>
                <a:spcPts val="0"/>
              </a:spcAft>
            </a:pPr>
            <a:r>
              <a:rPr sz="1100" b="1">
                <a:solidFill>
                  <a:srgbClr val="4FD1C0"/>
                </a:solidFill>
                <a:latin typeface="Arial"/>
              </a:rPr>
              <a:t>LIVE STACK · CONTAINERISED EVENT RUNTIME · LEAN ORCHESTRATION</a:t>
            </a:r>
          </a:p>
        </p:txBody>
      </p:sp>
      <p:sp>
        <p:nvSpPr>
          <p:cNvPr id="9010" name="cmev-web · M9 card"/>
          <p:cNvSpPr/>
          <p:nvPr/>
        </p:nvSpPr>
        <p:spPr>
          <a:xfrm>
            <a:off x="548640" y="1764792"/>
            <a:ext cx="2258568" cy="832104"/>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1" name="TextBox 9010"/>
          <p:cNvSpPr txBox="1"/>
          <p:nvPr/>
        </p:nvSpPr>
        <p:spPr>
          <a:xfrm>
            <a:off x="694944" y="1874519"/>
            <a:ext cx="1965960" cy="283464"/>
          </a:xfrm>
          <a:prstGeom prst="rect">
            <a:avLst/>
          </a:prstGeom>
          <a:noFill/>
        </p:spPr>
        <p:txBody>
          <a:bodyPr wrap="square" lIns="0" tIns="0" rIns="0" bIns="0">
            <a:spAutoFit/>
          </a:bodyPr>
          <a:lstStyle/>
          <a:p>
            <a:pPr algn="l">
              <a:lnSpc>
                <a:spcPct val="105000"/>
              </a:lnSpc>
              <a:spcBef>
                <a:spcPts val="0"/>
              </a:spcBef>
              <a:spcAft>
                <a:spcPts val="0"/>
              </a:spcAft>
            </a:pPr>
            <a:r>
              <a:rPr sz="1600" b="1">
                <a:solidFill>
                  <a:srgbClr val="F3F6F8"/>
                </a:solidFill>
                <a:latin typeface="Arial"/>
              </a:rPr>
              <a:t>cmev-web · M9</a:t>
            </a:r>
          </a:p>
        </p:txBody>
      </p:sp>
      <p:sp>
        <p:nvSpPr>
          <p:cNvPr id="9012" name="TextBox 9011"/>
          <p:cNvSpPr txBox="1"/>
          <p:nvPr/>
        </p:nvSpPr>
        <p:spPr>
          <a:xfrm>
            <a:off x="694944" y="2203704"/>
            <a:ext cx="1965960" cy="329184"/>
          </a:xfrm>
          <a:prstGeom prst="rect">
            <a:avLst/>
          </a:prstGeom>
          <a:noFill/>
        </p:spPr>
        <p:txBody>
          <a:bodyPr wrap="square" lIns="0" tIns="0" rIns="0" bIns="0">
            <a:spAutoFit/>
          </a:bodyPr>
          <a:lstStyle/>
          <a:p>
            <a:pPr algn="l">
              <a:lnSpc>
                <a:spcPct val="105000"/>
              </a:lnSpc>
              <a:spcBef>
                <a:spcPts val="0"/>
              </a:spcBef>
              <a:spcAft>
                <a:spcPts val="0"/>
              </a:spcAft>
            </a:pPr>
            <a:r>
              <a:rPr sz="1250" b="0">
                <a:solidFill>
                  <a:srgbClr val="B3C3CE"/>
                </a:solidFill>
                <a:latin typeface="Arial"/>
              </a:rPr>
              <a:t>React / TypeScript / nginx</a:t>
            </a:r>
          </a:p>
        </p:txBody>
      </p:sp>
      <p:sp>
        <p:nvSpPr>
          <p:cNvPr id="9013" name="cmev-api card"/>
          <p:cNvSpPr/>
          <p:nvPr/>
        </p:nvSpPr>
        <p:spPr>
          <a:xfrm>
            <a:off x="3246120" y="1764792"/>
            <a:ext cx="2532888" cy="832104"/>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4" name="TextBox 9013"/>
          <p:cNvSpPr txBox="1"/>
          <p:nvPr/>
        </p:nvSpPr>
        <p:spPr>
          <a:xfrm>
            <a:off x="3392424" y="1874519"/>
            <a:ext cx="2240280" cy="283464"/>
          </a:xfrm>
          <a:prstGeom prst="rect">
            <a:avLst/>
          </a:prstGeom>
          <a:noFill/>
        </p:spPr>
        <p:txBody>
          <a:bodyPr wrap="square" lIns="0" tIns="0" rIns="0" bIns="0">
            <a:spAutoFit/>
          </a:bodyPr>
          <a:lstStyle/>
          <a:p>
            <a:pPr algn="l">
              <a:lnSpc>
                <a:spcPct val="105000"/>
              </a:lnSpc>
              <a:spcBef>
                <a:spcPts val="0"/>
              </a:spcBef>
              <a:spcAft>
                <a:spcPts val="0"/>
              </a:spcAft>
            </a:pPr>
            <a:r>
              <a:rPr sz="1700" b="1">
                <a:solidFill>
                  <a:srgbClr val="F3F6F8"/>
                </a:solidFill>
                <a:latin typeface="Arial"/>
              </a:rPr>
              <a:t>cmev-api</a:t>
            </a:r>
          </a:p>
        </p:txBody>
      </p:sp>
      <p:sp>
        <p:nvSpPr>
          <p:cNvPr id="9015" name="TextBox 9014"/>
          <p:cNvSpPr txBox="1"/>
          <p:nvPr/>
        </p:nvSpPr>
        <p:spPr>
          <a:xfrm>
            <a:off x="3392424" y="2203704"/>
            <a:ext cx="2240280" cy="329184"/>
          </a:xfrm>
          <a:prstGeom prst="rect">
            <a:avLst/>
          </a:prstGeom>
          <a:noFill/>
        </p:spPr>
        <p:txBody>
          <a:bodyPr wrap="square" lIns="0" tIns="0" rIns="0" bIns="0">
            <a:spAutoFit/>
          </a:bodyPr>
          <a:lstStyle/>
          <a:p>
            <a:pPr algn="l">
              <a:lnSpc>
                <a:spcPct val="105000"/>
              </a:lnSpc>
              <a:spcBef>
                <a:spcPts val="0"/>
              </a:spcBef>
              <a:spcAft>
                <a:spcPts val="0"/>
              </a:spcAft>
            </a:pPr>
            <a:r>
              <a:rPr sz="1250" b="0">
                <a:solidFill>
                  <a:srgbClr val="B3C3CE"/>
                </a:solidFill>
                <a:latin typeface="Arial"/>
              </a:rPr>
              <a:t>FastAPI · intake and review</a:t>
            </a:r>
          </a:p>
        </p:txBody>
      </p:sp>
      <p:sp>
        <p:nvSpPr>
          <p:cNvPr id="9016" name="cmev-worker-combined card"/>
          <p:cNvSpPr/>
          <p:nvPr/>
        </p:nvSpPr>
        <p:spPr>
          <a:xfrm>
            <a:off x="6483096" y="1764792"/>
            <a:ext cx="5157216" cy="832104"/>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7" name="TextBox 9016"/>
          <p:cNvSpPr txBox="1"/>
          <p:nvPr/>
        </p:nvSpPr>
        <p:spPr>
          <a:xfrm>
            <a:off x="6629400" y="1874519"/>
            <a:ext cx="4864607" cy="283464"/>
          </a:xfrm>
          <a:prstGeom prst="rect">
            <a:avLst/>
          </a:prstGeom>
          <a:noFill/>
        </p:spPr>
        <p:txBody>
          <a:bodyPr wrap="square" lIns="0" tIns="0" rIns="0" bIns="0">
            <a:spAutoFit/>
          </a:bodyPr>
          <a:lstStyle/>
          <a:p>
            <a:pPr algn="l">
              <a:lnSpc>
                <a:spcPct val="105000"/>
              </a:lnSpc>
              <a:spcBef>
                <a:spcPts val="0"/>
              </a:spcBef>
              <a:spcAft>
                <a:spcPts val="0"/>
              </a:spcAft>
            </a:pPr>
            <a:r>
              <a:rPr sz="1700" b="1">
                <a:solidFill>
                  <a:srgbClr val="F3F6F8"/>
                </a:solidFill>
                <a:latin typeface="Arial"/>
              </a:rPr>
              <a:t>cmev-worker-combined</a:t>
            </a:r>
          </a:p>
        </p:txBody>
      </p:sp>
      <p:sp>
        <p:nvSpPr>
          <p:cNvPr id="9018" name="TextBox 9017"/>
          <p:cNvSpPr txBox="1"/>
          <p:nvPr/>
        </p:nvSpPr>
        <p:spPr>
          <a:xfrm>
            <a:off x="6629400" y="2203704"/>
            <a:ext cx="4864607" cy="329184"/>
          </a:xfrm>
          <a:prstGeom prst="rect">
            <a:avLst/>
          </a:prstGeom>
          <a:noFill/>
        </p:spPr>
        <p:txBody>
          <a:bodyPr wrap="square" lIns="0" tIns="0" rIns="0" bIns="0">
            <a:spAutoFit/>
          </a:bodyPr>
          <a:lstStyle/>
          <a:p>
            <a:pPr algn="l">
              <a:lnSpc>
                <a:spcPct val="105000"/>
              </a:lnSpc>
              <a:spcBef>
                <a:spcPts val="0"/>
              </a:spcBef>
              <a:spcAft>
                <a:spcPts val="0"/>
              </a:spcAft>
            </a:pPr>
            <a:r>
              <a:rPr sz="1300" b="0">
                <a:solidFill>
                  <a:srgbClr val="B3C3CE"/>
                </a:solidFill>
                <a:latin typeface="Arial"/>
              </a:rPr>
              <a:t>Orchestration + M8 · dispatch, joins and deterministic checks</a:t>
            </a:r>
          </a:p>
        </p:txBody>
      </p:sp>
      <p:cxnSp>
        <p:nvCxnSpPr>
          <p:cNvPr id="9019" name="Connector 9018"/>
          <p:cNvCxnSpPr/>
          <p:nvPr/>
        </p:nvCxnSpPr>
        <p:spPr>
          <a:xfrm>
            <a:off x="2807208" y="2176272"/>
            <a:ext cx="438912" cy="0"/>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sp>
        <p:nvSpPr>
          <p:cNvPr id="9020" name="Rounded Rectangle 9019"/>
          <p:cNvSpPr/>
          <p:nvPr/>
        </p:nvSpPr>
        <p:spPr>
          <a:xfrm>
            <a:off x="548640" y="2862072"/>
            <a:ext cx="11091672" cy="429768"/>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21" name="TextBox 9020"/>
          <p:cNvSpPr txBox="1"/>
          <p:nvPr/>
        </p:nvSpPr>
        <p:spPr>
          <a:xfrm>
            <a:off x="731520" y="2962656"/>
            <a:ext cx="10725912" cy="219456"/>
          </a:xfrm>
          <a:prstGeom prst="rect">
            <a:avLst/>
          </a:prstGeom>
          <a:noFill/>
        </p:spPr>
        <p:txBody>
          <a:bodyPr wrap="square" lIns="0" tIns="0" rIns="0" bIns="0">
            <a:spAutoFit/>
          </a:bodyPr>
          <a:lstStyle/>
          <a:p>
            <a:pPr algn="ctr">
              <a:lnSpc>
                <a:spcPct val="105000"/>
              </a:lnSpc>
              <a:spcBef>
                <a:spcPts val="0"/>
              </a:spcBef>
              <a:spcAft>
                <a:spcPts val="0"/>
              </a:spcAft>
            </a:pPr>
            <a:r>
              <a:rPr sz="1600" b="1">
                <a:solidFill>
                  <a:srgbClr val="4FD1C0"/>
                </a:solidFill>
                <a:latin typeface="Arial"/>
              </a:rPr>
              <a:t>cmev-kafka · Redpanda / Kafka · commands and completion events</a:t>
            </a:r>
          </a:p>
        </p:txBody>
      </p:sp>
      <p:cxnSp>
        <p:nvCxnSpPr>
          <p:cNvPr id="9022" name="Connector 9021"/>
          <p:cNvCxnSpPr/>
          <p:nvPr/>
        </p:nvCxnSpPr>
        <p:spPr>
          <a:xfrm>
            <a:off x="4517136" y="2596896"/>
            <a:ext cx="0" cy="265176"/>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023" name="Connector 9022"/>
          <p:cNvCxnSpPr/>
          <p:nvPr/>
        </p:nvCxnSpPr>
        <p:spPr>
          <a:xfrm>
            <a:off x="9061704" y="2596896"/>
            <a:ext cx="0" cy="265176"/>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024" name="Connector 9023"/>
          <p:cNvCxnSpPr/>
          <p:nvPr/>
        </p:nvCxnSpPr>
        <p:spPr>
          <a:xfrm>
            <a:off x="2615184" y="3291840"/>
            <a:ext cx="0" cy="320040"/>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025" name="Connector 9024"/>
          <p:cNvCxnSpPr/>
          <p:nvPr/>
        </p:nvCxnSpPr>
        <p:spPr>
          <a:xfrm>
            <a:off x="6044184" y="3291840"/>
            <a:ext cx="0" cy="320040"/>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026" name="Connector 9025"/>
          <p:cNvCxnSpPr/>
          <p:nvPr/>
        </p:nvCxnSpPr>
        <p:spPr>
          <a:xfrm>
            <a:off x="8284464" y="3291840"/>
            <a:ext cx="0" cy="320040"/>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027" name="Connector 9026"/>
          <p:cNvCxnSpPr/>
          <p:nvPr/>
        </p:nvCxnSpPr>
        <p:spPr>
          <a:xfrm>
            <a:off x="10515600" y="3291840"/>
            <a:ext cx="0" cy="320040"/>
          </a:xfrm>
          <a:prstGeom prst="line">
            <a:avLst/>
          </a:prstGeom>
          <a:ln w="19050">
            <a:solidFill>
              <a:srgbClr val="4FD1C0"/>
            </a:solidFill>
            <a:tailEnd type="triangle" w="sm" len="sm"/>
          </a:ln>
        </p:spPr>
        <p:style>
          <a:lnRef idx="2">
            <a:schemeClr val="accent1"/>
          </a:lnRef>
          <a:fillRef idx="0">
            <a:schemeClr val="accent1"/>
          </a:fillRef>
          <a:effectRef idx="1">
            <a:schemeClr val="accent1"/>
          </a:effectRef>
          <a:fontRef idx="minor">
            <a:schemeClr val="tx1"/>
          </a:fontRef>
        </p:style>
      </p:cxnSp>
      <p:sp>
        <p:nvSpPr>
          <p:cNvPr id="9028" name="cmev-worker-image · M1–M3 card"/>
          <p:cNvSpPr/>
          <p:nvPr/>
        </p:nvSpPr>
        <p:spPr>
          <a:xfrm>
            <a:off x="548640" y="3611880"/>
            <a:ext cx="4142232" cy="1097280"/>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29" name="TextBox 9028"/>
          <p:cNvSpPr txBox="1"/>
          <p:nvPr/>
        </p:nvSpPr>
        <p:spPr>
          <a:xfrm>
            <a:off x="694944" y="3721608"/>
            <a:ext cx="3849624" cy="283464"/>
          </a:xfrm>
          <a:prstGeom prst="rect">
            <a:avLst/>
          </a:prstGeom>
          <a:noFill/>
        </p:spPr>
        <p:txBody>
          <a:bodyPr wrap="square" lIns="0" tIns="0" rIns="0" bIns="0">
            <a:spAutoFit/>
          </a:bodyPr>
          <a:lstStyle/>
          <a:p>
            <a:pPr algn="l">
              <a:lnSpc>
                <a:spcPct val="105000"/>
              </a:lnSpc>
              <a:spcBef>
                <a:spcPts val="0"/>
              </a:spcBef>
              <a:spcAft>
                <a:spcPts val="0"/>
              </a:spcAft>
            </a:pPr>
            <a:r>
              <a:rPr sz="1600" b="1">
                <a:solidFill>
                  <a:srgbClr val="F3F6F8"/>
                </a:solidFill>
                <a:latin typeface="Arial"/>
              </a:rPr>
              <a:t>cmev-worker-image · M1–M3</a:t>
            </a:r>
          </a:p>
        </p:txBody>
      </p:sp>
      <p:sp>
        <p:nvSpPr>
          <p:cNvPr id="9030" name="TextBox 9029"/>
          <p:cNvSpPr txBox="1"/>
          <p:nvPr/>
        </p:nvSpPr>
        <p:spPr>
          <a:xfrm>
            <a:off x="694944" y="4050791"/>
            <a:ext cx="3849624" cy="594359"/>
          </a:xfrm>
          <a:prstGeom prst="rect">
            <a:avLst/>
          </a:prstGeom>
          <a:noFill/>
        </p:spPr>
        <p:txBody>
          <a:bodyPr wrap="square" lIns="0" tIns="0" rIns="0" bIns="0">
            <a:spAutoFit/>
          </a:bodyPr>
          <a:lstStyle/>
          <a:p>
            <a:pPr algn="l">
              <a:lnSpc>
                <a:spcPct val="105000"/>
              </a:lnSpc>
              <a:spcBef>
                <a:spcPts val="0"/>
              </a:spcBef>
              <a:spcAft>
                <a:spcPts val="0"/>
              </a:spcAft>
            </a:pPr>
            <a:r>
              <a:rPr sz="1300" b="0">
                <a:solidFill>
                  <a:srgbClr val="B3C3CE"/>
                </a:solidFill>
                <a:latin typeface="Arial"/>
              </a:rPr>
              <a:t>SegFormer-B2 parts + SegFormer-B3 damage</a:t>
            </a:r>
          </a:p>
          <a:p>
            <a:pPr algn="l">
              <a:lnSpc>
                <a:spcPct val="105000"/>
              </a:lnSpc>
              <a:spcBef>
                <a:spcPts val="0"/>
              </a:spcBef>
              <a:spcAft>
                <a:spcPts val="0"/>
              </a:spcAft>
            </a:pPr>
            <a:r>
              <a:rPr sz="1300" b="0">
                <a:solidFill>
                  <a:srgbClr val="B3C3CE"/>
                </a:solidFill>
                <a:latin typeface="Arial"/>
              </a:rPr>
              <a:t>Deterministic matching, summary and coverage</a:t>
            </a:r>
          </a:p>
        </p:txBody>
      </p:sp>
      <p:sp>
        <p:nvSpPr>
          <p:cNvPr id="9031" name="cmev-worker-ocr card"/>
          <p:cNvSpPr/>
          <p:nvPr/>
        </p:nvSpPr>
        <p:spPr>
          <a:xfrm>
            <a:off x="5065776" y="3611880"/>
            <a:ext cx="1956816" cy="1097280"/>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32" name="TextBox 9031"/>
          <p:cNvSpPr txBox="1"/>
          <p:nvPr/>
        </p:nvSpPr>
        <p:spPr>
          <a:xfrm>
            <a:off x="5212080" y="3721608"/>
            <a:ext cx="1664208" cy="283464"/>
          </a:xfrm>
          <a:prstGeom prst="rect">
            <a:avLst/>
          </a:prstGeom>
          <a:noFill/>
        </p:spPr>
        <p:txBody>
          <a:bodyPr wrap="square" lIns="0" tIns="0" rIns="0" bIns="0">
            <a:spAutoFit/>
          </a:bodyPr>
          <a:lstStyle/>
          <a:p>
            <a:pPr algn="l">
              <a:lnSpc>
                <a:spcPct val="105000"/>
              </a:lnSpc>
              <a:spcBef>
                <a:spcPts val="0"/>
              </a:spcBef>
              <a:spcAft>
                <a:spcPts val="0"/>
              </a:spcAft>
            </a:pPr>
            <a:r>
              <a:rPr sz="1350" b="1">
                <a:solidFill>
                  <a:srgbClr val="F3F6F8"/>
                </a:solidFill>
                <a:latin typeface="Arial"/>
              </a:rPr>
              <a:t>cmev-worker-ocr</a:t>
            </a:r>
          </a:p>
        </p:txBody>
      </p:sp>
      <p:sp>
        <p:nvSpPr>
          <p:cNvPr id="9033" name="TextBox 9032"/>
          <p:cNvSpPr txBox="1"/>
          <p:nvPr/>
        </p:nvSpPr>
        <p:spPr>
          <a:xfrm>
            <a:off x="5212080" y="4050791"/>
            <a:ext cx="1664208" cy="594359"/>
          </a:xfrm>
          <a:prstGeom prst="rect">
            <a:avLst/>
          </a:prstGeom>
          <a:noFill/>
        </p:spPr>
        <p:txBody>
          <a:bodyPr wrap="square" lIns="0" tIns="0" rIns="0" bIns="0">
            <a:spAutoFit/>
          </a:bodyPr>
          <a:lstStyle/>
          <a:p>
            <a:pPr algn="l">
              <a:lnSpc>
                <a:spcPct val="105000"/>
              </a:lnSpc>
              <a:spcBef>
                <a:spcPts val="0"/>
              </a:spcBef>
              <a:spcAft>
                <a:spcPts val="0"/>
              </a:spcAft>
            </a:pPr>
            <a:r>
              <a:rPr sz="1250" b="0">
                <a:solidFill>
                  <a:srgbClr val="B3C3CE"/>
                </a:solidFill>
                <a:latin typeface="Arial"/>
              </a:rPr>
              <a:t>M4 · PaddleOCR</a:t>
            </a:r>
          </a:p>
          <a:p>
            <a:pPr algn="l">
              <a:lnSpc>
                <a:spcPct val="105000"/>
              </a:lnSpc>
              <a:spcBef>
                <a:spcPts val="0"/>
              </a:spcBef>
              <a:spcAft>
                <a:spcPts val="0"/>
              </a:spcAft>
            </a:pPr>
            <a:r>
              <a:rPr sz="1250" b="0">
                <a:solidFill>
                  <a:srgbClr val="B3C3CE"/>
                </a:solidFill>
                <a:latin typeface="Arial"/>
              </a:rPr>
              <a:t>Text + line boxes</a:t>
            </a:r>
          </a:p>
        </p:txBody>
      </p:sp>
      <p:sp>
        <p:nvSpPr>
          <p:cNvPr id="9034" name="cmev-worker-lineitems card"/>
          <p:cNvSpPr/>
          <p:nvPr/>
        </p:nvSpPr>
        <p:spPr>
          <a:xfrm>
            <a:off x="7306056" y="3611880"/>
            <a:ext cx="1956816" cy="1097280"/>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35" name="TextBox 9034"/>
          <p:cNvSpPr txBox="1"/>
          <p:nvPr/>
        </p:nvSpPr>
        <p:spPr>
          <a:xfrm>
            <a:off x="7452360" y="3721608"/>
            <a:ext cx="1664208" cy="283464"/>
          </a:xfrm>
          <a:prstGeom prst="rect">
            <a:avLst/>
          </a:prstGeom>
          <a:noFill/>
        </p:spPr>
        <p:txBody>
          <a:bodyPr wrap="square" lIns="0" tIns="0" rIns="0" bIns="0">
            <a:spAutoFit/>
          </a:bodyPr>
          <a:lstStyle/>
          <a:p>
            <a:pPr algn="l">
              <a:lnSpc>
                <a:spcPct val="105000"/>
              </a:lnSpc>
              <a:spcBef>
                <a:spcPts val="0"/>
              </a:spcBef>
              <a:spcAft>
                <a:spcPts val="0"/>
              </a:spcAft>
            </a:pPr>
            <a:r>
              <a:rPr sz="1170" b="1">
                <a:solidFill>
                  <a:srgbClr val="F3F6F8"/>
                </a:solidFill>
                <a:latin typeface="Arial"/>
              </a:rPr>
              <a:t>cmev-worker-lineitems</a:t>
            </a:r>
          </a:p>
        </p:txBody>
      </p:sp>
      <p:sp>
        <p:nvSpPr>
          <p:cNvPr id="9036" name="TextBox 9035"/>
          <p:cNvSpPr txBox="1"/>
          <p:nvPr/>
        </p:nvSpPr>
        <p:spPr>
          <a:xfrm>
            <a:off x="7452360" y="4050791"/>
            <a:ext cx="1664208" cy="594359"/>
          </a:xfrm>
          <a:prstGeom prst="rect">
            <a:avLst/>
          </a:prstGeom>
          <a:noFill/>
        </p:spPr>
        <p:txBody>
          <a:bodyPr wrap="square" lIns="0" tIns="0" rIns="0" bIns="0">
            <a:spAutoFit/>
          </a:bodyPr>
          <a:lstStyle/>
          <a:p>
            <a:pPr algn="l">
              <a:lnSpc>
                <a:spcPct val="105000"/>
              </a:lnSpc>
              <a:spcBef>
                <a:spcPts val="0"/>
              </a:spcBef>
              <a:spcAft>
                <a:spcPts val="0"/>
              </a:spcAft>
            </a:pPr>
            <a:r>
              <a:rPr sz="1250" b="0">
                <a:solidFill>
                  <a:srgbClr val="B3C3CE"/>
                </a:solidFill>
                <a:latin typeface="Arial"/>
              </a:rPr>
              <a:t>M5 · LayoutLMv3</a:t>
            </a:r>
          </a:p>
          <a:p>
            <a:pPr algn="l">
              <a:lnSpc>
                <a:spcPct val="105000"/>
              </a:lnSpc>
              <a:spcBef>
                <a:spcPts val="0"/>
              </a:spcBef>
              <a:spcAft>
                <a:spcPts val="0"/>
              </a:spcAft>
            </a:pPr>
            <a:r>
              <a:rPr sz="1250" b="0">
                <a:solidFill>
                  <a:srgbClr val="B3C3CE"/>
                </a:solidFill>
                <a:latin typeface="Arial"/>
              </a:rPr>
              <a:t>Structured rows</a:t>
            </a:r>
          </a:p>
        </p:txBody>
      </p:sp>
      <p:sp>
        <p:nvSpPr>
          <p:cNvPr id="9037" name="cmev-worker-penmarks card"/>
          <p:cNvSpPr/>
          <p:nvPr/>
        </p:nvSpPr>
        <p:spPr>
          <a:xfrm>
            <a:off x="9546336" y="3611880"/>
            <a:ext cx="2093976" cy="1097280"/>
          </a:xfrm>
          <a:prstGeom prst="roundRect">
            <a:avLst>
              <a:gd name="adj" fmla="val 8000"/>
            </a:avLst>
          </a:prstGeom>
          <a:solidFill>
            <a:srgbClr val="10232F"/>
          </a:solidFill>
          <a:ln w="13970">
            <a:solidFill>
              <a:srgbClr val="4F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38" name="TextBox 9037"/>
          <p:cNvSpPr txBox="1"/>
          <p:nvPr/>
        </p:nvSpPr>
        <p:spPr>
          <a:xfrm>
            <a:off x="9692640" y="3721608"/>
            <a:ext cx="1801368" cy="283464"/>
          </a:xfrm>
          <a:prstGeom prst="rect">
            <a:avLst/>
          </a:prstGeom>
          <a:noFill/>
        </p:spPr>
        <p:txBody>
          <a:bodyPr wrap="square" lIns="0" tIns="0" rIns="0" bIns="0">
            <a:spAutoFit/>
          </a:bodyPr>
          <a:lstStyle/>
          <a:p>
            <a:pPr algn="l">
              <a:lnSpc>
                <a:spcPct val="105000"/>
              </a:lnSpc>
              <a:spcBef>
                <a:spcPts val="0"/>
              </a:spcBef>
              <a:spcAft>
                <a:spcPts val="0"/>
              </a:spcAft>
            </a:pPr>
            <a:r>
              <a:rPr sz="1170" b="1">
                <a:solidFill>
                  <a:srgbClr val="F3F6F8"/>
                </a:solidFill>
                <a:latin typeface="Arial"/>
              </a:rPr>
              <a:t>cmev-worker-penmarks</a:t>
            </a:r>
          </a:p>
        </p:txBody>
      </p:sp>
      <p:sp>
        <p:nvSpPr>
          <p:cNvPr id="9039" name="TextBox 9038"/>
          <p:cNvSpPr txBox="1"/>
          <p:nvPr/>
        </p:nvSpPr>
        <p:spPr>
          <a:xfrm>
            <a:off x="9692640" y="4050791"/>
            <a:ext cx="1801368" cy="594359"/>
          </a:xfrm>
          <a:prstGeom prst="rect">
            <a:avLst/>
          </a:prstGeom>
          <a:noFill/>
        </p:spPr>
        <p:txBody>
          <a:bodyPr wrap="square" lIns="0" tIns="0" rIns="0" bIns="0">
            <a:spAutoFit/>
          </a:bodyPr>
          <a:lstStyle/>
          <a:p>
            <a:pPr algn="l">
              <a:lnSpc>
                <a:spcPct val="105000"/>
              </a:lnSpc>
              <a:spcBef>
                <a:spcPts val="0"/>
              </a:spcBef>
              <a:spcAft>
                <a:spcPts val="0"/>
              </a:spcAft>
            </a:pPr>
            <a:r>
              <a:rPr sz="1250" b="0">
                <a:solidFill>
                  <a:srgbClr val="B3C3CE"/>
                </a:solidFill>
                <a:latin typeface="Arial"/>
              </a:rPr>
              <a:t>M6 · Faster R-CNN</a:t>
            </a:r>
          </a:p>
          <a:p>
            <a:pPr algn="l">
              <a:lnSpc>
                <a:spcPct val="105000"/>
              </a:lnSpc>
              <a:spcBef>
                <a:spcPts val="0"/>
              </a:spcBef>
              <a:spcAft>
                <a:spcPts val="0"/>
              </a:spcAft>
            </a:pPr>
            <a:r>
              <a:rPr sz="1250" b="0">
                <a:solidFill>
                  <a:srgbClr val="B3C3CE"/>
                </a:solidFill>
                <a:latin typeface="Arial"/>
              </a:rPr>
              <a:t>Pending linked marks</a:t>
            </a:r>
          </a:p>
        </p:txBody>
      </p:sp>
      <p:sp>
        <p:nvSpPr>
          <p:cNvPr id="9040" name="TextBox 9039"/>
          <p:cNvSpPr txBox="1"/>
          <p:nvPr/>
        </p:nvSpPr>
        <p:spPr>
          <a:xfrm>
            <a:off x="548640" y="4937760"/>
            <a:ext cx="11064240" cy="201168"/>
          </a:xfrm>
          <a:prstGeom prst="rect">
            <a:avLst/>
          </a:prstGeom>
          <a:noFill/>
        </p:spPr>
        <p:txBody>
          <a:bodyPr wrap="square" lIns="0" tIns="0" rIns="0" bIns="0">
            <a:spAutoFit/>
          </a:bodyPr>
          <a:lstStyle/>
          <a:p>
            <a:pPr algn="l">
              <a:lnSpc>
                <a:spcPct val="105000"/>
              </a:lnSpc>
              <a:spcBef>
                <a:spcPts val="0"/>
              </a:spcBef>
              <a:spcAft>
                <a:spcPts val="0"/>
              </a:spcAft>
            </a:pPr>
            <a:r>
              <a:rPr sz="1050" b="1">
                <a:solidFill>
                  <a:srgbClr val="7AB6EA"/>
                </a:solidFill>
                <a:latin typeface="Arial"/>
              </a:rPr>
              <a:t>SHARED STATE · ORIGINAL EVIDENCE, VERSIONED RESULTS AND FROZEN ARTIFACTS</a:t>
            </a:r>
          </a:p>
        </p:txBody>
      </p:sp>
      <p:sp>
        <p:nvSpPr>
          <p:cNvPr id="9041" name="cmev-db card"/>
          <p:cNvSpPr/>
          <p:nvPr/>
        </p:nvSpPr>
        <p:spPr>
          <a:xfrm>
            <a:off x="548640" y="5276088"/>
            <a:ext cx="2432304" cy="832104"/>
          </a:xfrm>
          <a:prstGeom prst="roundRect">
            <a:avLst>
              <a:gd name="adj" fmla="val 8000"/>
            </a:avLst>
          </a:prstGeom>
          <a:solidFill>
            <a:srgbClr val="10232F"/>
          </a:solidFill>
          <a:ln w="13970">
            <a:solidFill>
              <a:srgbClr val="7AB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2" name="TextBox 9041"/>
          <p:cNvSpPr txBox="1"/>
          <p:nvPr/>
        </p:nvSpPr>
        <p:spPr>
          <a:xfrm>
            <a:off x="694944" y="5385816"/>
            <a:ext cx="2139696" cy="283464"/>
          </a:xfrm>
          <a:prstGeom prst="rect">
            <a:avLst/>
          </a:prstGeom>
          <a:noFill/>
        </p:spPr>
        <p:txBody>
          <a:bodyPr wrap="square" lIns="0" tIns="0" rIns="0" bIns="0">
            <a:spAutoFit/>
          </a:bodyPr>
          <a:lstStyle/>
          <a:p>
            <a:pPr algn="l">
              <a:lnSpc>
                <a:spcPct val="105000"/>
              </a:lnSpc>
              <a:spcBef>
                <a:spcPts val="0"/>
              </a:spcBef>
              <a:spcAft>
                <a:spcPts val="0"/>
              </a:spcAft>
            </a:pPr>
            <a:r>
              <a:rPr sz="1600" b="1">
                <a:solidFill>
                  <a:srgbClr val="F3F6F8"/>
                </a:solidFill>
                <a:latin typeface="Arial"/>
              </a:rPr>
              <a:t>cmev-db</a:t>
            </a:r>
          </a:p>
        </p:txBody>
      </p:sp>
      <p:sp>
        <p:nvSpPr>
          <p:cNvPr id="9043" name="TextBox 9042"/>
          <p:cNvSpPr txBox="1"/>
          <p:nvPr/>
        </p:nvSpPr>
        <p:spPr>
          <a:xfrm>
            <a:off x="694944" y="5715000"/>
            <a:ext cx="2139696" cy="329184"/>
          </a:xfrm>
          <a:prstGeom prst="rect">
            <a:avLst/>
          </a:prstGeom>
          <a:noFill/>
        </p:spPr>
        <p:txBody>
          <a:bodyPr wrap="square" lIns="0" tIns="0" rIns="0" bIns="0">
            <a:spAutoFit/>
          </a:bodyPr>
          <a:lstStyle/>
          <a:p>
            <a:pPr algn="l">
              <a:lnSpc>
                <a:spcPct val="105000"/>
              </a:lnSpc>
              <a:spcBef>
                <a:spcPts val="0"/>
              </a:spcBef>
              <a:spcAft>
                <a:spcPts val="0"/>
              </a:spcAft>
            </a:pPr>
            <a:r>
              <a:rPr sz="1200" b="0">
                <a:solidFill>
                  <a:srgbClr val="B3C3CE"/>
                </a:solidFill>
                <a:latin typeface="Arial"/>
              </a:rPr>
              <a:t>PostgreSQL 16</a:t>
            </a:r>
          </a:p>
          <a:p>
            <a:pPr algn="l">
              <a:lnSpc>
                <a:spcPct val="105000"/>
              </a:lnSpc>
              <a:spcBef>
                <a:spcPts val="0"/>
              </a:spcBef>
              <a:spcAft>
                <a:spcPts val="0"/>
              </a:spcAft>
            </a:pPr>
            <a:r>
              <a:rPr sz="1200" b="0">
                <a:solidFill>
                  <a:srgbClr val="B3C3CE"/>
                </a:solidFill>
                <a:latin typeface="Arial"/>
              </a:rPr>
              <a:t>Claims, revisions, results</a:t>
            </a:r>
          </a:p>
        </p:txBody>
      </p:sp>
      <p:sp>
        <p:nvSpPr>
          <p:cNvPr id="9044" name="cmev-objectstore card"/>
          <p:cNvSpPr/>
          <p:nvPr/>
        </p:nvSpPr>
        <p:spPr>
          <a:xfrm>
            <a:off x="3191256" y="5276088"/>
            <a:ext cx="2432304" cy="832104"/>
          </a:xfrm>
          <a:prstGeom prst="roundRect">
            <a:avLst>
              <a:gd name="adj" fmla="val 8000"/>
            </a:avLst>
          </a:prstGeom>
          <a:solidFill>
            <a:srgbClr val="10232F"/>
          </a:solidFill>
          <a:ln w="13970">
            <a:solidFill>
              <a:srgbClr val="7AB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5" name="TextBox 9044"/>
          <p:cNvSpPr txBox="1"/>
          <p:nvPr/>
        </p:nvSpPr>
        <p:spPr>
          <a:xfrm>
            <a:off x="3337560" y="5385816"/>
            <a:ext cx="2139696" cy="283464"/>
          </a:xfrm>
          <a:prstGeom prst="rect">
            <a:avLst/>
          </a:prstGeom>
          <a:noFill/>
        </p:spPr>
        <p:txBody>
          <a:bodyPr wrap="square" lIns="0" tIns="0" rIns="0" bIns="0">
            <a:spAutoFit/>
          </a:bodyPr>
          <a:lstStyle/>
          <a:p>
            <a:pPr algn="l">
              <a:lnSpc>
                <a:spcPct val="105000"/>
              </a:lnSpc>
              <a:spcBef>
                <a:spcPts val="0"/>
              </a:spcBef>
              <a:spcAft>
                <a:spcPts val="0"/>
              </a:spcAft>
            </a:pPr>
            <a:r>
              <a:rPr sz="1500" b="1">
                <a:solidFill>
                  <a:srgbClr val="F3F6F8"/>
                </a:solidFill>
                <a:latin typeface="Arial"/>
              </a:rPr>
              <a:t>cmev-objectstore</a:t>
            </a:r>
          </a:p>
        </p:txBody>
      </p:sp>
      <p:sp>
        <p:nvSpPr>
          <p:cNvPr id="9046" name="TextBox 9045"/>
          <p:cNvSpPr txBox="1"/>
          <p:nvPr/>
        </p:nvSpPr>
        <p:spPr>
          <a:xfrm>
            <a:off x="3337560" y="5715000"/>
            <a:ext cx="2139696" cy="329184"/>
          </a:xfrm>
          <a:prstGeom prst="rect">
            <a:avLst/>
          </a:prstGeom>
          <a:noFill/>
        </p:spPr>
        <p:txBody>
          <a:bodyPr wrap="square" lIns="0" tIns="0" rIns="0" bIns="0">
            <a:spAutoFit/>
          </a:bodyPr>
          <a:lstStyle/>
          <a:p>
            <a:pPr algn="l">
              <a:lnSpc>
                <a:spcPct val="105000"/>
              </a:lnSpc>
              <a:spcBef>
                <a:spcPts val="0"/>
              </a:spcBef>
              <a:spcAft>
                <a:spcPts val="0"/>
              </a:spcAft>
            </a:pPr>
            <a:r>
              <a:rPr sz="1200" b="0">
                <a:solidFill>
                  <a:srgbClr val="B3C3CE"/>
                </a:solidFill>
                <a:latin typeface="Arial"/>
              </a:rPr>
              <a:t>MinIO / S3</a:t>
            </a:r>
          </a:p>
          <a:p>
            <a:pPr algn="l">
              <a:lnSpc>
                <a:spcPct val="105000"/>
              </a:lnSpc>
              <a:spcBef>
                <a:spcPts val="0"/>
              </a:spcBef>
              <a:spcAft>
                <a:spcPts val="0"/>
              </a:spcAft>
            </a:pPr>
            <a:r>
              <a:rPr sz="1200" b="0">
                <a:solidFill>
                  <a:srgbClr val="B3C3CE"/>
                </a:solidFill>
                <a:latin typeface="Arial"/>
              </a:rPr>
              <a:t>Evidence and derived files</a:t>
            </a:r>
          </a:p>
        </p:txBody>
      </p:sp>
      <p:sp>
        <p:nvSpPr>
          <p:cNvPr id="9047" name="Model registry card"/>
          <p:cNvSpPr/>
          <p:nvPr/>
        </p:nvSpPr>
        <p:spPr>
          <a:xfrm>
            <a:off x="5833872" y="5276088"/>
            <a:ext cx="2432304" cy="832104"/>
          </a:xfrm>
          <a:prstGeom prst="roundRect">
            <a:avLst>
              <a:gd name="adj" fmla="val 8000"/>
            </a:avLst>
          </a:prstGeom>
          <a:solidFill>
            <a:srgbClr val="10232F"/>
          </a:solidFill>
          <a:ln w="13970">
            <a:solidFill>
              <a:srgbClr val="7AB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8" name="TextBox 9047"/>
          <p:cNvSpPr txBox="1"/>
          <p:nvPr/>
        </p:nvSpPr>
        <p:spPr>
          <a:xfrm>
            <a:off x="5980176" y="5385816"/>
            <a:ext cx="2139696" cy="283464"/>
          </a:xfrm>
          <a:prstGeom prst="rect">
            <a:avLst/>
          </a:prstGeom>
          <a:noFill/>
        </p:spPr>
        <p:txBody>
          <a:bodyPr wrap="square" lIns="0" tIns="0" rIns="0" bIns="0">
            <a:spAutoFit/>
          </a:bodyPr>
          <a:lstStyle/>
          <a:p>
            <a:pPr algn="l">
              <a:lnSpc>
                <a:spcPct val="105000"/>
              </a:lnSpc>
              <a:spcBef>
                <a:spcPts val="0"/>
              </a:spcBef>
              <a:spcAft>
                <a:spcPts val="0"/>
              </a:spcAft>
            </a:pPr>
            <a:r>
              <a:rPr sz="1600" b="1">
                <a:solidFill>
                  <a:srgbClr val="F3F6F8"/>
                </a:solidFill>
                <a:latin typeface="Arial"/>
              </a:rPr>
              <a:t>Model registry</a:t>
            </a:r>
          </a:p>
        </p:txBody>
      </p:sp>
      <p:sp>
        <p:nvSpPr>
          <p:cNvPr id="9049" name="TextBox 9048"/>
          <p:cNvSpPr txBox="1"/>
          <p:nvPr/>
        </p:nvSpPr>
        <p:spPr>
          <a:xfrm>
            <a:off x="5980176" y="5715000"/>
            <a:ext cx="2139696" cy="329184"/>
          </a:xfrm>
          <a:prstGeom prst="rect">
            <a:avLst/>
          </a:prstGeom>
          <a:noFill/>
        </p:spPr>
        <p:txBody>
          <a:bodyPr wrap="square" lIns="0" tIns="0" rIns="0" bIns="0">
            <a:spAutoFit/>
          </a:bodyPr>
          <a:lstStyle/>
          <a:p>
            <a:pPr algn="l">
              <a:lnSpc>
                <a:spcPct val="105000"/>
              </a:lnSpc>
              <a:spcBef>
                <a:spcPts val="0"/>
              </a:spcBef>
              <a:spcAft>
                <a:spcPts val="0"/>
              </a:spcAft>
            </a:pPr>
            <a:r>
              <a:rPr sz="1200" b="0">
                <a:solidFill>
                  <a:srgbClr val="B3C3CE"/>
                </a:solidFill>
                <a:latin typeface="Arial"/>
              </a:rPr>
              <a:t>Read-only pinned weights</a:t>
            </a:r>
          </a:p>
          <a:p>
            <a:pPr algn="l">
              <a:lnSpc>
                <a:spcPct val="105000"/>
              </a:lnSpc>
              <a:spcBef>
                <a:spcPts val="0"/>
              </a:spcBef>
              <a:spcAft>
                <a:spcPts val="0"/>
              </a:spcAft>
            </a:pPr>
            <a:r>
              <a:rPr sz="1200" b="0">
                <a:solidFill>
                  <a:srgbClr val="B3C3CE"/>
                </a:solidFill>
                <a:latin typeface="Arial"/>
              </a:rPr>
              <a:t>Loaded once at startup</a:t>
            </a:r>
          </a:p>
        </p:txBody>
      </p:sp>
      <p:sp>
        <p:nvSpPr>
          <p:cNvPr id="9050" name="cmev-cost-bootstrap · M7 card"/>
          <p:cNvSpPr/>
          <p:nvPr/>
        </p:nvSpPr>
        <p:spPr>
          <a:xfrm>
            <a:off x="8476488" y="5276088"/>
            <a:ext cx="3163824" cy="832104"/>
          </a:xfrm>
          <a:prstGeom prst="roundRect">
            <a:avLst>
              <a:gd name="adj" fmla="val 8000"/>
            </a:avLst>
          </a:prstGeom>
          <a:solidFill>
            <a:srgbClr val="10232F"/>
          </a:solidFill>
          <a:ln w="13970">
            <a:solidFill>
              <a:srgbClr val="7AB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51" name="TextBox 9050"/>
          <p:cNvSpPr txBox="1"/>
          <p:nvPr/>
        </p:nvSpPr>
        <p:spPr>
          <a:xfrm>
            <a:off x="8622792" y="5385816"/>
            <a:ext cx="2871216" cy="283464"/>
          </a:xfrm>
          <a:prstGeom prst="rect">
            <a:avLst/>
          </a:prstGeom>
          <a:noFill/>
        </p:spPr>
        <p:txBody>
          <a:bodyPr wrap="square" lIns="0" tIns="0" rIns="0" bIns="0">
            <a:spAutoFit/>
          </a:bodyPr>
          <a:lstStyle/>
          <a:p>
            <a:pPr algn="l">
              <a:lnSpc>
                <a:spcPct val="105000"/>
              </a:lnSpc>
              <a:spcBef>
                <a:spcPts val="0"/>
              </a:spcBef>
              <a:spcAft>
                <a:spcPts val="0"/>
              </a:spcAft>
            </a:pPr>
            <a:r>
              <a:rPr sz="1450" b="1">
                <a:solidFill>
                  <a:srgbClr val="F3F6F8"/>
                </a:solidFill>
                <a:latin typeface="Arial"/>
              </a:rPr>
              <a:t>cmev-cost-bootstrap · M7</a:t>
            </a:r>
          </a:p>
        </p:txBody>
      </p:sp>
      <p:sp>
        <p:nvSpPr>
          <p:cNvPr id="9052" name="TextBox 9051"/>
          <p:cNvSpPr txBox="1"/>
          <p:nvPr/>
        </p:nvSpPr>
        <p:spPr>
          <a:xfrm>
            <a:off x="8622792" y="5715000"/>
            <a:ext cx="2871216" cy="329184"/>
          </a:xfrm>
          <a:prstGeom prst="rect">
            <a:avLst/>
          </a:prstGeom>
          <a:noFill/>
        </p:spPr>
        <p:txBody>
          <a:bodyPr wrap="square" lIns="0" tIns="0" rIns="0" bIns="0">
            <a:spAutoFit/>
          </a:bodyPr>
          <a:lstStyle/>
          <a:p>
            <a:pPr algn="l">
              <a:lnSpc>
                <a:spcPct val="105000"/>
              </a:lnSpc>
              <a:spcBef>
                <a:spcPts val="0"/>
              </a:spcBef>
              <a:spcAft>
                <a:spcPts val="0"/>
              </a:spcAft>
            </a:pPr>
            <a:r>
              <a:rPr sz="1200" b="0">
                <a:solidFill>
                  <a:srgbClr val="B3C3CE"/>
                </a:solidFill>
                <a:latin typeface="Arial"/>
              </a:rPr>
              <a:t>Offline LightGBM quantile build</a:t>
            </a:r>
          </a:p>
          <a:p>
            <a:pPr algn="l">
              <a:lnSpc>
                <a:spcPct val="105000"/>
              </a:lnSpc>
              <a:spcBef>
                <a:spcPts val="0"/>
              </a:spcBef>
              <a:spcAft>
                <a:spcPts val="0"/>
              </a:spcAft>
            </a:pPr>
            <a:r>
              <a:rPr sz="1200" b="0">
                <a:solidFill>
                  <a:srgbClr val="B3C3CE"/>
                </a:solidFill>
                <a:latin typeface="Arial"/>
              </a:rPr>
              <a:t>Pinned read-only cost table</a:t>
            </a:r>
          </a:p>
        </p:txBody>
      </p:sp>
      <p:sp>
        <p:nvSpPr>
          <p:cNvPr id="9053" name="TextBox 9052"/>
          <p:cNvSpPr txBox="1"/>
          <p:nvPr/>
        </p:nvSpPr>
        <p:spPr>
          <a:xfrm>
            <a:off x="566928" y="6263640"/>
            <a:ext cx="10972800" cy="182880"/>
          </a:xfrm>
          <a:prstGeom prst="rect">
            <a:avLst/>
          </a:prstGeom>
          <a:noFill/>
        </p:spPr>
        <p:txBody>
          <a:bodyPr wrap="square" lIns="0" tIns="0" rIns="0" bIns="0">
            <a:spAutoFit/>
          </a:bodyPr>
          <a:lstStyle/>
          <a:p>
            <a:pPr algn="l">
              <a:lnSpc>
                <a:spcPct val="105000"/>
              </a:lnSpc>
              <a:spcBef>
                <a:spcPts val="0"/>
              </a:spcBef>
              <a:spcAft>
                <a:spcPts val="0"/>
              </a:spcAft>
            </a:pPr>
            <a:r>
              <a:rPr sz="1050" b="0">
                <a:solidFill>
                  <a:srgbClr val="B3C3CE"/>
                </a:solidFill>
                <a:latin typeface="Arial"/>
              </a:rPr>
              <a:t>M4 → M5 → M6 is orchestrator-chained via Kafka. M7 publishes synthetic reference ranges; M8 performs table lookups.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9006" name="Slide title"/>
          <p:cNvSpPr txBox="1"/>
          <p:nvPr/>
        </p:nvSpPr>
        <p:spPr>
          <a:xfrm>
            <a:off x="530352" y="384048"/>
            <a:ext cx="11082528" cy="438912"/>
          </a:xfrm>
          <a:prstGeom prst="rect">
            <a:avLst/>
          </a:prstGeom>
          <a:noFill/>
        </p:spPr>
        <p:txBody>
          <a:bodyPr wrap="square" lIns="0" tIns="0" rIns="0" bIns="0">
            <a:spAutoFit/>
          </a:bodyPr>
          <a:lstStyle/>
          <a:p>
            <a:pPr algn="l">
              <a:lnSpc>
                <a:spcPct val="105000"/>
              </a:lnSpc>
              <a:spcBef>
                <a:spcPts val="0"/>
              </a:spcBef>
              <a:spcAft>
                <a:spcPts val="0"/>
              </a:spcAft>
            </a:pPr>
            <a:r>
              <a:rPr sz="2600" b="1">
                <a:solidFill>
                  <a:srgbClr val="F3F6F8"/>
                </a:solidFill>
                <a:latin typeface="Arial"/>
              </a:rPr>
              <a:t>Demo</a:t>
            </a:r>
          </a:p>
        </p:txBody>
      </p:sp>
      <p:sp>
        <p:nvSpPr>
          <p:cNvPr id="9007" name="Section and presenter"/>
          <p:cNvSpPr txBox="1"/>
          <p:nvPr/>
        </p:nvSpPr>
        <p:spPr>
          <a:xfrm>
            <a:off x="548640" y="905256"/>
            <a:ext cx="10881360" cy="265176"/>
          </a:xfrm>
          <a:prstGeom prst="rect">
            <a:avLst/>
          </a:prstGeom>
          <a:noFill/>
        </p:spPr>
        <p:txBody>
          <a:bodyPr wrap="square" lIns="0" tIns="0" rIns="0" bIns="0">
            <a:spAutoFit/>
          </a:bodyPr>
          <a:lstStyle/>
          <a:p>
            <a:pPr algn="l">
              <a:lnSpc>
                <a:spcPct val="105000"/>
              </a:lnSpc>
              <a:spcBef>
                <a:spcPts val="0"/>
              </a:spcBef>
              <a:spcAft>
                <a:spcPts val="0"/>
              </a:spcAft>
            </a:pPr>
            <a:r>
              <a:rPr sz="1600" b="0">
                <a:solidFill>
                  <a:srgbClr val="B3C3CE"/>
                </a:solidFill>
                <a:latin typeface="Arial"/>
              </a:rPr>
              <a:t>Section 4  |  Yann</a:t>
            </a:r>
          </a:p>
        </p:txBody>
      </p:sp>
      <p:sp>
        <p:nvSpPr>
          <p:cNvPr id="9008" name="TextBox 9007"/>
          <p:cNvSpPr txBox="1"/>
          <p:nvPr/>
        </p:nvSpPr>
        <p:spPr>
          <a:xfrm>
            <a:off x="11731752" y="6492240"/>
            <a:ext cx="274320" cy="182880"/>
          </a:xfrm>
          <a:prstGeom prst="rect">
            <a:avLst/>
          </a:prstGeom>
          <a:noFill/>
        </p:spPr>
        <p:txBody>
          <a:bodyPr wrap="square" lIns="0" tIns="0" rIns="0" bIns="0">
            <a:spAutoFit/>
          </a:bodyPr>
          <a:lstStyle/>
          <a:p>
            <a:pPr algn="r">
              <a:lnSpc>
                <a:spcPct val="105000"/>
              </a:lnSpc>
              <a:spcBef>
                <a:spcPts val="0"/>
              </a:spcBef>
              <a:spcAft>
                <a:spcPts val="0"/>
              </a:spcAft>
            </a:pPr>
            <a:r>
              <a:rPr sz="900" b="0">
                <a:solidFill>
                  <a:srgbClr val="8397A5"/>
                </a:solidFill>
                <a:latin typeface="Arial"/>
              </a:rPr>
              <a:t>6</a:t>
            </a:r>
          </a:p>
        </p:txBody>
      </p:sp>
      <p:sp>
        <p:nvSpPr>
          <p:cNvPr id="9009" name="Blank content placeholder - Yann"/>
          <p:cNvSpPr txBox="1">
            <a:spLocks noGrp="1"/>
          </p:cNvSpPr>
          <p:nvPr>
            <p:ph type="body" idx="50"/>
          </p:nvPr>
        </p:nvSpPr>
        <p:spPr>
          <a:xfrm>
            <a:off x="594360" y="1508760"/>
            <a:ext cx="10972800" cy="4663440"/>
          </a:xfrm>
          <a:prstGeom prst="rect">
            <a:avLst/>
          </a:prstGeom>
          <a:noFill/>
        </p:spPr>
        <p:txBody>
          <a:bodyPr wrap="square" lIns="0" tIns="0" rIns="0" bIns="0">
            <a:spAutoFit/>
          </a:bodyPr>
          <a:lstStyle/>
          <a:p>
            <a:pPr algn="l">
              <a:lnSpc>
                <a:spcPct val="105000"/>
              </a:lnSpc>
              <a:spcBef>
                <a:spcPts val="0"/>
              </a:spcBef>
              <a:spcAft>
                <a:spcPts val="0"/>
              </a:spcAft>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9006" name="Slide title"/>
          <p:cNvSpPr txBox="1"/>
          <p:nvPr/>
        </p:nvSpPr>
        <p:spPr>
          <a:xfrm>
            <a:off x="530352" y="384048"/>
            <a:ext cx="11082528" cy="438912"/>
          </a:xfrm>
          <a:prstGeom prst="rect">
            <a:avLst/>
          </a:prstGeom>
          <a:noFill/>
        </p:spPr>
        <p:txBody>
          <a:bodyPr wrap="square" lIns="0" tIns="0" rIns="0" bIns="0">
            <a:spAutoFit/>
          </a:bodyPr>
          <a:lstStyle/>
          <a:p>
            <a:pPr algn="l">
              <a:lnSpc>
                <a:spcPct val="105000"/>
              </a:lnSpc>
              <a:spcBef>
                <a:spcPts val="0"/>
              </a:spcBef>
              <a:spcAft>
                <a:spcPts val="0"/>
              </a:spcAft>
            </a:pPr>
            <a:r>
              <a:rPr sz="2600" b="1">
                <a:solidFill>
                  <a:srgbClr val="F3F6F8"/>
                </a:solidFill>
                <a:latin typeface="Arial"/>
              </a:rPr>
              <a:t>Models used</a:t>
            </a:r>
          </a:p>
        </p:txBody>
      </p:sp>
      <p:sp>
        <p:nvSpPr>
          <p:cNvPr id="9007" name="Section and presenter"/>
          <p:cNvSpPr txBox="1"/>
          <p:nvPr/>
        </p:nvSpPr>
        <p:spPr>
          <a:xfrm>
            <a:off x="548640" y="905256"/>
            <a:ext cx="10881360" cy="265176"/>
          </a:xfrm>
          <a:prstGeom prst="rect">
            <a:avLst/>
          </a:prstGeom>
          <a:noFill/>
        </p:spPr>
        <p:txBody>
          <a:bodyPr wrap="square" lIns="0" tIns="0" rIns="0" bIns="0">
            <a:spAutoFit/>
          </a:bodyPr>
          <a:lstStyle/>
          <a:p>
            <a:pPr algn="l">
              <a:lnSpc>
                <a:spcPct val="105000"/>
              </a:lnSpc>
              <a:spcBef>
                <a:spcPts val="0"/>
              </a:spcBef>
              <a:spcAft>
                <a:spcPts val="0"/>
              </a:spcAft>
            </a:pPr>
            <a:r>
              <a:rPr sz="1600" b="0">
                <a:solidFill>
                  <a:srgbClr val="B3C3CE"/>
                </a:solidFill>
                <a:latin typeface="Arial"/>
              </a:rPr>
              <a:t>Section 5  |  Charlene / Arun</a:t>
            </a:r>
          </a:p>
        </p:txBody>
      </p:sp>
      <p:sp>
        <p:nvSpPr>
          <p:cNvPr id="9008" name="TextBox 9007"/>
          <p:cNvSpPr txBox="1"/>
          <p:nvPr/>
        </p:nvSpPr>
        <p:spPr>
          <a:xfrm>
            <a:off x="11731752" y="6492240"/>
            <a:ext cx="274320" cy="182880"/>
          </a:xfrm>
          <a:prstGeom prst="rect">
            <a:avLst/>
          </a:prstGeom>
          <a:noFill/>
        </p:spPr>
        <p:txBody>
          <a:bodyPr wrap="square" lIns="0" tIns="0" rIns="0" bIns="0">
            <a:spAutoFit/>
          </a:bodyPr>
          <a:lstStyle/>
          <a:p>
            <a:pPr algn="r">
              <a:lnSpc>
                <a:spcPct val="105000"/>
              </a:lnSpc>
              <a:spcBef>
                <a:spcPts val="0"/>
              </a:spcBef>
              <a:spcAft>
                <a:spcPts val="0"/>
              </a:spcAft>
            </a:pPr>
            <a:r>
              <a:rPr sz="900" b="0">
                <a:solidFill>
                  <a:srgbClr val="8397A5"/>
                </a:solidFill>
                <a:latin typeface="Arial"/>
              </a:rPr>
              <a:t>7</a:t>
            </a:r>
          </a:p>
        </p:txBody>
      </p:sp>
      <p:sp>
        <p:nvSpPr>
          <p:cNvPr id="9009" name="Blank content placeholder - Charlene / Arun"/>
          <p:cNvSpPr txBox="1">
            <a:spLocks noGrp="1"/>
          </p:cNvSpPr>
          <p:nvPr>
            <p:ph type="body" idx="50"/>
          </p:nvPr>
        </p:nvSpPr>
        <p:spPr>
          <a:xfrm>
            <a:off x="594360" y="1508760"/>
            <a:ext cx="10972800" cy="4663440"/>
          </a:xfrm>
          <a:prstGeom prst="rect">
            <a:avLst/>
          </a:prstGeom>
          <a:noFill/>
        </p:spPr>
        <p:txBody>
          <a:bodyPr wrap="square" lIns="0" tIns="0" rIns="0" bIns="0">
            <a:spAutoFit/>
          </a:bodyPr>
          <a:lstStyle/>
          <a:p>
            <a:pPr algn="l">
              <a:lnSpc>
                <a:spcPct val="105000"/>
              </a:lnSpc>
              <a:spcBef>
                <a:spcPts val="0"/>
              </a:spcBef>
              <a:spcAft>
                <a:spcPts val="0"/>
              </a:spcAft>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9006" name="Slide title"/>
          <p:cNvSpPr txBox="1"/>
          <p:nvPr/>
        </p:nvSpPr>
        <p:spPr>
          <a:xfrm>
            <a:off x="530352" y="384048"/>
            <a:ext cx="11082528" cy="438912"/>
          </a:xfrm>
          <a:prstGeom prst="rect">
            <a:avLst/>
          </a:prstGeom>
          <a:noFill/>
        </p:spPr>
        <p:txBody>
          <a:bodyPr wrap="square" lIns="0" tIns="0" rIns="0" bIns="0">
            <a:spAutoFit/>
          </a:bodyPr>
          <a:lstStyle/>
          <a:p>
            <a:pPr algn="l">
              <a:lnSpc>
                <a:spcPct val="105000"/>
              </a:lnSpc>
              <a:spcBef>
                <a:spcPts val="0"/>
              </a:spcBef>
              <a:spcAft>
                <a:spcPts val="0"/>
              </a:spcAft>
            </a:pPr>
            <a:r>
              <a:rPr sz="2600" b="1">
                <a:solidFill>
                  <a:srgbClr val="F3F6F8"/>
                </a:solidFill>
                <a:latin typeface="Arial"/>
              </a:rPr>
              <a:t>Limitations of the project</a:t>
            </a:r>
          </a:p>
        </p:txBody>
      </p:sp>
      <p:sp>
        <p:nvSpPr>
          <p:cNvPr id="9007" name="Section and presenter"/>
          <p:cNvSpPr txBox="1"/>
          <p:nvPr/>
        </p:nvSpPr>
        <p:spPr>
          <a:xfrm>
            <a:off x="548640" y="905256"/>
            <a:ext cx="10881360" cy="265176"/>
          </a:xfrm>
          <a:prstGeom prst="rect">
            <a:avLst/>
          </a:prstGeom>
          <a:noFill/>
        </p:spPr>
        <p:txBody>
          <a:bodyPr wrap="square" lIns="0" tIns="0" rIns="0" bIns="0">
            <a:spAutoFit/>
          </a:bodyPr>
          <a:lstStyle/>
          <a:p>
            <a:pPr algn="l">
              <a:lnSpc>
                <a:spcPct val="105000"/>
              </a:lnSpc>
              <a:spcBef>
                <a:spcPts val="0"/>
              </a:spcBef>
              <a:spcAft>
                <a:spcPts val="0"/>
              </a:spcAft>
            </a:pPr>
            <a:r>
              <a:rPr sz="1600" b="0">
                <a:solidFill>
                  <a:srgbClr val="B3C3CE"/>
                </a:solidFill>
                <a:latin typeface="Arial"/>
              </a:rPr>
              <a:t>Section 6  |  Charlene · Future improvements</a:t>
            </a:r>
          </a:p>
        </p:txBody>
      </p:sp>
      <p:sp>
        <p:nvSpPr>
          <p:cNvPr id="9008" name="TextBox 9007"/>
          <p:cNvSpPr txBox="1"/>
          <p:nvPr/>
        </p:nvSpPr>
        <p:spPr>
          <a:xfrm>
            <a:off x="11731752" y="6492240"/>
            <a:ext cx="274320" cy="182880"/>
          </a:xfrm>
          <a:prstGeom prst="rect">
            <a:avLst/>
          </a:prstGeom>
          <a:noFill/>
        </p:spPr>
        <p:txBody>
          <a:bodyPr wrap="square" lIns="0" tIns="0" rIns="0" bIns="0">
            <a:spAutoFit/>
          </a:bodyPr>
          <a:lstStyle/>
          <a:p>
            <a:pPr algn="r">
              <a:lnSpc>
                <a:spcPct val="105000"/>
              </a:lnSpc>
              <a:spcBef>
                <a:spcPts val="0"/>
              </a:spcBef>
              <a:spcAft>
                <a:spcPts val="0"/>
              </a:spcAft>
            </a:pPr>
            <a:r>
              <a:rPr sz="900" b="0">
                <a:solidFill>
                  <a:srgbClr val="8397A5"/>
                </a:solidFill>
                <a:latin typeface="Arial"/>
              </a:rPr>
              <a:t>8</a:t>
            </a:r>
          </a:p>
        </p:txBody>
      </p:sp>
      <p:sp>
        <p:nvSpPr>
          <p:cNvPr id="9009" name="TextBox 9008"/>
          <p:cNvSpPr txBox="1"/>
          <p:nvPr/>
        </p:nvSpPr>
        <p:spPr>
          <a:xfrm>
            <a:off x="585216" y="1417320"/>
            <a:ext cx="210312" cy="274320"/>
          </a:xfrm>
          <a:prstGeom prst="rect">
            <a:avLst/>
          </a:prstGeom>
          <a:noFill/>
        </p:spPr>
        <p:txBody>
          <a:bodyPr wrap="square" lIns="0" tIns="0" rIns="0" bIns="0">
            <a:spAutoFit/>
          </a:bodyPr>
          <a:lstStyle/>
          <a:p>
            <a:pPr algn="l">
              <a:lnSpc>
                <a:spcPct val="105000"/>
              </a:lnSpc>
              <a:spcBef>
                <a:spcPts val="0"/>
              </a:spcBef>
              <a:spcAft>
                <a:spcPts val="0"/>
              </a:spcAft>
            </a:pPr>
            <a:r>
              <a:rPr sz="1900" b="1">
                <a:solidFill>
                  <a:srgbClr val="4FD1C0"/>
                </a:solidFill>
                <a:latin typeface="Arial"/>
              </a:rPr>
              <a:t>•</a:t>
            </a:r>
          </a:p>
        </p:txBody>
      </p:sp>
      <p:sp>
        <p:nvSpPr>
          <p:cNvPr id="9010" name="TextBox 9009"/>
          <p:cNvSpPr txBox="1"/>
          <p:nvPr/>
        </p:nvSpPr>
        <p:spPr>
          <a:xfrm>
            <a:off x="877824" y="1417320"/>
            <a:ext cx="10689336" cy="301752"/>
          </a:xfrm>
          <a:prstGeom prst="rect">
            <a:avLst/>
          </a:prstGeom>
          <a:noFill/>
        </p:spPr>
        <p:txBody>
          <a:bodyPr wrap="square" lIns="0" tIns="0" rIns="0" bIns="0">
            <a:spAutoFit/>
          </a:bodyPr>
          <a:lstStyle/>
          <a:p>
            <a:pPr algn="l">
              <a:lnSpc>
                <a:spcPct val="105000"/>
              </a:lnSpc>
              <a:spcBef>
                <a:spcPts val="0"/>
              </a:spcBef>
              <a:spcAft>
                <a:spcPts val="0"/>
              </a:spcAft>
            </a:pPr>
            <a:r>
              <a:rPr sz="2000" b="1">
                <a:solidFill>
                  <a:srgbClr val="7AB6EA"/>
                </a:solidFill>
                <a:latin typeface="Arial"/>
              </a:rPr>
              <a:t>Damage severity not assessed</a:t>
            </a:r>
          </a:p>
        </p:txBody>
      </p:sp>
      <p:sp>
        <p:nvSpPr>
          <p:cNvPr id="9011" name="TextBox 9010"/>
          <p:cNvSpPr txBox="1"/>
          <p:nvPr/>
        </p:nvSpPr>
        <p:spPr>
          <a:xfrm>
            <a:off x="914400" y="1764792"/>
            <a:ext cx="10570464" cy="566928"/>
          </a:xfrm>
          <a:prstGeom prst="rect">
            <a:avLst/>
          </a:prstGeom>
          <a:noFill/>
        </p:spPr>
        <p:txBody>
          <a:bodyPr wrap="square" lIns="0" tIns="0" rIns="0" bIns="0">
            <a:spAutoFit/>
          </a:bodyPr>
          <a:lstStyle/>
          <a:p>
            <a:pPr algn="l">
              <a:lnSpc>
                <a:spcPct val="105000"/>
              </a:lnSpc>
              <a:spcBef>
                <a:spcPts val="0"/>
              </a:spcBef>
              <a:spcAft>
                <a:spcPts val="0"/>
              </a:spcAft>
            </a:pPr>
            <a:r>
              <a:rPr sz="1700" b="0">
                <a:solidFill>
                  <a:srgbClr val="F3F6F8"/>
                </a:solidFill>
                <a:latin typeface="Arial"/>
              </a:rPr>
              <a:t>Damage severity, which may influence repair costs and repair-or-replacement decisions, was not evaluated.</a:t>
            </a:r>
          </a:p>
        </p:txBody>
      </p:sp>
      <p:sp>
        <p:nvSpPr>
          <p:cNvPr id="9012" name="TextBox 9011"/>
          <p:cNvSpPr txBox="1"/>
          <p:nvPr/>
        </p:nvSpPr>
        <p:spPr>
          <a:xfrm>
            <a:off x="585216" y="2382012"/>
            <a:ext cx="210312" cy="274320"/>
          </a:xfrm>
          <a:prstGeom prst="rect">
            <a:avLst/>
          </a:prstGeom>
          <a:noFill/>
        </p:spPr>
        <p:txBody>
          <a:bodyPr wrap="square" lIns="0" tIns="0" rIns="0" bIns="0">
            <a:spAutoFit/>
          </a:bodyPr>
          <a:lstStyle/>
          <a:p>
            <a:pPr algn="l">
              <a:lnSpc>
                <a:spcPct val="105000"/>
              </a:lnSpc>
              <a:spcBef>
                <a:spcPts val="0"/>
              </a:spcBef>
              <a:spcAft>
                <a:spcPts val="0"/>
              </a:spcAft>
            </a:pPr>
            <a:r>
              <a:rPr sz="1900" b="1">
                <a:solidFill>
                  <a:srgbClr val="4FD1C0"/>
                </a:solidFill>
                <a:latin typeface="Arial"/>
              </a:rPr>
              <a:t>•</a:t>
            </a:r>
          </a:p>
        </p:txBody>
      </p:sp>
      <p:sp>
        <p:nvSpPr>
          <p:cNvPr id="9013" name="TextBox 9012"/>
          <p:cNvSpPr txBox="1"/>
          <p:nvPr/>
        </p:nvSpPr>
        <p:spPr>
          <a:xfrm>
            <a:off x="877824" y="2382012"/>
            <a:ext cx="10689336" cy="301752"/>
          </a:xfrm>
          <a:prstGeom prst="rect">
            <a:avLst/>
          </a:prstGeom>
          <a:noFill/>
        </p:spPr>
        <p:txBody>
          <a:bodyPr wrap="square" lIns="0" tIns="0" rIns="0" bIns="0">
            <a:spAutoFit/>
          </a:bodyPr>
          <a:lstStyle/>
          <a:p>
            <a:pPr algn="l">
              <a:lnSpc>
                <a:spcPct val="105000"/>
              </a:lnSpc>
              <a:spcBef>
                <a:spcPts val="0"/>
              </a:spcBef>
              <a:spcAft>
                <a:spcPts val="0"/>
              </a:spcAft>
            </a:pPr>
            <a:r>
              <a:rPr sz="2000" b="1">
                <a:solidFill>
                  <a:srgbClr val="7AB6EA"/>
                </a:solidFill>
                <a:latin typeface="Arial"/>
              </a:rPr>
              <a:t>Sensitivity to vehicle-part segmentation accuracy</a:t>
            </a:r>
          </a:p>
        </p:txBody>
      </p:sp>
      <p:sp>
        <p:nvSpPr>
          <p:cNvPr id="9014" name="TextBox 9013"/>
          <p:cNvSpPr txBox="1"/>
          <p:nvPr/>
        </p:nvSpPr>
        <p:spPr>
          <a:xfrm>
            <a:off x="914400" y="2729484"/>
            <a:ext cx="10570464" cy="566928"/>
          </a:xfrm>
          <a:prstGeom prst="rect">
            <a:avLst/>
          </a:prstGeom>
          <a:noFill/>
        </p:spPr>
        <p:txBody>
          <a:bodyPr wrap="square" lIns="0" tIns="0" rIns="0" bIns="0">
            <a:spAutoFit/>
          </a:bodyPr>
          <a:lstStyle/>
          <a:p>
            <a:pPr algn="l">
              <a:lnSpc>
                <a:spcPct val="105000"/>
              </a:lnSpc>
              <a:spcBef>
                <a:spcPts val="0"/>
              </a:spcBef>
              <a:spcAft>
                <a:spcPts val="0"/>
              </a:spcAft>
            </a:pPr>
            <a:r>
              <a:rPr sz="1700" b="0">
                <a:solidFill>
                  <a:srgbClr val="F3F6F8"/>
                </a:solidFill>
                <a:latin typeface="Arial"/>
              </a:rPr>
              <a:t>Inaccurate part boundaries may affect damage-to-part assignment, particularly across adjacent panels.</a:t>
            </a:r>
          </a:p>
        </p:txBody>
      </p:sp>
      <p:sp>
        <p:nvSpPr>
          <p:cNvPr id="9015" name="TextBox 9014"/>
          <p:cNvSpPr txBox="1"/>
          <p:nvPr/>
        </p:nvSpPr>
        <p:spPr>
          <a:xfrm>
            <a:off x="585216" y="3346704"/>
            <a:ext cx="210312" cy="274320"/>
          </a:xfrm>
          <a:prstGeom prst="rect">
            <a:avLst/>
          </a:prstGeom>
          <a:noFill/>
        </p:spPr>
        <p:txBody>
          <a:bodyPr wrap="square" lIns="0" tIns="0" rIns="0" bIns="0">
            <a:spAutoFit/>
          </a:bodyPr>
          <a:lstStyle/>
          <a:p>
            <a:pPr algn="l">
              <a:lnSpc>
                <a:spcPct val="105000"/>
              </a:lnSpc>
              <a:spcBef>
                <a:spcPts val="0"/>
              </a:spcBef>
              <a:spcAft>
                <a:spcPts val="0"/>
              </a:spcAft>
            </a:pPr>
            <a:r>
              <a:rPr sz="1900" b="1">
                <a:solidFill>
                  <a:srgbClr val="4FD1C0"/>
                </a:solidFill>
                <a:latin typeface="Arial"/>
              </a:rPr>
              <a:t>•</a:t>
            </a:r>
          </a:p>
        </p:txBody>
      </p:sp>
      <p:sp>
        <p:nvSpPr>
          <p:cNvPr id="9016" name="TextBox 9015"/>
          <p:cNvSpPr txBox="1"/>
          <p:nvPr/>
        </p:nvSpPr>
        <p:spPr>
          <a:xfrm>
            <a:off x="877824" y="3346704"/>
            <a:ext cx="10689336" cy="301752"/>
          </a:xfrm>
          <a:prstGeom prst="rect">
            <a:avLst/>
          </a:prstGeom>
          <a:noFill/>
        </p:spPr>
        <p:txBody>
          <a:bodyPr wrap="square" lIns="0" tIns="0" rIns="0" bIns="0">
            <a:spAutoFit/>
          </a:bodyPr>
          <a:lstStyle/>
          <a:p>
            <a:pPr algn="l">
              <a:lnSpc>
                <a:spcPct val="105000"/>
              </a:lnSpc>
              <a:spcBef>
                <a:spcPts val="0"/>
              </a:spcBef>
              <a:spcAft>
                <a:spcPts val="0"/>
              </a:spcAft>
            </a:pPr>
            <a:r>
              <a:rPr sz="2000" b="1">
                <a:solidFill>
                  <a:srgbClr val="7AB6EA"/>
                </a:solidFill>
                <a:latin typeface="Arial"/>
              </a:rPr>
              <a:t>Limited integration of classification and segmentation</a:t>
            </a:r>
          </a:p>
        </p:txBody>
      </p:sp>
      <p:sp>
        <p:nvSpPr>
          <p:cNvPr id="9017" name="TextBox 9016"/>
          <p:cNvSpPr txBox="1"/>
          <p:nvPr/>
        </p:nvSpPr>
        <p:spPr>
          <a:xfrm>
            <a:off x="914400" y="3694176"/>
            <a:ext cx="10570464" cy="566928"/>
          </a:xfrm>
          <a:prstGeom prst="rect">
            <a:avLst/>
          </a:prstGeom>
          <a:noFill/>
        </p:spPr>
        <p:txBody>
          <a:bodyPr wrap="square" lIns="0" tIns="0" rIns="0" bIns="0">
            <a:spAutoFit/>
          </a:bodyPr>
          <a:lstStyle/>
          <a:p>
            <a:pPr algn="l">
              <a:lnSpc>
                <a:spcPct val="105000"/>
              </a:lnSpc>
              <a:spcBef>
                <a:spcPts val="0"/>
              </a:spcBef>
              <a:spcAft>
                <a:spcPts val="0"/>
              </a:spcAft>
            </a:pPr>
            <a:r>
              <a:rPr sz="1700" b="0">
                <a:solidFill>
                  <a:srgbClr val="F3F6F8"/>
                </a:solidFill>
                <a:latin typeface="Arial"/>
              </a:rPr>
              <a:t>ResNet50 and SegFormer-B3 were evaluated separately, potentially limiting the identification of challenging damage types such as flaking and paint chips.</a:t>
            </a:r>
          </a:p>
        </p:txBody>
      </p:sp>
      <p:sp>
        <p:nvSpPr>
          <p:cNvPr id="9018" name="TextBox 9017"/>
          <p:cNvSpPr txBox="1"/>
          <p:nvPr/>
        </p:nvSpPr>
        <p:spPr>
          <a:xfrm>
            <a:off x="585216" y="4311396"/>
            <a:ext cx="210312" cy="274320"/>
          </a:xfrm>
          <a:prstGeom prst="rect">
            <a:avLst/>
          </a:prstGeom>
          <a:noFill/>
        </p:spPr>
        <p:txBody>
          <a:bodyPr wrap="square" lIns="0" tIns="0" rIns="0" bIns="0">
            <a:spAutoFit/>
          </a:bodyPr>
          <a:lstStyle/>
          <a:p>
            <a:pPr algn="l">
              <a:lnSpc>
                <a:spcPct val="105000"/>
              </a:lnSpc>
              <a:spcBef>
                <a:spcPts val="0"/>
              </a:spcBef>
              <a:spcAft>
                <a:spcPts val="0"/>
              </a:spcAft>
            </a:pPr>
            <a:r>
              <a:rPr sz="1900" b="1">
                <a:solidFill>
                  <a:srgbClr val="4FD1C0"/>
                </a:solidFill>
                <a:latin typeface="Arial"/>
              </a:rPr>
              <a:t>•</a:t>
            </a:r>
          </a:p>
        </p:txBody>
      </p:sp>
      <p:sp>
        <p:nvSpPr>
          <p:cNvPr id="9019" name="TextBox 9018"/>
          <p:cNvSpPr txBox="1"/>
          <p:nvPr/>
        </p:nvSpPr>
        <p:spPr>
          <a:xfrm>
            <a:off x="877824" y="4311396"/>
            <a:ext cx="10689336" cy="301752"/>
          </a:xfrm>
          <a:prstGeom prst="rect">
            <a:avLst/>
          </a:prstGeom>
          <a:noFill/>
        </p:spPr>
        <p:txBody>
          <a:bodyPr wrap="square" lIns="0" tIns="0" rIns="0" bIns="0">
            <a:spAutoFit/>
          </a:bodyPr>
          <a:lstStyle/>
          <a:p>
            <a:pPr algn="l">
              <a:lnSpc>
                <a:spcPct val="105000"/>
              </a:lnSpc>
              <a:spcBef>
                <a:spcPts val="0"/>
              </a:spcBef>
              <a:spcAft>
                <a:spcPts val="0"/>
              </a:spcAft>
            </a:pPr>
            <a:r>
              <a:rPr sz="2000" b="1">
                <a:solidFill>
                  <a:srgbClr val="7AB6EA"/>
                </a:solidFill>
                <a:latin typeface="Arial"/>
              </a:rPr>
              <a:t>Limited generalisability of repair cost estimation</a:t>
            </a:r>
          </a:p>
        </p:txBody>
      </p:sp>
      <p:sp>
        <p:nvSpPr>
          <p:cNvPr id="9020" name="TextBox 9019"/>
          <p:cNvSpPr txBox="1"/>
          <p:nvPr/>
        </p:nvSpPr>
        <p:spPr>
          <a:xfrm>
            <a:off x="914400" y="4658868"/>
            <a:ext cx="10570464" cy="566928"/>
          </a:xfrm>
          <a:prstGeom prst="rect">
            <a:avLst/>
          </a:prstGeom>
          <a:noFill/>
        </p:spPr>
        <p:txBody>
          <a:bodyPr wrap="square" lIns="0" tIns="0" rIns="0" bIns="0">
            <a:spAutoFit/>
          </a:bodyPr>
          <a:lstStyle/>
          <a:p>
            <a:pPr algn="l">
              <a:lnSpc>
                <a:spcPct val="105000"/>
              </a:lnSpc>
              <a:spcBef>
                <a:spcPts val="0"/>
              </a:spcBef>
              <a:spcAft>
                <a:spcPts val="0"/>
              </a:spcAft>
            </a:pPr>
            <a:r>
              <a:rPr sz="1700" b="0">
                <a:solidFill>
                  <a:srgbClr val="F3F6F8"/>
                </a:solidFill>
                <a:latin typeface="Arial"/>
              </a:rPr>
              <a:t>The pricing model may not cover all vehicle makes and models, with repair costs varying by vehicle type and repair requirements.</a:t>
            </a:r>
          </a:p>
        </p:txBody>
      </p:sp>
      <p:sp>
        <p:nvSpPr>
          <p:cNvPr id="9021" name="TextBox 9020"/>
          <p:cNvSpPr txBox="1"/>
          <p:nvPr/>
        </p:nvSpPr>
        <p:spPr>
          <a:xfrm>
            <a:off x="585216" y="5276088"/>
            <a:ext cx="210312" cy="274320"/>
          </a:xfrm>
          <a:prstGeom prst="rect">
            <a:avLst/>
          </a:prstGeom>
          <a:noFill/>
        </p:spPr>
        <p:txBody>
          <a:bodyPr wrap="square" lIns="0" tIns="0" rIns="0" bIns="0">
            <a:spAutoFit/>
          </a:bodyPr>
          <a:lstStyle/>
          <a:p>
            <a:pPr algn="l">
              <a:lnSpc>
                <a:spcPct val="105000"/>
              </a:lnSpc>
              <a:spcBef>
                <a:spcPts val="0"/>
              </a:spcBef>
              <a:spcAft>
                <a:spcPts val="0"/>
              </a:spcAft>
            </a:pPr>
            <a:r>
              <a:rPr sz="1900" b="1">
                <a:solidFill>
                  <a:srgbClr val="4FD1C0"/>
                </a:solidFill>
                <a:latin typeface="Arial"/>
              </a:rPr>
              <a:t>•</a:t>
            </a:r>
          </a:p>
        </p:txBody>
      </p:sp>
      <p:sp>
        <p:nvSpPr>
          <p:cNvPr id="9022" name="TextBox 9021"/>
          <p:cNvSpPr txBox="1"/>
          <p:nvPr/>
        </p:nvSpPr>
        <p:spPr>
          <a:xfrm>
            <a:off x="877824" y="5276088"/>
            <a:ext cx="10689336" cy="301752"/>
          </a:xfrm>
          <a:prstGeom prst="rect">
            <a:avLst/>
          </a:prstGeom>
          <a:noFill/>
        </p:spPr>
        <p:txBody>
          <a:bodyPr wrap="square" lIns="0" tIns="0" rIns="0" bIns="0">
            <a:spAutoFit/>
          </a:bodyPr>
          <a:lstStyle/>
          <a:p>
            <a:pPr algn="l">
              <a:lnSpc>
                <a:spcPct val="105000"/>
              </a:lnSpc>
              <a:spcBef>
                <a:spcPts val="0"/>
              </a:spcBef>
              <a:spcAft>
                <a:spcPts val="0"/>
              </a:spcAft>
            </a:pPr>
            <a:r>
              <a:rPr sz="2000" b="1">
                <a:solidFill>
                  <a:srgbClr val="7AB6EA"/>
                </a:solidFill>
                <a:latin typeface="Arial"/>
              </a:rPr>
              <a:t>Limited scope of damage assessment</a:t>
            </a:r>
          </a:p>
        </p:txBody>
      </p:sp>
      <p:sp>
        <p:nvSpPr>
          <p:cNvPr id="9023" name="TextBox 9022"/>
          <p:cNvSpPr txBox="1"/>
          <p:nvPr/>
        </p:nvSpPr>
        <p:spPr>
          <a:xfrm>
            <a:off x="914400" y="5623559"/>
            <a:ext cx="10570464" cy="566928"/>
          </a:xfrm>
          <a:prstGeom prst="rect">
            <a:avLst/>
          </a:prstGeom>
          <a:noFill/>
        </p:spPr>
        <p:txBody>
          <a:bodyPr wrap="square" lIns="0" tIns="0" rIns="0" bIns="0">
            <a:spAutoFit/>
          </a:bodyPr>
          <a:lstStyle/>
          <a:p>
            <a:pPr algn="l">
              <a:lnSpc>
                <a:spcPct val="105000"/>
              </a:lnSpc>
              <a:spcBef>
                <a:spcPts val="0"/>
              </a:spcBef>
              <a:spcAft>
                <a:spcPts val="0"/>
              </a:spcAft>
            </a:pPr>
            <a:r>
              <a:rPr sz="1700" b="0">
                <a:solidFill>
                  <a:srgbClr val="F3F6F8"/>
                </a:solidFill>
                <a:latin typeface="Arial"/>
              </a:rPr>
              <a:t>The CarDD and HITL datasets primarily cover external vehicle damage, excluding internal mechanical damage such as engine and transmission damage.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9006" name="Slide title"/>
          <p:cNvSpPr txBox="1"/>
          <p:nvPr/>
        </p:nvSpPr>
        <p:spPr>
          <a:xfrm>
            <a:off x="530352" y="384048"/>
            <a:ext cx="11082528" cy="438912"/>
          </a:xfrm>
          <a:prstGeom prst="rect">
            <a:avLst/>
          </a:prstGeom>
          <a:noFill/>
        </p:spPr>
        <p:txBody>
          <a:bodyPr wrap="square" lIns="0" tIns="0" rIns="0" bIns="0">
            <a:spAutoFit/>
          </a:bodyPr>
          <a:lstStyle/>
          <a:p>
            <a:pPr algn="l">
              <a:lnSpc>
                <a:spcPct val="105000"/>
              </a:lnSpc>
              <a:spcBef>
                <a:spcPts val="0"/>
              </a:spcBef>
              <a:spcAft>
                <a:spcPts val="0"/>
              </a:spcAft>
            </a:pPr>
            <a:r>
              <a:rPr sz="2600" b="1">
                <a:solidFill>
                  <a:srgbClr val="F3F6F8"/>
                </a:solidFill>
                <a:latin typeface="Arial"/>
              </a:rPr>
              <a:t>Recommendations for motor insurance applications</a:t>
            </a:r>
          </a:p>
        </p:txBody>
      </p:sp>
      <p:sp>
        <p:nvSpPr>
          <p:cNvPr id="9007" name="Section and presenter"/>
          <p:cNvSpPr txBox="1"/>
          <p:nvPr/>
        </p:nvSpPr>
        <p:spPr>
          <a:xfrm>
            <a:off x="548640" y="905256"/>
            <a:ext cx="10881360" cy="265176"/>
          </a:xfrm>
          <a:prstGeom prst="rect">
            <a:avLst/>
          </a:prstGeom>
          <a:noFill/>
        </p:spPr>
        <p:txBody>
          <a:bodyPr wrap="square" lIns="0" tIns="0" rIns="0" bIns="0">
            <a:spAutoFit/>
          </a:bodyPr>
          <a:lstStyle/>
          <a:p>
            <a:pPr algn="l">
              <a:lnSpc>
                <a:spcPct val="105000"/>
              </a:lnSpc>
              <a:spcBef>
                <a:spcPts val="0"/>
              </a:spcBef>
              <a:spcAft>
                <a:spcPts val="0"/>
              </a:spcAft>
            </a:pPr>
            <a:r>
              <a:rPr sz="1600" b="0">
                <a:solidFill>
                  <a:srgbClr val="B3C3CE"/>
                </a:solidFill>
                <a:latin typeface="Arial"/>
              </a:rPr>
              <a:t>Section 6  |  Charlene · Future improvements</a:t>
            </a:r>
          </a:p>
        </p:txBody>
      </p:sp>
      <p:sp>
        <p:nvSpPr>
          <p:cNvPr id="9008" name="TextBox 9007"/>
          <p:cNvSpPr txBox="1"/>
          <p:nvPr/>
        </p:nvSpPr>
        <p:spPr>
          <a:xfrm>
            <a:off x="11731752" y="6492240"/>
            <a:ext cx="274320" cy="182880"/>
          </a:xfrm>
          <a:prstGeom prst="rect">
            <a:avLst/>
          </a:prstGeom>
          <a:noFill/>
        </p:spPr>
        <p:txBody>
          <a:bodyPr wrap="square" lIns="0" tIns="0" rIns="0" bIns="0">
            <a:spAutoFit/>
          </a:bodyPr>
          <a:lstStyle/>
          <a:p>
            <a:pPr algn="r">
              <a:lnSpc>
                <a:spcPct val="105000"/>
              </a:lnSpc>
              <a:spcBef>
                <a:spcPts val="0"/>
              </a:spcBef>
              <a:spcAft>
                <a:spcPts val="0"/>
              </a:spcAft>
            </a:pPr>
            <a:r>
              <a:rPr sz="900" b="0">
                <a:solidFill>
                  <a:srgbClr val="8397A5"/>
                </a:solidFill>
                <a:latin typeface="Arial"/>
              </a:rPr>
              <a:t>9</a:t>
            </a:r>
          </a:p>
        </p:txBody>
      </p:sp>
      <p:sp>
        <p:nvSpPr>
          <p:cNvPr id="9009" name="TextBox 9008"/>
          <p:cNvSpPr txBox="1"/>
          <p:nvPr/>
        </p:nvSpPr>
        <p:spPr>
          <a:xfrm>
            <a:off x="585216" y="1417320"/>
            <a:ext cx="210312" cy="274320"/>
          </a:xfrm>
          <a:prstGeom prst="rect">
            <a:avLst/>
          </a:prstGeom>
          <a:noFill/>
        </p:spPr>
        <p:txBody>
          <a:bodyPr wrap="square" lIns="0" tIns="0" rIns="0" bIns="0">
            <a:spAutoFit/>
          </a:bodyPr>
          <a:lstStyle/>
          <a:p>
            <a:pPr algn="l">
              <a:lnSpc>
                <a:spcPct val="105000"/>
              </a:lnSpc>
              <a:spcBef>
                <a:spcPts val="0"/>
              </a:spcBef>
              <a:spcAft>
                <a:spcPts val="0"/>
              </a:spcAft>
            </a:pPr>
            <a:r>
              <a:rPr sz="1900" b="1">
                <a:solidFill>
                  <a:srgbClr val="4FD1C0"/>
                </a:solidFill>
                <a:latin typeface="Arial"/>
              </a:rPr>
              <a:t>•</a:t>
            </a:r>
          </a:p>
        </p:txBody>
      </p:sp>
      <p:sp>
        <p:nvSpPr>
          <p:cNvPr id="9010" name="TextBox 9009"/>
          <p:cNvSpPr txBox="1"/>
          <p:nvPr/>
        </p:nvSpPr>
        <p:spPr>
          <a:xfrm>
            <a:off x="877824" y="1417320"/>
            <a:ext cx="10689336" cy="301752"/>
          </a:xfrm>
          <a:prstGeom prst="rect">
            <a:avLst/>
          </a:prstGeom>
          <a:noFill/>
        </p:spPr>
        <p:txBody>
          <a:bodyPr wrap="square" lIns="0" tIns="0" rIns="0" bIns="0">
            <a:spAutoFit/>
          </a:bodyPr>
          <a:lstStyle/>
          <a:p>
            <a:pPr algn="l">
              <a:lnSpc>
                <a:spcPct val="105000"/>
              </a:lnSpc>
              <a:spcBef>
                <a:spcPts val="0"/>
              </a:spcBef>
              <a:spcAft>
                <a:spcPts val="0"/>
              </a:spcAft>
            </a:pPr>
            <a:r>
              <a:rPr sz="2000" b="1">
                <a:solidFill>
                  <a:srgbClr val="7AB6EA"/>
                </a:solidFill>
                <a:latin typeface="Arial"/>
              </a:rPr>
              <a:t>Standardise photographic documentation</a:t>
            </a:r>
          </a:p>
        </p:txBody>
      </p:sp>
      <p:sp>
        <p:nvSpPr>
          <p:cNvPr id="9011" name="TextBox 9010"/>
          <p:cNvSpPr txBox="1"/>
          <p:nvPr/>
        </p:nvSpPr>
        <p:spPr>
          <a:xfrm>
            <a:off x="914400" y="1764792"/>
            <a:ext cx="10570464" cy="566928"/>
          </a:xfrm>
          <a:prstGeom prst="rect">
            <a:avLst/>
          </a:prstGeom>
          <a:noFill/>
        </p:spPr>
        <p:txBody>
          <a:bodyPr wrap="square" lIns="0" tIns="0" rIns="0" bIns="0">
            <a:spAutoFit/>
          </a:bodyPr>
          <a:lstStyle/>
          <a:p>
            <a:pPr algn="l">
              <a:lnSpc>
                <a:spcPct val="105000"/>
              </a:lnSpc>
              <a:spcBef>
                <a:spcPts val="0"/>
              </a:spcBef>
              <a:spcAft>
                <a:spcPts val="0"/>
              </a:spcAft>
            </a:pPr>
            <a:r>
              <a:rPr sz="1700" b="0">
                <a:solidFill>
                  <a:srgbClr val="F3F6F8"/>
                </a:solidFill>
                <a:latin typeface="Arial"/>
              </a:rPr>
              <a:t>Train motor surveyors in standardised image capture to ensure adequate image quality, viewing angles and visibility of damaged areas.</a:t>
            </a:r>
          </a:p>
        </p:txBody>
      </p:sp>
      <p:sp>
        <p:nvSpPr>
          <p:cNvPr id="9012" name="TextBox 9011"/>
          <p:cNvSpPr txBox="1"/>
          <p:nvPr/>
        </p:nvSpPr>
        <p:spPr>
          <a:xfrm>
            <a:off x="585216" y="2382012"/>
            <a:ext cx="210312" cy="274320"/>
          </a:xfrm>
          <a:prstGeom prst="rect">
            <a:avLst/>
          </a:prstGeom>
          <a:noFill/>
        </p:spPr>
        <p:txBody>
          <a:bodyPr wrap="square" lIns="0" tIns="0" rIns="0" bIns="0">
            <a:spAutoFit/>
          </a:bodyPr>
          <a:lstStyle/>
          <a:p>
            <a:pPr algn="l">
              <a:lnSpc>
                <a:spcPct val="105000"/>
              </a:lnSpc>
              <a:spcBef>
                <a:spcPts val="0"/>
              </a:spcBef>
              <a:spcAft>
                <a:spcPts val="0"/>
              </a:spcAft>
            </a:pPr>
            <a:r>
              <a:rPr sz="1900" b="1">
                <a:solidFill>
                  <a:srgbClr val="4FD1C0"/>
                </a:solidFill>
                <a:latin typeface="Arial"/>
              </a:rPr>
              <a:t>•</a:t>
            </a:r>
          </a:p>
        </p:txBody>
      </p:sp>
      <p:sp>
        <p:nvSpPr>
          <p:cNvPr id="9013" name="TextBox 9012"/>
          <p:cNvSpPr txBox="1"/>
          <p:nvPr/>
        </p:nvSpPr>
        <p:spPr>
          <a:xfrm>
            <a:off x="877824" y="2382012"/>
            <a:ext cx="10689336" cy="301752"/>
          </a:xfrm>
          <a:prstGeom prst="rect">
            <a:avLst/>
          </a:prstGeom>
          <a:noFill/>
        </p:spPr>
        <p:txBody>
          <a:bodyPr wrap="square" lIns="0" tIns="0" rIns="0" bIns="0">
            <a:spAutoFit/>
          </a:bodyPr>
          <a:lstStyle/>
          <a:p>
            <a:pPr algn="l">
              <a:lnSpc>
                <a:spcPct val="105000"/>
              </a:lnSpc>
              <a:spcBef>
                <a:spcPts val="0"/>
              </a:spcBef>
              <a:spcAft>
                <a:spcPts val="0"/>
              </a:spcAft>
            </a:pPr>
            <a:r>
              <a:rPr sz="2000" b="1">
                <a:solidFill>
                  <a:srgbClr val="7AB6EA"/>
                </a:solidFill>
                <a:latin typeface="Arial"/>
              </a:rPr>
              <a:t>Expand training datasets</a:t>
            </a:r>
          </a:p>
        </p:txBody>
      </p:sp>
      <p:sp>
        <p:nvSpPr>
          <p:cNvPr id="9014" name="TextBox 9013"/>
          <p:cNvSpPr txBox="1"/>
          <p:nvPr/>
        </p:nvSpPr>
        <p:spPr>
          <a:xfrm>
            <a:off x="914400" y="2729484"/>
            <a:ext cx="10570464" cy="566928"/>
          </a:xfrm>
          <a:prstGeom prst="rect">
            <a:avLst/>
          </a:prstGeom>
          <a:noFill/>
        </p:spPr>
        <p:txBody>
          <a:bodyPr wrap="square" lIns="0" tIns="0" rIns="0" bIns="0">
            <a:spAutoFit/>
          </a:bodyPr>
          <a:lstStyle/>
          <a:p>
            <a:pPr algn="l">
              <a:lnSpc>
                <a:spcPct val="105000"/>
              </a:lnSpc>
              <a:spcBef>
                <a:spcPts val="0"/>
              </a:spcBef>
              <a:spcAft>
                <a:spcPts val="0"/>
              </a:spcAft>
            </a:pPr>
            <a:r>
              <a:rPr sz="1700" b="0">
                <a:solidFill>
                  <a:srgbClr val="F3F6F8"/>
                </a:solidFill>
                <a:latin typeface="Arial"/>
              </a:rPr>
              <a:t>Increase the availability and diversity of annotated damage images, particularly for underrepresented categories such as flaking and paint chips.</a:t>
            </a:r>
          </a:p>
        </p:txBody>
      </p:sp>
      <p:sp>
        <p:nvSpPr>
          <p:cNvPr id="9015" name="TextBox 9014"/>
          <p:cNvSpPr txBox="1"/>
          <p:nvPr/>
        </p:nvSpPr>
        <p:spPr>
          <a:xfrm>
            <a:off x="585216" y="3346704"/>
            <a:ext cx="210312" cy="274320"/>
          </a:xfrm>
          <a:prstGeom prst="rect">
            <a:avLst/>
          </a:prstGeom>
          <a:noFill/>
        </p:spPr>
        <p:txBody>
          <a:bodyPr wrap="square" lIns="0" tIns="0" rIns="0" bIns="0">
            <a:spAutoFit/>
          </a:bodyPr>
          <a:lstStyle/>
          <a:p>
            <a:pPr algn="l">
              <a:lnSpc>
                <a:spcPct val="105000"/>
              </a:lnSpc>
              <a:spcBef>
                <a:spcPts val="0"/>
              </a:spcBef>
              <a:spcAft>
                <a:spcPts val="0"/>
              </a:spcAft>
            </a:pPr>
            <a:r>
              <a:rPr sz="1900" b="1">
                <a:solidFill>
                  <a:srgbClr val="4FD1C0"/>
                </a:solidFill>
                <a:latin typeface="Arial"/>
              </a:rPr>
              <a:t>•</a:t>
            </a:r>
          </a:p>
        </p:txBody>
      </p:sp>
      <p:sp>
        <p:nvSpPr>
          <p:cNvPr id="9016" name="TextBox 9015"/>
          <p:cNvSpPr txBox="1"/>
          <p:nvPr/>
        </p:nvSpPr>
        <p:spPr>
          <a:xfrm>
            <a:off x="877824" y="3346704"/>
            <a:ext cx="10689336" cy="301752"/>
          </a:xfrm>
          <a:prstGeom prst="rect">
            <a:avLst/>
          </a:prstGeom>
          <a:noFill/>
        </p:spPr>
        <p:txBody>
          <a:bodyPr wrap="square" lIns="0" tIns="0" rIns="0" bIns="0">
            <a:spAutoFit/>
          </a:bodyPr>
          <a:lstStyle/>
          <a:p>
            <a:pPr algn="l">
              <a:lnSpc>
                <a:spcPct val="105000"/>
              </a:lnSpc>
              <a:spcBef>
                <a:spcPts val="0"/>
              </a:spcBef>
              <a:spcAft>
                <a:spcPts val="0"/>
              </a:spcAft>
            </a:pPr>
            <a:r>
              <a:rPr sz="2000" b="1">
                <a:solidFill>
                  <a:srgbClr val="7AB6EA"/>
                </a:solidFill>
                <a:latin typeface="Arial"/>
              </a:rPr>
              <a:t>Integrate classification and segmentation models</a:t>
            </a:r>
          </a:p>
        </p:txBody>
      </p:sp>
      <p:sp>
        <p:nvSpPr>
          <p:cNvPr id="9017" name="TextBox 9016"/>
          <p:cNvSpPr txBox="1"/>
          <p:nvPr/>
        </p:nvSpPr>
        <p:spPr>
          <a:xfrm>
            <a:off x="914400" y="3694176"/>
            <a:ext cx="10570464" cy="566928"/>
          </a:xfrm>
          <a:prstGeom prst="rect">
            <a:avLst/>
          </a:prstGeom>
          <a:noFill/>
        </p:spPr>
        <p:txBody>
          <a:bodyPr wrap="square" lIns="0" tIns="0" rIns="0" bIns="0">
            <a:spAutoFit/>
          </a:bodyPr>
          <a:lstStyle/>
          <a:p>
            <a:pPr algn="l">
              <a:lnSpc>
                <a:spcPct val="105000"/>
              </a:lnSpc>
              <a:spcBef>
                <a:spcPts val="0"/>
              </a:spcBef>
              <a:spcAft>
                <a:spcPts val="0"/>
              </a:spcAft>
            </a:pPr>
            <a:r>
              <a:rPr sz="1700" b="0">
                <a:solidFill>
                  <a:srgbClr val="F3F6F8"/>
                </a:solidFill>
                <a:latin typeface="Arial"/>
              </a:rPr>
              <a:t>Explore combining ResNet50 and SegFormer-B3 to improve damage identification and localisation accuracy.</a:t>
            </a:r>
          </a:p>
        </p:txBody>
      </p:sp>
      <p:sp>
        <p:nvSpPr>
          <p:cNvPr id="9018" name="TextBox 9017"/>
          <p:cNvSpPr txBox="1"/>
          <p:nvPr/>
        </p:nvSpPr>
        <p:spPr>
          <a:xfrm>
            <a:off x="585216" y="4311396"/>
            <a:ext cx="210312" cy="274320"/>
          </a:xfrm>
          <a:prstGeom prst="rect">
            <a:avLst/>
          </a:prstGeom>
          <a:noFill/>
        </p:spPr>
        <p:txBody>
          <a:bodyPr wrap="square" lIns="0" tIns="0" rIns="0" bIns="0">
            <a:spAutoFit/>
          </a:bodyPr>
          <a:lstStyle/>
          <a:p>
            <a:pPr algn="l">
              <a:lnSpc>
                <a:spcPct val="105000"/>
              </a:lnSpc>
              <a:spcBef>
                <a:spcPts val="0"/>
              </a:spcBef>
              <a:spcAft>
                <a:spcPts val="0"/>
              </a:spcAft>
            </a:pPr>
            <a:r>
              <a:rPr sz="1900" b="1">
                <a:solidFill>
                  <a:srgbClr val="4FD1C0"/>
                </a:solidFill>
                <a:latin typeface="Arial"/>
              </a:rPr>
              <a:t>•</a:t>
            </a:r>
          </a:p>
        </p:txBody>
      </p:sp>
      <p:sp>
        <p:nvSpPr>
          <p:cNvPr id="9019" name="TextBox 9018"/>
          <p:cNvSpPr txBox="1"/>
          <p:nvPr/>
        </p:nvSpPr>
        <p:spPr>
          <a:xfrm>
            <a:off x="877824" y="4311396"/>
            <a:ext cx="10689336" cy="301752"/>
          </a:xfrm>
          <a:prstGeom prst="rect">
            <a:avLst/>
          </a:prstGeom>
          <a:noFill/>
        </p:spPr>
        <p:txBody>
          <a:bodyPr wrap="square" lIns="0" tIns="0" rIns="0" bIns="0">
            <a:spAutoFit/>
          </a:bodyPr>
          <a:lstStyle/>
          <a:p>
            <a:pPr algn="l">
              <a:lnSpc>
                <a:spcPct val="105000"/>
              </a:lnSpc>
              <a:spcBef>
                <a:spcPts val="0"/>
              </a:spcBef>
              <a:spcAft>
                <a:spcPts val="0"/>
              </a:spcAft>
            </a:pPr>
            <a:r>
              <a:rPr sz="2000" b="1">
                <a:solidFill>
                  <a:srgbClr val="7AB6EA"/>
                </a:solidFill>
                <a:latin typeface="Arial"/>
              </a:rPr>
              <a:t>Evaluate implementation feasibility and cost</a:t>
            </a:r>
          </a:p>
        </p:txBody>
      </p:sp>
      <p:sp>
        <p:nvSpPr>
          <p:cNvPr id="9020" name="TextBox 9019"/>
          <p:cNvSpPr txBox="1"/>
          <p:nvPr/>
        </p:nvSpPr>
        <p:spPr>
          <a:xfrm>
            <a:off x="914400" y="4658868"/>
            <a:ext cx="10570464" cy="566928"/>
          </a:xfrm>
          <a:prstGeom prst="rect">
            <a:avLst/>
          </a:prstGeom>
          <a:noFill/>
        </p:spPr>
        <p:txBody>
          <a:bodyPr wrap="square" lIns="0" tIns="0" rIns="0" bIns="0">
            <a:spAutoFit/>
          </a:bodyPr>
          <a:lstStyle/>
          <a:p>
            <a:pPr algn="l">
              <a:lnSpc>
                <a:spcPct val="105000"/>
              </a:lnSpc>
              <a:spcBef>
                <a:spcPts val="0"/>
              </a:spcBef>
              <a:spcAft>
                <a:spcPts val="0"/>
              </a:spcAft>
            </a:pPr>
            <a:r>
              <a:rPr sz="1700" b="0">
                <a:solidFill>
                  <a:srgbClr val="F3F6F8"/>
                </a:solidFill>
                <a:latin typeface="Arial"/>
              </a:rPr>
              <a:t>Assess computational requirements, implementation costs, integration with existing claims workflows and potential operational benefits.</a:t>
            </a:r>
          </a:p>
        </p:txBody>
      </p:sp>
      <p:sp>
        <p:nvSpPr>
          <p:cNvPr id="9021" name="TextBox 9020"/>
          <p:cNvSpPr txBox="1"/>
          <p:nvPr/>
        </p:nvSpPr>
        <p:spPr>
          <a:xfrm>
            <a:off x="585216" y="5276088"/>
            <a:ext cx="210312" cy="274320"/>
          </a:xfrm>
          <a:prstGeom prst="rect">
            <a:avLst/>
          </a:prstGeom>
          <a:noFill/>
        </p:spPr>
        <p:txBody>
          <a:bodyPr wrap="square" lIns="0" tIns="0" rIns="0" bIns="0">
            <a:spAutoFit/>
          </a:bodyPr>
          <a:lstStyle/>
          <a:p>
            <a:pPr algn="l">
              <a:lnSpc>
                <a:spcPct val="105000"/>
              </a:lnSpc>
              <a:spcBef>
                <a:spcPts val="0"/>
              </a:spcBef>
              <a:spcAft>
                <a:spcPts val="0"/>
              </a:spcAft>
            </a:pPr>
            <a:r>
              <a:rPr sz="1900" b="1">
                <a:solidFill>
                  <a:srgbClr val="4FD1C0"/>
                </a:solidFill>
                <a:latin typeface="Arial"/>
              </a:rPr>
              <a:t>•</a:t>
            </a:r>
          </a:p>
        </p:txBody>
      </p:sp>
      <p:sp>
        <p:nvSpPr>
          <p:cNvPr id="9022" name="TextBox 9021"/>
          <p:cNvSpPr txBox="1"/>
          <p:nvPr/>
        </p:nvSpPr>
        <p:spPr>
          <a:xfrm>
            <a:off x="877824" y="5276088"/>
            <a:ext cx="10689336" cy="301752"/>
          </a:xfrm>
          <a:prstGeom prst="rect">
            <a:avLst/>
          </a:prstGeom>
          <a:noFill/>
        </p:spPr>
        <p:txBody>
          <a:bodyPr wrap="square" lIns="0" tIns="0" rIns="0" bIns="0">
            <a:spAutoFit/>
          </a:bodyPr>
          <a:lstStyle/>
          <a:p>
            <a:pPr algn="l">
              <a:lnSpc>
                <a:spcPct val="105000"/>
              </a:lnSpc>
              <a:spcBef>
                <a:spcPts val="0"/>
              </a:spcBef>
              <a:spcAft>
                <a:spcPts val="0"/>
              </a:spcAft>
            </a:pPr>
            <a:r>
              <a:rPr sz="2000" b="1">
                <a:solidFill>
                  <a:srgbClr val="7AB6EA"/>
                </a:solidFill>
                <a:latin typeface="Arial"/>
              </a:rPr>
              <a:t>Extend model generalisability</a:t>
            </a:r>
          </a:p>
        </p:txBody>
      </p:sp>
      <p:sp>
        <p:nvSpPr>
          <p:cNvPr id="9023" name="TextBox 9022"/>
          <p:cNvSpPr txBox="1"/>
          <p:nvPr/>
        </p:nvSpPr>
        <p:spPr>
          <a:xfrm>
            <a:off x="914400" y="5623559"/>
            <a:ext cx="10570464" cy="566928"/>
          </a:xfrm>
          <a:prstGeom prst="rect">
            <a:avLst/>
          </a:prstGeom>
          <a:noFill/>
        </p:spPr>
        <p:txBody>
          <a:bodyPr wrap="square" lIns="0" tIns="0" rIns="0" bIns="0">
            <a:spAutoFit/>
          </a:bodyPr>
          <a:lstStyle/>
          <a:p>
            <a:pPr algn="l">
              <a:lnSpc>
                <a:spcPct val="105000"/>
              </a:lnSpc>
              <a:spcBef>
                <a:spcPts val="0"/>
              </a:spcBef>
              <a:spcAft>
                <a:spcPts val="0"/>
              </a:spcAft>
            </a:pPr>
            <a:r>
              <a:rPr sz="1700" b="0">
                <a:solidFill>
                  <a:srgbClr val="F3F6F8"/>
                </a:solidFill>
                <a:latin typeface="Arial"/>
              </a:rPr>
              <a:t>Evaluate model transferability to electric vehicles and different vehicle makes and models, incorporating vehicle-specific repair costs for more accurate cost estimation.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9006" name="Slide title"/>
          <p:cNvSpPr txBox="1"/>
          <p:nvPr/>
        </p:nvSpPr>
        <p:spPr>
          <a:xfrm>
            <a:off x="530352" y="384048"/>
            <a:ext cx="11082528" cy="438912"/>
          </a:xfrm>
          <a:prstGeom prst="rect">
            <a:avLst/>
          </a:prstGeom>
          <a:noFill/>
        </p:spPr>
        <p:txBody>
          <a:bodyPr wrap="square" lIns="0" tIns="0" rIns="0" bIns="0">
            <a:spAutoFit/>
          </a:bodyPr>
          <a:lstStyle/>
          <a:p>
            <a:pPr algn="l">
              <a:lnSpc>
                <a:spcPct val="105000"/>
              </a:lnSpc>
              <a:spcBef>
                <a:spcPts val="0"/>
              </a:spcBef>
              <a:spcAft>
                <a:spcPts val="0"/>
              </a:spcAft>
            </a:pPr>
            <a:r>
              <a:rPr sz="2600" b="1">
                <a:solidFill>
                  <a:srgbClr val="F3F6F8"/>
                </a:solidFill>
                <a:latin typeface="Arial"/>
              </a:rPr>
              <a:t>Potential applications</a:t>
            </a:r>
          </a:p>
        </p:txBody>
      </p:sp>
      <p:sp>
        <p:nvSpPr>
          <p:cNvPr id="9007" name="Section and presenter"/>
          <p:cNvSpPr txBox="1"/>
          <p:nvPr/>
        </p:nvSpPr>
        <p:spPr>
          <a:xfrm>
            <a:off x="548640" y="905256"/>
            <a:ext cx="10881360" cy="265176"/>
          </a:xfrm>
          <a:prstGeom prst="rect">
            <a:avLst/>
          </a:prstGeom>
          <a:noFill/>
        </p:spPr>
        <p:txBody>
          <a:bodyPr wrap="square" lIns="0" tIns="0" rIns="0" bIns="0">
            <a:spAutoFit/>
          </a:bodyPr>
          <a:lstStyle/>
          <a:p>
            <a:pPr algn="l">
              <a:lnSpc>
                <a:spcPct val="105000"/>
              </a:lnSpc>
              <a:spcBef>
                <a:spcPts val="0"/>
              </a:spcBef>
              <a:spcAft>
                <a:spcPts val="0"/>
              </a:spcAft>
            </a:pPr>
            <a:r>
              <a:rPr sz="1600" b="0">
                <a:solidFill>
                  <a:srgbClr val="B3C3CE"/>
                </a:solidFill>
                <a:latin typeface="Arial"/>
              </a:rPr>
              <a:t>Section 7  |  Arun</a:t>
            </a:r>
          </a:p>
        </p:txBody>
      </p:sp>
      <p:sp>
        <p:nvSpPr>
          <p:cNvPr id="9008" name="TextBox 9007"/>
          <p:cNvSpPr txBox="1"/>
          <p:nvPr/>
        </p:nvSpPr>
        <p:spPr>
          <a:xfrm>
            <a:off x="11731752" y="6492240"/>
            <a:ext cx="274320" cy="182880"/>
          </a:xfrm>
          <a:prstGeom prst="rect">
            <a:avLst/>
          </a:prstGeom>
          <a:noFill/>
        </p:spPr>
        <p:txBody>
          <a:bodyPr wrap="square" lIns="0" tIns="0" rIns="0" bIns="0">
            <a:spAutoFit/>
          </a:bodyPr>
          <a:lstStyle/>
          <a:p>
            <a:pPr algn="r">
              <a:lnSpc>
                <a:spcPct val="105000"/>
              </a:lnSpc>
              <a:spcBef>
                <a:spcPts val="0"/>
              </a:spcBef>
              <a:spcAft>
                <a:spcPts val="0"/>
              </a:spcAft>
            </a:pPr>
            <a:r>
              <a:rPr sz="900" b="0">
                <a:solidFill>
                  <a:srgbClr val="8397A5"/>
                </a:solidFill>
                <a:latin typeface="Arial"/>
              </a:rPr>
              <a:t>10</a:t>
            </a:r>
          </a:p>
        </p:txBody>
      </p:sp>
      <p:sp>
        <p:nvSpPr>
          <p:cNvPr id="9009" name="Blank content placeholder - Arun"/>
          <p:cNvSpPr txBox="1">
            <a:spLocks noGrp="1"/>
          </p:cNvSpPr>
          <p:nvPr>
            <p:ph type="body" idx="50"/>
          </p:nvPr>
        </p:nvSpPr>
        <p:spPr>
          <a:xfrm>
            <a:off x="594360" y="1508760"/>
            <a:ext cx="10972800" cy="4663440"/>
          </a:xfrm>
          <a:prstGeom prst="rect">
            <a:avLst/>
          </a:prstGeom>
          <a:noFill/>
        </p:spPr>
        <p:txBody>
          <a:bodyPr wrap="square" lIns="0" tIns="0" rIns="0" bIns="0">
            <a:spAutoFit/>
          </a:bodyPr>
          <a:lstStyle/>
          <a:p>
            <a:pPr algn="l">
              <a:lnSpc>
                <a:spcPct val="105000"/>
              </a:lnSpc>
              <a:spcBef>
                <a:spcPts val="0"/>
              </a:spcBef>
              <a:spcAft>
                <a:spcPts val="0"/>
              </a:spcAft>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1753</Words>
  <Application>Microsoft Macintosh PowerPoint</Application>
  <PresentationFormat>Widescreen</PresentationFormat>
  <Paragraphs>174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CLAIM-CMEV Final Presentation v1</dc:title>
  <dc:subject>Team sections, updated architecture, project limitations and future improvements</dc:subject>
  <dc:creator>ACERY (Group 34)</dc:creator>
  <dc:description>Template retained from ACERY_Project_Presentation_v2.pptx. Only architecture and future improvements sections populated.</dc:description>
  <cp:lastModifiedBy>Rodel Miguel</cp:lastModifiedBy>
  <cp:revision>4</cp:revision>
  <dcterms:created xsi:type="dcterms:W3CDTF">2026-09-05T17:33:02Z</dcterms:created>
  <dcterms:modified xsi:type="dcterms:W3CDTF">2026-10-24T05:25:00Z</dcterms:modified>
</cp:coreProperties>
</file>